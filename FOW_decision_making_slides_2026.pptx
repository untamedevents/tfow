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38"/>
  </p:notesMasterIdLst>
  <p:sldIdLst>
    <p:sldId id="256" r:id="rId5"/>
    <p:sldId id="257" r:id="rId6"/>
    <p:sldId id="258" r:id="rId7"/>
    <p:sldId id="260" r:id="rId8"/>
    <p:sldId id="261" r:id="rId9"/>
    <p:sldId id="262" r:id="rId10"/>
    <p:sldId id="263" r:id="rId11"/>
    <p:sldId id="264" r:id="rId12"/>
    <p:sldId id="265" r:id="rId13"/>
    <p:sldId id="266" r:id="rId14"/>
    <p:sldId id="267" r:id="rId15"/>
    <p:sldId id="833"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5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1219"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90-minute pacing: 0–7 opening problems; 7–20 decision approaches; 20–43 biases; 43–61 BioPasteur group work; 61–73 debrief; 73–84 debiasing; 84–90 synthesis.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b="0" i="0">
                <a:solidFill>
                  <a:srgbClr val="000000"/>
                </a:solidFill>
                <a:latin typeface="Arial"/>
                <a:ea typeface="Arial"/>
                <a:cs typeface="Arial"/>
              </a:rPr>
              <a:t>Although this response intuitively springs to mind, it is incorrect. If the ball cost 10 cents and the bat costs $1.00 more than the ball, then the bat would cost $1.10 for a grand total of $1.20. The correct answer to this problem is that the ball costs 5 cents and the bat costs — at a dollar more — $1.05 for a grand total of $1.10.</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t>Failures of critical thinking leave you vulnerable to </a:t>
            </a:r>
            <a:r>
              <a:rPr>
                <a:solidFill>
                  <a:srgbClr val="FF0000"/>
                </a:solidFill>
              </a:rPr>
              <a:t>(cites): </a:t>
            </a:r>
          </a:p>
          <a:p>
            <a:pPr lvl="1">
              <a:buNone/>
            </a:pPr>
            <a:r>
              <a:t>Pseudo-profound bullsh*t (Pennycock et al., 2015)</a:t>
            </a:r>
          </a:p>
          <a:p>
            <a:pPr lvl="1">
              <a:buNone/>
            </a:pPr>
            <a:r>
              <a:t>Bad arguments and manipulation</a:t>
            </a:r>
          </a:p>
          <a:p>
            <a:pPr lvl="1">
              <a:buNone/>
            </a:pPr>
            <a:r>
              <a:t>Being unable to find good solutions to problems</a:t>
            </a:r>
          </a:p>
          <a:p>
            <a:pPr lvl="1">
              <a:buNone/>
            </a:pPr>
            <a:r>
              <a:t>Decisions based on bad information</a:t>
            </a:r>
          </a:p>
          <a:p>
            <a:pPr lvl="1">
              <a:buNone/>
            </a:pPr>
            <a:endParaRPr/>
          </a:p>
          <a:p>
            <a:pPr lvl="1">
              <a:buNone/>
            </a:pPr>
            <a:endParaRPr/>
          </a:p>
          <a:p>
            <a:pPr marL="158750" indent="0" algn="l">
              <a:buNone/>
            </a:pPr>
            <a:r>
              <a:rPr b="0" i="0">
                <a:solidFill>
                  <a:srgbClr val="222222"/>
                </a:solidFill>
                <a:latin typeface="arial"/>
                <a:ea typeface="arial"/>
                <a:cs typeface="arial"/>
              </a:rPr>
              <a:t>Pareidolia- patterns in clouds, e.g.  Jim Carey film the number 23. </a:t>
            </a:r>
          </a:p>
          <a:p>
            <a:pPr marL="158750" marR="0" lvl="0" indent="0" algn="l" defTabSz="914400">
              <a:lnSpc>
                <a:spcPct val="100000"/>
              </a:lnSpc>
              <a:spcBef>
                <a:spcPts val="0"/>
              </a:spcBef>
              <a:spcAft>
                <a:spcPts val="0"/>
              </a:spcAft>
              <a:buClr>
                <a:srgbClr val="000000"/>
              </a:buClr>
              <a:buSzPts val="1100"/>
              <a:buFont typeface="Arial"/>
              <a:buNone/>
            </a:pPr>
            <a:r>
              <a:t>http://journal.sjdm.org/15/15923a/jdm15923a.pdf</a:t>
            </a:r>
          </a:p>
          <a:p>
            <a:pPr lvl="1">
              <a:buNone/>
            </a:pPr>
            <a:endParaRPr/>
          </a:p>
          <a:p>
            <a:pPr lvl="1">
              <a:buNone/>
            </a:pPr>
            <a:endParaRPr/>
          </a:p>
          <a:p>
            <a:pPr marL="158750" indent="0">
              <a:buNone/>
            </a:pPr>
            <a:r>
              <a:t>Infodemic- fake news and conspiracy theories.</a:t>
            </a:r>
          </a:p>
          <a:p>
            <a:pPr marL="158750" indent="0">
              <a:buNone/>
            </a:pPr>
            <a:r>
              <a:t>2016- Brexit, US presidential election. Facebook. </a:t>
            </a:r>
          </a:p>
          <a:p>
            <a:pPr marL="158750" indent="0">
              <a:buNone/>
            </a:pPr>
            <a:r>
              <a:t>Two main explanations for believing fake news stories- one is bias, other is laziness. Either way- critical thinking is key. </a:t>
            </a:r>
          </a:p>
          <a:p>
            <a:pPr marL="158750" indent="0">
              <a:buNone/>
            </a:pPr>
            <a:endParaRPr/>
          </a:p>
          <a:p>
            <a:pPr marL="158750" indent="0">
              <a:buNone/>
            </a:pPr>
            <a:endParaRPr/>
          </a:p>
          <a:p>
            <a:pPr marL="158750" indent="0">
              <a:buNone/>
            </a:pPr>
            <a:r>
              <a:t>Failures of critical thinking leave you vulnerable to </a:t>
            </a:r>
            <a:r>
              <a:rPr>
                <a:solidFill>
                  <a:srgbClr val="FF0000"/>
                </a:solidFill>
              </a:rPr>
              <a:t>(cites): </a:t>
            </a:r>
          </a:p>
          <a:p>
            <a:pPr lvl="1">
              <a:buNone/>
            </a:pPr>
            <a:r>
              <a:t>Pseudo-profound bullsh*t (Pennycock et al., 2015)</a:t>
            </a:r>
          </a:p>
          <a:p>
            <a:pPr lvl="1">
              <a:buNone/>
            </a:pPr>
            <a:r>
              <a:t>Bad arguments and manipulation</a:t>
            </a:r>
          </a:p>
          <a:p>
            <a:pPr lvl="1">
              <a:buNone/>
            </a:pPr>
            <a:r>
              <a:t>Being unable to find good solutions to problems</a:t>
            </a:r>
          </a:p>
          <a:p>
            <a:pPr lvl="1">
              <a:buNone/>
            </a:pPr>
            <a:r>
              <a:t>Decisions based on bad information</a:t>
            </a:r>
          </a:p>
          <a:p>
            <a:pPr lvl="1">
              <a:buNone/>
            </a:pPr>
            <a:endParaRPr/>
          </a:p>
          <a:p>
            <a:pPr lvl="1">
              <a:buNone/>
            </a:pPr>
            <a:endParaRPr/>
          </a:p>
          <a:p>
            <a:pPr marL="158750" indent="0" algn="l">
              <a:buNone/>
            </a:pPr>
            <a:r>
              <a:rPr b="0" i="0">
                <a:solidFill>
                  <a:srgbClr val="222222"/>
                </a:solidFill>
                <a:latin typeface="arial"/>
                <a:ea typeface="arial"/>
                <a:cs typeface="arial"/>
              </a:rPr>
              <a:t>Pareidolia- patterns in clouds, e.g.  Jim Carey film the number 23. </a:t>
            </a:r>
          </a:p>
          <a:p>
            <a:pPr marL="158750" marR="0" lvl="0" indent="0" algn="l" defTabSz="914400">
              <a:lnSpc>
                <a:spcPct val="100000"/>
              </a:lnSpc>
              <a:spcBef>
                <a:spcPts val="0"/>
              </a:spcBef>
              <a:spcAft>
                <a:spcPts val="0"/>
              </a:spcAft>
              <a:buClr>
                <a:srgbClr val="000000"/>
              </a:buClr>
              <a:buSzPts val="1100"/>
              <a:buFont typeface="Arial"/>
              <a:buNone/>
            </a:pPr>
            <a:r>
              <a:t>http://journal.sjdm.org/15/15923a/jdm15923a.pdf</a:t>
            </a:r>
          </a:p>
          <a:p>
            <a:pPr lvl="1">
              <a:buNone/>
            </a:pPr>
            <a:endParaRPr/>
          </a:p>
          <a:p>
            <a:pPr marL="158750" indent="0">
              <a:buNone/>
            </a:pPr>
            <a:endParaRPr sz="1100"/>
          </a:p>
          <a:p>
            <a:pPr marL="158750" indent="0">
              <a:buNone/>
            </a:pPr>
            <a:r>
              <a:rPr sz="1100"/>
              <a:t>Majority of students (in US) struggle with media literacy (Wineburg et al., 2016)</a:t>
            </a:r>
            <a:endParaRPr>
              <a:solidFill>
                <a:srgbClr val="2200CC"/>
              </a:solidFill>
            </a:endParaRPr>
          </a:p>
          <a:p>
            <a:pPr marL="158750" indent="0">
              <a:buNone/>
            </a:pPr>
            <a:endParaRPr>
              <a:solidFill>
                <a:srgbClr val="2200CC"/>
              </a:solidFill>
            </a:endParaRPr>
          </a:p>
          <a:p>
            <a:pPr marL="158750" indent="0">
              <a:buNone/>
            </a:pPr>
            <a:r>
              <a:rPr>
                <a:solidFill>
                  <a:srgbClr val="2200CC"/>
                </a:solidFill>
              </a:rPr>
              <a:t>Ghebreyesus T.A. (2020)  </a:t>
            </a:r>
            <a:r>
              <a:rPr i="1">
                <a:solidFill>
                  <a:srgbClr val="2200CC"/>
                </a:solidFill>
              </a:rPr>
              <a:t>Speech to the Munich Security Conference</a:t>
            </a:r>
            <a:r>
              <a:rPr>
                <a:solidFill>
                  <a:srgbClr val="2200CC"/>
                </a:solidFill>
              </a:rPr>
              <a:t>. 15th February 2020.  Munich. Availablbe: https://www.who.int/dg/speeches/detail/munich-security-conference</a:t>
            </a:r>
          </a:p>
          <a:p>
            <a:pPr marL="158750" indent="0">
              <a:buNone/>
            </a:pPr>
            <a:endParaRPr>
              <a:solidFill>
                <a:srgbClr val="2200CC"/>
              </a:solidFill>
            </a:endParaRPr>
          </a:p>
          <a:p>
            <a:pPr marL="158750" indent="0">
              <a:buNone/>
            </a:pPr>
            <a:r>
              <a:rPr u="none">
                <a:solidFill>
                  <a:srgbClr val="2200CC"/>
                </a:solidFill>
              </a:rPr>
              <a:t>Science communication :conspiracy theories, (large events require large causes). Psychological needs are frustrated: </a:t>
            </a:r>
            <a:r>
              <a:rPr b="0" i="0">
                <a:solidFill>
                  <a:srgbClr val="333333"/>
                </a:solidFill>
                <a:latin typeface="arial"/>
                <a:ea typeface="arial"/>
                <a:cs typeface="arial"/>
              </a:rPr>
              <a:t>Belief in conspiracy theories appears to be driven by motives that can be characterized as epistemic (understanding one’s environment), existential (being safe and in control of one’s environment), and social (maintaining a positive image of the self and the social group).</a:t>
            </a:r>
            <a:endParaRPr u="none">
              <a:solidFill>
                <a:schemeClr val="tx1"/>
              </a:solidFill>
            </a:endParaRPr>
          </a:p>
          <a:p>
            <a:endParaRPr>
              <a:solidFill>
                <a:srgbClr val="2200CC"/>
              </a:solidFill>
            </a:endParaRPr>
          </a:p>
          <a:p>
            <a:r>
              <a:rPr>
                <a:solidFill>
                  <a:srgbClr val="2200CC"/>
                </a:solidFill>
              </a:rPr>
              <a:t>https://www.pexels.com/photo/not-today-covid19-sign-on-wooden-stool-3952231/</a:t>
            </a:r>
            <a:endParaRPr/>
          </a:p>
          <a:p>
            <a:r>
              <a:t>#https://www.pexels.com/photo/white-and-black-letter-blocks-3989901/</a:t>
            </a:r>
          </a:p>
          <a:p>
            <a:endParaRPr/>
          </a:p>
          <a:p>
            <a:endParaRPr/>
          </a:p>
          <a:p>
            <a:endParaRPr/>
          </a:p>
          <a:p>
            <a:r>
              <a:t>Fake news and Gordon Pennycook stuff: </a:t>
            </a:r>
          </a:p>
          <a:p>
            <a:r>
              <a:t>Gordon Pennycook: </a:t>
            </a:r>
          </a:p>
          <a:p>
            <a:r>
              <a:t>Lazy-not biased; inattention based view: </a:t>
            </a:r>
          </a:p>
          <a:p>
            <a:r>
              <a:t>Delusional beliefs; dogmatism</a:t>
            </a:r>
          </a:p>
          <a:p>
            <a:r>
              <a:t>Prior exposure </a:t>
            </a:r>
          </a:p>
          <a:p>
            <a:endParaRPr/>
          </a:p>
          <a:p>
            <a:r>
              <a:t>https://www.sciencedirect.com/science/article/pii/S001002771830163X?casa_token=d1t7y4ZHEUoAAAAA:8UUfFkLY4XFHIdyTCWeHyeWkkvBgTey1TotRQsys7nI7hPlvLqumKS0N5hPwwYXP4m9w2ILB</a:t>
            </a:r>
          </a:p>
          <a:p>
            <a:r>
              <a:t>https://journals.sagepub.com/doi/pdf/10.1177/0956797620939054</a:t>
            </a:r>
          </a:p>
          <a:p>
            <a:r>
              <a:t>https://www.sciencedirect.com/science/article/abs/pii/S2211368118301050?casa_token=5RK6zz3dMWgAAAAA:zl1AXzVcimhPlSph7-mTE6rWN_I-Br5ZPSSDpQbDl2PtNtIsXj1tJKvoaIZN5BFUshotxWFm#bib0190</a:t>
            </a:r>
          </a:p>
          <a:p>
            <a:r>
              <a:t>https://www.ncbi.nlm.nih.gov/pmc/articles/PMC6279465/</a:t>
            </a:r>
          </a:p>
          <a:p>
            <a:r>
              <a:t>Analytical thinking works: https://www.sciencedirect.com/science/article/pii/S0010027714001632?casa_token=2D8x0JbZegwAAAAA:6ReK0zRXPrsZqsN6QlNycK982UY85x_g5uakJ0zZpeddIsO2_ae8yAh35NxNjNcqKVA98Y0z</a:t>
            </a:r>
          </a:p>
          <a:p>
            <a:pPr lvl="1">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Teaching emphasis: this is a normative benchmark—how a fully informed utility-maximizer should decide—not a claim that people normally decide this way.
Prompt: Which assumption is least realistic in contemporary organizational decisions?
[Sources]
- Robbins, S. P., &amp; Judge, T. A. Organizational Behavior, 19th ed. Pearson.
- https://www.pearson.com/en-us/subject-catalog/p/organizational-behavior/P200000007044/9780137687206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Teaching emphasis: bounded rationality does not mean irrationality. It means purposeful choice under cognitive, informational and time constraints.
Prompt: What did the manager exclude by using an acceptable threshold?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Teaching emphasis: intuition is neither magic nor automatically trustworthy. Its quality depends on relevant experience, recurring patterns and feedback.
Prompt: When should the analyst’s intuition trigger investigation rather than determine the final decision?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1 operates automatically and quickly, with little or no effort and no sense of voluntary control. </a:t>
            </a:r>
          </a:p>
          <a:p>
            <a:pPr marL="0" marR="0" lvl="0" indent="0" algn="l" defTabSz="914400">
              <a:lnSpc>
                <a:spcPct val="100000"/>
              </a:lnSpc>
              <a:spcBef>
                <a:spcPts val="0"/>
              </a:spcBef>
              <a:spcAft>
                <a:spcPts val="0"/>
              </a:spcAft>
              <a:buClrTx/>
              <a:buSzTx/>
              <a:buFontTx/>
              <a:buNone/>
            </a:pPr>
            <a:r>
              <a:t>System 2 allocates attention to the effortful mental activities that demand it, including complex computations. The operations of System 2 are often associated with the subjective experience of agency, choice, and concentration.  </a:t>
            </a:r>
            <a:r>
              <a:rPr b="1"/>
              <a:t>Limited attention- Eye witness testimony and selective attention, moonwalking gorilla. </a:t>
            </a:r>
            <a:r>
              <a:t>We don’t see what we don’t attend to, and this applies to processing information too. Because we have limited attention, we need to be selective in how we allocate attention. And we really only do this for things that require it- we are often described as cognitively lazy meaning that we conserve mental resources as much as we can. </a:t>
            </a:r>
          </a:p>
          <a:p>
            <a:endParaRPr/>
          </a:p>
          <a:p>
            <a:endParaRPr/>
          </a:p>
          <a:p>
            <a:r>
              <a:t>Kahneman, D. ( 2011)</a:t>
            </a:r>
          </a:p>
          <a:p>
            <a:endParaRPr/>
          </a:p>
          <a:p>
            <a:r>
              <a:t>System 1 can : </a:t>
            </a:r>
          </a:p>
          <a:p>
            <a:r>
              <a:t>Orient to the source of a sudden sound. </a:t>
            </a:r>
          </a:p>
          <a:p>
            <a:r>
              <a:t>Complete the phrase “bread and …” </a:t>
            </a:r>
          </a:p>
          <a:p>
            <a:r>
              <a:t>Detect hostility in a voice.</a:t>
            </a:r>
          </a:p>
          <a:p>
            <a:r>
              <a:t>Answer to 2 + 2 = ? </a:t>
            </a:r>
          </a:p>
          <a:p>
            <a:r>
              <a:t>Drive a car on an empty road. </a:t>
            </a:r>
          </a:p>
          <a:p>
            <a:r>
              <a:t>Understand simple sentences.</a:t>
            </a:r>
          </a:p>
          <a:p>
            <a:endParaRPr/>
          </a:p>
          <a:p>
            <a:r>
              <a:t>System 2 can: </a:t>
            </a:r>
          </a:p>
          <a:p>
            <a:r>
              <a:t>Focus on the voice of a particular person in a crowded and noisy room.</a:t>
            </a:r>
          </a:p>
          <a:p>
            <a:r>
              <a:t> Look for a woman with white hair. </a:t>
            </a:r>
          </a:p>
          <a:p>
            <a:r>
              <a:t>Search memory to identify a surprising sound. </a:t>
            </a:r>
          </a:p>
          <a:p>
            <a:r>
              <a:t>Maintain a faster walking speed than is natural for you.</a:t>
            </a:r>
          </a:p>
          <a:p>
            <a:r>
              <a:t> Monitor the appropriateness of your behavior in a social situation. </a:t>
            </a:r>
          </a:p>
          <a:p>
            <a:r>
              <a:t>Tell someone your phone number.</a:t>
            </a:r>
          </a:p>
          <a:p>
            <a:r>
              <a:t> Park in a narrow space (for most people except garage attendants). </a:t>
            </a:r>
          </a:p>
          <a:p>
            <a:r>
              <a:t>Compare two washing machines for overall value. </a:t>
            </a:r>
          </a:p>
          <a:p>
            <a:r>
              <a:t>Check the validity of a complex logical argument.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Future-of-work connection: AI may extend search and calculation, but humans still select objectives, interpret outputs and decide when to rely on them.
Ask students to compare: Which part resembles rational analysis? Where does bounded rationality remain? When might expert intuition appropriately override an AI recommendation?
[Sources]
- https://nvlpubs.nist.gov/nistpubs/ai/NIST.AI.100-1.pdf
- https://nvlpubs.nist.gov/nistpubs/ai/NIST.AI.600-1.pdf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None/>
            </a:pPr>
            <a:r>
              <a:rPr sz="1200"/>
              <a:t>There are so many biases that I couldn’t possibly go into all of them.  Here are some of the most influential ones (if you’re interested in this further go and look at Daniel Kahneman’s book Thinking Fast and Slow. </a:t>
            </a:r>
          </a:p>
          <a:p>
            <a:pPr lvl="1">
              <a:buNone/>
            </a:pPr>
            <a:r>
              <a:rPr sz="1200"/>
              <a:t>The representativeness heuristic</a:t>
            </a:r>
          </a:p>
          <a:p>
            <a:pPr lvl="1">
              <a:buNone/>
            </a:pPr>
            <a:r>
              <a:rPr sz="1200"/>
              <a:t>Sunk costs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called gain loss framing and it affects how people make decisions involving risks. </a:t>
            </a:r>
          </a:p>
          <a:p>
            <a:r>
              <a:t>Note- I know everyone is sick of hearing about epidemics!!! But this is a very classic example.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a:t>People tend to become more risk-seeking when a situation is framed as a loss; they tend to become more risk-averse when a situation is framed as a gain.</a:t>
            </a:r>
          </a:p>
          <a:p>
            <a:pPr marL="0" marR="0" lvl="0" indent="0" algn="l" defTabSz="914400">
              <a:lnSpc>
                <a:spcPct val="100000"/>
              </a:lnSpc>
              <a:spcBef>
                <a:spcPts val="0"/>
              </a:spcBef>
              <a:spcAft>
                <a:spcPts val="0"/>
              </a:spcAft>
              <a:buClrTx/>
              <a:buSzTx/>
              <a:buFontTx/>
              <a:buNone/>
            </a:pPr>
            <a:r>
              <a:t>This is problematic because it indicates inconsistency in decision making. </a:t>
            </a:r>
          </a:p>
          <a:p>
            <a:pPr marL="0" marR="0" lvl="0" indent="0" algn="l" defTabSz="914400">
              <a:lnSpc>
                <a:spcPct val="100000"/>
              </a:lnSpc>
              <a:spcBef>
                <a:spcPts val="0"/>
              </a:spcBef>
              <a:spcAft>
                <a:spcPts val="0"/>
              </a:spcAft>
              <a:buClrTx/>
              <a:buSzTx/>
              <a:buFontTx/>
              <a:buNone/>
            </a:pPr>
            <a:r>
              <a:rPr sz="1200"/>
              <a:t>They way that the options are presented shouldn’t really matter- it’s just semantics. </a:t>
            </a:r>
          </a:p>
          <a:p>
            <a:pPr marL="0" marR="0" lvl="0" indent="0" algn="l" defTabSz="914400">
              <a:lnSpc>
                <a:spcPct val="100000"/>
              </a:lnSpc>
              <a:spcBef>
                <a:spcPts val="0"/>
              </a:spcBef>
              <a:spcAft>
                <a:spcPts val="0"/>
              </a:spcAft>
              <a:buClrTx/>
              <a:buSzTx/>
              <a:buFontTx/>
              <a:buNone/>
            </a:pPr>
            <a:endParaRPr sz="1200"/>
          </a:p>
          <a:p>
            <a:pPr marL="0" marR="0" lvl="0" indent="0" algn="l" defTabSz="914400">
              <a:lnSpc>
                <a:spcPct val="100000"/>
              </a:lnSpc>
              <a:spcBef>
                <a:spcPts val="0"/>
              </a:spcBef>
              <a:spcAft>
                <a:spcPts val="0"/>
              </a:spcAft>
              <a:buClrTx/>
              <a:buSzTx/>
              <a:buFontTx/>
              <a:buNone/>
            </a:pPr>
            <a:r>
              <a:rPr sz="1200"/>
              <a:t>Deal or no deal- he started to get really fixated on the top prize ($1 million). We know this because he’s talked about it quite a bit in subsequent interviews. He started to feel like he was losing the million by settling. This is called loss aversion, which is a part of prospect theory. We really hate losses, so we will take big risks to avoid losses. </a:t>
            </a:r>
          </a:p>
          <a:p>
            <a:pPr marL="0" marR="0" lvl="0" indent="0" algn="l" defTabSz="914400">
              <a:lnSpc>
                <a:spcPct val="100000"/>
              </a:lnSpc>
              <a:spcBef>
                <a:spcPts val="0"/>
              </a:spcBef>
              <a:spcAft>
                <a:spcPts val="0"/>
              </a:spcAft>
              <a:buClrTx/>
              <a:buSzTx/>
              <a:buFontTx/>
              <a:buNone/>
            </a:pPr>
            <a:endParaRPr sz="1200"/>
          </a:p>
          <a:p>
            <a:pPr marL="0" marR="0" lvl="0" indent="0" algn="l" defTabSz="914400">
              <a:lnSpc>
                <a:spcPct val="100000"/>
              </a:lnSpc>
              <a:spcBef>
                <a:spcPts val="0"/>
              </a:spcBef>
              <a:spcAft>
                <a:spcPts val="0"/>
              </a:spcAft>
              <a:buClrTx/>
              <a:buSzTx/>
              <a:buFontTx/>
              <a:buNone/>
            </a:pPr>
            <a:r>
              <a:rPr b="0" i="0">
                <a:solidFill>
                  <a:srgbClr val="000000"/>
                </a:solidFill>
                <a:latin typeface="Georgia"/>
                <a:ea typeface="Georgia"/>
                <a:cs typeface="Georgia"/>
              </a:rPr>
              <a:t>Luis Green- </a:t>
            </a:r>
            <a:r>
              <a:rPr sz="1200"/>
              <a:t>https://www.youtube.com/watch?v=qEja2TpwFGE</a:t>
            </a:r>
          </a:p>
          <a:p>
            <a:pPr marL="0" marR="0" lvl="0" indent="0" algn="l" defTabSz="914400">
              <a:lnSpc>
                <a:spcPct val="100000"/>
              </a:lnSpc>
              <a:spcBef>
                <a:spcPts val="0"/>
              </a:spcBef>
              <a:spcAft>
                <a:spcPts val="0"/>
              </a:spcAft>
              <a:buClrTx/>
              <a:buSzTx/>
              <a:buFontTx/>
              <a:buNone/>
            </a:pPr>
            <a:endParaRPr sz="1200"/>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negotiations-  salaries (employers ask what your last salary was).  Women and people of colour tend to be paid less- which creates a an anchor that perpetuates a cycle of discrimination. </a:t>
            </a:r>
          </a:p>
          <a:p>
            <a:r>
              <a:t>for a lot of firms 2019’s sales figures may have been used as an anchor for 2020’s predicted sales. </a:t>
            </a:r>
          </a:p>
          <a:p>
            <a:endParaRPr/>
          </a:p>
          <a:p>
            <a:r>
              <a:t>Although many people know that there are more cattle than humans in Ireland. </a:t>
            </a:r>
          </a:p>
          <a:p>
            <a:endParaRPr/>
          </a:p>
          <a:p>
            <a:r>
              <a:t>If you have an anchor in mind you might go up or down 20% but you probably won’t deviate hugely.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e.gFor managers tend to be overly . kangaroo, kind vs. bike, cake, acknowledge</a:t>
            </a:r>
          </a:p>
          <a:p>
            <a:r>
              <a:t>influenced by successes, successes are often recalled more clearly and vividly than failures.</a:t>
            </a:r>
          </a:p>
          <a:p>
            <a:endParaRPr/>
          </a:p>
          <a:p>
            <a:r>
              <a:t>Don’t just think about the easiest examples, look for the right examples. </a:t>
            </a:r>
          </a:p>
          <a:p>
            <a:endParaRPr/>
          </a:p>
          <a:p>
            <a:pPr algn="l">
              <a:buNone/>
            </a:pPr>
            <a:r>
              <a:rPr b="0" i="0">
                <a:solidFill>
                  <a:srgbClr val="000000"/>
                </a:solidFill>
                <a:latin typeface="Georgia"/>
                <a:ea typeface="Georgia"/>
                <a:cs typeface="Georgia"/>
              </a:rPr>
              <a:t>Basically, when we try to figure out how common something is or how likely something is to happen, we try to think of an example of that thing. If that example comes to us easily, then that thing must be common or likely to happen. If we struggle to come up with an example, then that thing must be uncommon or unlikely to happen.</a:t>
            </a:r>
          </a:p>
          <a:p>
            <a:pPr algn="l">
              <a:buNone/>
            </a:pPr>
            <a:r>
              <a:rPr b="0" i="0">
                <a:solidFill>
                  <a:srgbClr val="000000"/>
                </a:solidFill>
                <a:latin typeface="Georgia"/>
                <a:ea typeface="Georgia"/>
                <a:cs typeface="Georgia"/>
              </a:rPr>
              <a:t>#e.g. college dropouts that became famous entrepreneurs </a:t>
            </a:r>
          </a:p>
          <a:p>
            <a:pPr marL="0" marR="0" lvl="0" indent="0" algn="l" defTabSz="914400">
              <a:lnSpc>
                <a:spcPct val="100000"/>
              </a:lnSpc>
              <a:spcBef>
                <a:spcPts val="0"/>
              </a:spcBef>
              <a:spcAft>
                <a:spcPts val="0"/>
              </a:spcAft>
              <a:buClrTx/>
              <a:buSzTx/>
              <a:buFontTx/>
              <a:buNone/>
            </a:pPr>
            <a:r>
              <a:t>As managers we tend to recall successes better than failures….</a:t>
            </a:r>
          </a:p>
          <a:p>
            <a:pPr algn="l">
              <a:buNone/>
            </a:pPr>
            <a:endParaRPr b="0" i="0">
              <a:solidFill>
                <a:srgbClr val="000000"/>
              </a:solidFill>
              <a:latin typeface="Georgia"/>
              <a:ea typeface="Georgia"/>
              <a:cs typeface="Georgia"/>
            </a:endParaRPr>
          </a:p>
          <a:p>
            <a:pPr algn="l">
              <a:buNone/>
            </a:pPr>
            <a:r>
              <a:rPr b="0" i="0">
                <a:solidFill>
                  <a:srgbClr val="000000"/>
                </a:solidFill>
                <a:latin typeface="Georgia"/>
                <a:ea typeface="Georgia"/>
                <a:cs typeface="Georgia"/>
              </a:rPr>
              <a:t>The wonderful thing about it is that it very, very often works. Particularly it works in the environment in which our brains evolved, which is on the plains of Africa living as hunter-gatherers. If you imagine that environment, the availability heuristic really works well. You’re walking along, you see a shadow in the long grass, you think to yourself, should I be worried about lions? You will immediately try to think of an example of a lion emerging from the long grass and dragging somebody to a screaming death.</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a:solidFill>
                  <a:srgbClr val="C00000"/>
                </a:solidFill>
              </a:rPr>
              <a:t>https://www.schwab.com/resource-center/insights/content/choiceology-episode-3 </a:t>
            </a:r>
          </a:p>
          <a:p>
            <a:pPr marL="0" marR="0" lvl="0" indent="0" algn="l" defTabSz="914400">
              <a:lnSpc>
                <a:spcPct val="100000"/>
              </a:lnSpc>
              <a:spcBef>
                <a:spcPts val="0"/>
              </a:spcBef>
              <a:spcAft>
                <a:spcPts val="0"/>
              </a:spcAft>
              <a:buClrTx/>
              <a:buSzTx/>
              <a:buFontTx/>
              <a:buNone/>
            </a:pPr>
            <a:r>
              <a:rPr sz="1200">
                <a:solidFill>
                  <a:srgbClr val="C00000"/>
                </a:solidFill>
              </a:rPr>
              <a:t>Bidding wars in housing. </a:t>
            </a:r>
          </a:p>
          <a:p>
            <a:pPr marL="0" marR="0" lvl="0" indent="0" algn="l" defTabSz="914400">
              <a:lnSpc>
                <a:spcPct val="100000"/>
              </a:lnSpc>
              <a:spcBef>
                <a:spcPts val="0"/>
              </a:spcBef>
              <a:spcAft>
                <a:spcPts val="0"/>
              </a:spcAft>
              <a:buClrTx/>
              <a:buSzTx/>
              <a:buFontTx/>
              <a:buNone/>
            </a:pPr>
            <a:r>
              <a:rPr sz="1200">
                <a:solidFill>
                  <a:srgbClr val="C00000"/>
                </a:solidFill>
              </a:rPr>
              <a:t>First year students- a couple of months into a course feel committed to a four year course. </a:t>
            </a:r>
          </a:p>
          <a:p>
            <a:pPr>
              <a:buFont typeface="Arial"/>
              <a:buChar char="•"/>
            </a:pPr>
            <a:r>
              <a:rPr sz="1200"/>
              <a:t>Investing additional funds in a flawed IT project that is far behind schedule and is over budget.</a:t>
            </a:r>
          </a:p>
          <a:p>
            <a:pPr>
              <a:buFont typeface="Arial"/>
              <a:buChar char="•"/>
            </a:pPr>
            <a:r>
              <a:rPr sz="1200"/>
              <a:t>Plowing more money into turning around a failed acquisition rather than divesting.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b="0" i="0">
                <a:latin typeface="Roboto"/>
                <a:ea typeface="Roboto"/>
                <a:cs typeface="Roboto"/>
              </a:rPr>
              <a:t>Luca Parmitano’s second space walk- ESA (European space agency; spacewalk July 2013 First Italian to do a space walk for the ESA. If you look at his helmet you can see water on the inside. </a:t>
            </a:r>
          </a:p>
          <a:p>
            <a:pPr marL="0" marR="0" lvl="0" indent="0" algn="l" defTabSz="914400">
              <a:lnSpc>
                <a:spcPct val="100000"/>
              </a:lnSpc>
              <a:spcBef>
                <a:spcPts val="0"/>
              </a:spcBef>
              <a:spcAft>
                <a:spcPts val="0"/>
              </a:spcAft>
              <a:buClrTx/>
              <a:buSzTx/>
              <a:buFontTx/>
              <a:buNone/>
            </a:pPr>
            <a:r>
              <a:rPr b="0" i="0">
                <a:latin typeface="Roboto"/>
                <a:ea typeface="Roboto"/>
                <a:cs typeface="Roboto"/>
              </a:rPr>
              <a:t>Space is basically trying to kill you at all times: In the sun it’s 200c, in the shade its -200, and it’s a vacuum. So if anything happens to your space suit you will burn, freeze and evaporate at the same time; to the integrity of the space suit is very important. </a:t>
            </a:r>
          </a:p>
          <a:p>
            <a:pPr marL="0" marR="0" lvl="0" indent="0" algn="l" defTabSz="914400">
              <a:lnSpc>
                <a:spcPct val="100000"/>
              </a:lnSpc>
              <a:spcBef>
                <a:spcPts val="0"/>
              </a:spcBef>
              <a:spcAft>
                <a:spcPts val="0"/>
              </a:spcAft>
              <a:buClrTx/>
              <a:buSzTx/>
              <a:buFontTx/>
              <a:buNone/>
            </a:pPr>
            <a:endParaRPr b="0" i="0">
              <a:latin typeface="Roboto"/>
              <a:ea typeface="Roboto"/>
              <a:cs typeface="Roboto"/>
            </a:endParaRPr>
          </a:p>
          <a:p>
            <a:pPr marL="0" marR="0" lvl="0" indent="0" algn="l" defTabSz="914400">
              <a:lnSpc>
                <a:spcPct val="100000"/>
              </a:lnSpc>
              <a:spcBef>
                <a:spcPts val="0"/>
              </a:spcBef>
              <a:spcAft>
                <a:spcPts val="0"/>
              </a:spcAft>
              <a:buClrTx/>
              <a:buSzTx/>
              <a:buFontTx/>
              <a:buNone/>
            </a:pPr>
            <a:endParaRPr b="0" i="0">
              <a:latin typeface="Roboto"/>
              <a:ea typeface="Roboto"/>
              <a:cs typeface="Roboto"/>
            </a:endParaRPr>
          </a:p>
          <a:p>
            <a:pPr marL="0" marR="0" lvl="0" indent="0" algn="l" defTabSz="914400">
              <a:lnSpc>
                <a:spcPct val="100000"/>
              </a:lnSpc>
              <a:spcBef>
                <a:spcPts val="0"/>
              </a:spcBef>
              <a:spcAft>
                <a:spcPts val="0"/>
              </a:spcAft>
              <a:buClrTx/>
              <a:buSzTx/>
              <a:buFontTx/>
              <a:buNone/>
            </a:pPr>
            <a:r>
              <a:rPr b="0" i="0">
                <a:latin typeface="Roboto"/>
                <a:ea typeface="Roboto"/>
                <a:cs typeface="Roboto"/>
              </a:rPr>
              <a:t>Spacewalk 1- report that it’s probably a waterbag leak to ground control. Colleagues laugh it off- think he didn’t seal his water bottle properly- a rookie mistake.  Ground control assumes it’s a water bottle issue and has it replaced. </a:t>
            </a:r>
          </a:p>
          <a:p>
            <a:pPr marL="0" marR="0" lvl="0" indent="0" algn="l" defTabSz="914400">
              <a:lnSpc>
                <a:spcPct val="100000"/>
              </a:lnSpc>
              <a:spcBef>
                <a:spcPts val="0"/>
              </a:spcBef>
              <a:spcAft>
                <a:spcPts val="0"/>
              </a:spcAft>
              <a:buClrTx/>
              <a:buSzTx/>
              <a:buFontTx/>
              <a:buNone/>
            </a:pPr>
            <a:r>
              <a:rPr b="0" i="0">
                <a:latin typeface="Roboto"/>
                <a:ea typeface="Roboto"/>
                <a:cs typeface="Roboto"/>
              </a:rPr>
              <a:t>Spacewalk 2: this is often referred to as the most dangerous spacewalk incident experienced by any agency. He’s out there and his helmet starts filling up with bubbles of water, his nose his eeyes fill with water, he just makes it back inside the hatch- he was very close to drowning. Everyone had assumed that it was a water bottle. Someone at ground control should have said- how do we know it’s the water bottle? Check it for leaks, check the other systems. </a:t>
            </a:r>
            <a:r>
              <a:rPr b="0" i="0">
                <a:solidFill>
                  <a:srgbClr val="000000"/>
                </a:solidFill>
                <a:latin typeface="Georgia"/>
                <a:ea typeface="Georgia"/>
                <a:cs typeface="Georgia"/>
              </a:rPr>
              <a:t>A problem with the space suit’s water-cooling filtration system. They didn’t seek disconfirming evidence- and that created a very dangerous situation.  The innocence project examples. Second opinions on diagnosis. </a:t>
            </a:r>
            <a:endParaRPr b="0" i="0">
              <a:latin typeface="Roboto"/>
              <a:ea typeface="Roboto"/>
              <a:cs typeface="Roboto"/>
            </a:endParaRPr>
          </a:p>
          <a:p>
            <a:pPr marL="0" marR="0" lvl="0" indent="0" algn="l" defTabSz="914400">
              <a:lnSpc>
                <a:spcPct val="100000"/>
              </a:lnSpc>
              <a:spcBef>
                <a:spcPts val="0"/>
              </a:spcBef>
              <a:spcAft>
                <a:spcPts val="0"/>
              </a:spcAft>
              <a:buClrTx/>
              <a:buSzTx/>
              <a:buFontTx/>
              <a:buNone/>
            </a:pPr>
            <a:endParaRPr b="0" i="0">
              <a:latin typeface="Roboto"/>
              <a:ea typeface="Roboto"/>
              <a:cs typeface="Roboto"/>
            </a:endParaRPr>
          </a:p>
          <a:p>
            <a:pPr marL="0" marR="0" lvl="0" indent="0" algn="l" defTabSz="914400">
              <a:lnSpc>
                <a:spcPct val="100000"/>
              </a:lnSpc>
              <a:spcBef>
                <a:spcPts val="0"/>
              </a:spcBef>
              <a:spcAft>
                <a:spcPts val="0"/>
              </a:spcAft>
              <a:buClrTx/>
              <a:buSzTx/>
              <a:buFontTx/>
              <a:buNone/>
            </a:pPr>
            <a:r>
              <a:rPr b="0" i="0">
                <a:solidFill>
                  <a:srgbClr val="000000"/>
                </a:solidFill>
                <a:latin typeface="Georgia"/>
                <a:ea typeface="Georgia"/>
                <a:cs typeface="Georgia"/>
              </a:rPr>
              <a:t>Marvin Pipkin was a scientist with the United States Army in the early part of the 20th century. He returned to civilian life in the 1920s and joined General Electric. When he started at GE, he was given a job that was considered a fool’s errand, the supposedly impossible task of designing a light bulb that could be frosted on the inside to help diffuse the harsh light of incandescent bulbs. This assignment was often handed out to new hires as something of a joke, but Marvin didn’t know that the project was considered impossible. He set about to solve the problem as if it were possible. He completed work on the new internally frosted light bulb in 1925. GE later mass produced it, and the ubiquitous soft white light bulb was born.</a:t>
            </a:r>
            <a:endParaRPr/>
          </a:p>
          <a:p>
            <a:pPr marL="0" marR="0" lvl="0" indent="0" algn="l" defTabSz="914400">
              <a:lnSpc>
                <a:spcPct val="100000"/>
              </a:lnSpc>
              <a:spcBef>
                <a:spcPts val="0"/>
              </a:spcBef>
              <a:spcAft>
                <a:spcPts val="0"/>
              </a:spcAft>
              <a:buClrTx/>
              <a:buSzTx/>
              <a:buFontTx/>
              <a:buNone/>
            </a:pPr>
            <a:endParaRPr b="0" i="0">
              <a:latin typeface="Roboto"/>
              <a:ea typeface="Roboto"/>
              <a:cs typeface="Roboto"/>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Note- Thompson asks Wes Anderson to put together information (run additional tests)</a:t>
            </a:r>
          </a:p>
          <a:p>
            <a:r>
              <a:t>Assume that the Y axis of the plots is raw numbers of complications</a:t>
            </a:r>
          </a:p>
          <a:p>
            <a:endParaRPr/>
          </a:p>
          <a:p>
            <a:r>
              <a:t>
Protect 18 minutes for group analysis. Require groups to identify the decision approach, at least three biases, their consequences, and two debiasing interventions.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Use 12 minutes across slides 20–22 for debrief. Ask groups to connect each claimed bias to specific evidence from the case.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Also: Availability Heuristic- prior successes (LobLoprin)</a:t>
            </a:r>
          </a:p>
          <a:p>
            <a:r>
              <a:t>Motivated cognition- Waitz wants to get as much out of the company as possible before MIT takes it over in 2019. </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Debiasing synthesis: individual reflection helps, but decision architecture, independent challenge, diverse information and accountable processes are generally more reliable than simply asking people to “be less biased.”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people only get 2 or 3 right. </a:t>
            </a:r>
          </a:p>
          <a:p>
            <a:r>
              <a:t>Overconfidence is unjustified confidence (no basis in objective fact or circumstance).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t>Rational actor model</a:t>
            </a:r>
          </a:p>
          <a:p>
            <a:pPr>
              <a:buFont typeface="Arial"/>
              <a:buChar char="•"/>
            </a:pPr>
            <a:r>
              <a:t>Historically the approach is the rational actor model, people take into account all relevant alternatives, they are accurate assessors, and that they make decisions in their own best interests and choose the best possible option. </a:t>
            </a:r>
          </a:p>
          <a:p>
            <a:pPr>
              <a:buFont typeface="Arial"/>
              <a:buChar char="•"/>
            </a:pPr>
            <a:r>
              <a:t>In the 1950’s Bounded rationality (Herbert Simon, 1956). We are capable of rationality but there are limits to our capacity for rationality because we don’t have infinte processing power. If we were a computer, we would have limited RAM. </a:t>
            </a:r>
          </a:p>
          <a:p>
            <a:pPr>
              <a:buFont typeface="Arial"/>
              <a:buChar char="•"/>
            </a:pPr>
            <a:r>
              <a:t>In the 1970s Amos Tversky and Daniel Kahneman started working on deviations from rationality as they saw them. They came up with the idea that people rely on intuition, gut feelings, rather than deliberating through every decision. They identified a number of systematic ways in which our gut leads us to deviate from strict rationality. These gut feelings come from our monkey brain- and chimpanzees have even shown some of the same biases in decision making that we do. For example, when you chimpanzees money, they show loss aversion- which we’ll discuss in a couple of minutes. Implicit preferences that we may not be aware of. They later won a Nobel Prize for this work. </a:t>
            </a:r>
          </a:p>
          <a:p>
            <a:pPr>
              <a:buFont typeface="Arial"/>
              <a:buChar char="•"/>
            </a:pPr>
            <a:r>
              <a:t>We often survey alternatives sequentially, and often are aiming for good enough rather the absolute best answer. </a:t>
            </a:r>
          </a:p>
          <a:p>
            <a:pPr>
              <a:buFont typeface="Arial"/>
              <a:buChar char="•"/>
            </a:pPr>
            <a:endParaRPr/>
          </a:p>
          <a:p>
            <a:pPr>
              <a:buFont typeface="Arial"/>
              <a:buChar char="•"/>
            </a:pPr>
            <a:r>
              <a:t>System 1 and System 2 (Stanovich &amp; West, 2000)</a:t>
            </a:r>
          </a:p>
          <a:p>
            <a:pPr>
              <a:buFont typeface="Arial"/>
              <a:buChar char="•"/>
            </a:pPr>
            <a:r>
              <a:t>Satisficing (Herbert)</a:t>
            </a:r>
          </a:p>
          <a:p>
            <a:pPr>
              <a:buFont typeface="Arial"/>
              <a:buChar char="•"/>
            </a:pPr>
            <a:r>
              <a:t>Heuristics</a:t>
            </a:r>
          </a:p>
          <a:p>
            <a:pPr>
              <a:buFont typeface="Arial"/>
              <a:buChar char="•"/>
            </a:pPr>
            <a:r>
              <a:t>Biases </a:t>
            </a:r>
          </a:p>
          <a:p>
            <a:pPr>
              <a:buFont typeface="Arial"/>
              <a:buChar char="•"/>
            </a:pPr>
            <a:endParaRPr/>
          </a:p>
          <a:p>
            <a:pPr>
              <a:buFont typeface="Arial"/>
              <a:buChar char="•"/>
            </a:pPr>
            <a:r>
              <a:rPr b="0" i="0">
                <a:solidFill>
                  <a:srgbClr val="222222"/>
                </a:solidFill>
                <a:latin typeface="Arial"/>
                <a:ea typeface="Arial"/>
                <a:cs typeface="Arial"/>
              </a:rPr>
              <a:t>Simon, H. A. (1979). Rational decision making in business organizations. </a:t>
            </a:r>
            <a:r>
              <a:rPr b="0" i="1">
                <a:solidFill>
                  <a:srgbClr val="222222"/>
                </a:solidFill>
                <a:latin typeface="Arial"/>
                <a:ea typeface="Arial"/>
                <a:cs typeface="Arial"/>
              </a:rPr>
              <a:t>The American economic review</a:t>
            </a:r>
            <a:r>
              <a:rPr b="0" i="0">
                <a:solidFill>
                  <a:srgbClr val="222222"/>
                </a:solidFill>
                <a:latin typeface="Arial"/>
                <a:ea typeface="Arial"/>
                <a:cs typeface="Arial"/>
              </a:rPr>
              <a:t>, </a:t>
            </a:r>
            <a:r>
              <a:rPr b="0" i="1">
                <a:solidFill>
                  <a:srgbClr val="222222"/>
                </a:solidFill>
                <a:latin typeface="Arial"/>
                <a:ea typeface="Arial"/>
                <a:cs typeface="Arial"/>
              </a:rPr>
              <a:t>69</a:t>
            </a:r>
            <a:r>
              <a:rPr b="0" i="0">
                <a:solidFill>
                  <a:srgbClr val="222222"/>
                </a:solidFill>
                <a:latin typeface="Arial"/>
                <a:ea typeface="Arial"/>
                <a:cs typeface="Arial"/>
              </a:rPr>
              <a:t>(4), 493-513.</a:t>
            </a:r>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C6F7-8515-4634-BB4B-23872B4464E2}"/>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1168673D-1633-4ECA-B4E3-223479823AAA}"/>
              </a:ext>
            </a:extLst>
          </p:cNvPr>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Click to edit Master subtitle style</a:t>
            </a:r>
          </a:p>
        </p:txBody>
      </p:sp>
      <p:sp>
        <p:nvSpPr>
          <p:cNvPr id="4" name="Rectangle 3">
            <a:extLst>
              <a:ext uri="{FF2B5EF4-FFF2-40B4-BE49-F238E27FC236}">
                <a16:creationId xmlns:a16="http://schemas.microsoft.com/office/drawing/2014/main" id="{2146CC5A-136B-4EC5-8B96-AEB37FB8F5E5}"/>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DDB8C-859A-4148-9C47-7C1F3A94C2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944C6D0-1B69-4ACD-9C02-25FEC7844D32}"/>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3">
            <a:extLst>
              <a:ext uri="{FF2B5EF4-FFF2-40B4-BE49-F238E27FC236}">
                <a16:creationId xmlns:a16="http://schemas.microsoft.com/office/drawing/2014/main" id="{4F76D22D-A8EC-4F18-B85B-AD02AF2AF5EA}"/>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FAA06-3792-4613-89E6-191353D187A8}"/>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A16B602E-83DC-41C7-B717-B6E8D6D1197D}"/>
              </a:ext>
            </a:extLst>
          </p:cNvPr>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buNone/>
            </a:pPr>
            <a:r>
              <a:t>Edit Master text styles</a:t>
            </a:r>
          </a:p>
        </p:txBody>
      </p:sp>
      <p:sp>
        <p:nvSpPr>
          <p:cNvPr id="4" name="Rectangle 3">
            <a:extLst>
              <a:ext uri="{FF2B5EF4-FFF2-40B4-BE49-F238E27FC236}">
                <a16:creationId xmlns:a16="http://schemas.microsoft.com/office/drawing/2014/main" id="{E4FE0D01-FA5F-48EE-82BF-8C0F52695823}"/>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2498-D5A5-4C95-A9E8-CD69EEFB3AD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3EC04F3-62BB-48C1-B47C-9A868F422ACD}"/>
              </a:ext>
            </a:extLst>
          </p:cNvPr>
          <p:cNvSpPr>
            <a:spLocks noGrp="1"/>
          </p:cNvSpPr>
          <p:nvPr>
            <p:ph idx="1"/>
          </p:nvPr>
        </p:nvSpPr>
        <p:spPr>
          <a:xfrm>
            <a:off x="78581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85E54F38-201E-49C3-8D42-6989362E8443}"/>
              </a:ext>
            </a:extLst>
          </p:cNvPr>
          <p:cNvSpPr>
            <a:spLocks noGrp="1"/>
          </p:cNvSpPr>
          <p:nvPr>
            <p:ph idx="2"/>
          </p:nvPr>
        </p:nvSpPr>
        <p:spPr>
          <a:xfrm>
            <a:off x="418306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Rectangle 3">
            <a:extLst>
              <a:ext uri="{FF2B5EF4-FFF2-40B4-BE49-F238E27FC236}">
                <a16:creationId xmlns:a16="http://schemas.microsoft.com/office/drawing/2014/main" id="{77008D47-6723-4F3F-B08B-1D698DC949FE}"/>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4323-F2ED-4FA6-8E86-6BA4FF734BA5}"/>
              </a:ext>
            </a:extLst>
          </p:cNvPr>
          <p:cNvSpPr>
            <a:spLocks noGrp="1"/>
          </p:cNvSpPr>
          <p:nvPr>
            <p:ph type="title"/>
          </p:nvPr>
        </p:nvSpPr>
        <p:spPr>
          <a:xfrm>
            <a:off x="457200" y="274638"/>
            <a:ext cx="8229600" cy="1143000"/>
          </a:xfrm>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6FBCA6C7-6C2E-4917-8DF0-28626AF405DE}"/>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4" name="Content Placeholder 3">
            <a:extLst>
              <a:ext uri="{FF2B5EF4-FFF2-40B4-BE49-F238E27FC236}">
                <a16:creationId xmlns:a16="http://schemas.microsoft.com/office/drawing/2014/main" id="{D8143199-8FAE-4C7B-AA3B-A683EB9BCED8}"/>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DFB8037-9BD2-4123-9C2A-CB4924D97DD9}"/>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6" name="Content Placeholder 5">
            <a:extLst>
              <a:ext uri="{FF2B5EF4-FFF2-40B4-BE49-F238E27FC236}">
                <a16:creationId xmlns:a16="http://schemas.microsoft.com/office/drawing/2014/main" id="{3944BC20-23EF-4398-AC53-81F5615EA0B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Rectangle 3">
            <a:extLst>
              <a:ext uri="{FF2B5EF4-FFF2-40B4-BE49-F238E27FC236}">
                <a16:creationId xmlns:a16="http://schemas.microsoft.com/office/drawing/2014/main" id="{4C967B10-0709-4436-B159-2B83B5FF1079}"/>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77E8-A342-49E1-8EAF-B850D16B2D25}"/>
              </a:ext>
            </a:extLst>
          </p:cNvPr>
          <p:cNvSpPr>
            <a:spLocks noGrp="1"/>
          </p:cNvSpPr>
          <p:nvPr>
            <p:ph type="title"/>
          </p:nvPr>
        </p:nvSpPr>
        <p:spPr/>
        <p:txBody>
          <a:bodyPr/>
          <a:lstStyle/>
          <a:p>
            <a:r>
              <a:t>Click to edit Master title style</a:t>
            </a:r>
          </a:p>
        </p:txBody>
      </p:sp>
      <p:sp>
        <p:nvSpPr>
          <p:cNvPr id="3" name="Rectangle 3">
            <a:extLst>
              <a:ext uri="{FF2B5EF4-FFF2-40B4-BE49-F238E27FC236}">
                <a16:creationId xmlns:a16="http://schemas.microsoft.com/office/drawing/2014/main" id="{EB8A603E-786D-47CD-B85D-001155A0D740}"/>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D56E6B3-F15B-4CD0-9D86-811F9CB7F91E}"/>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0417-E851-41D9-9EE2-EEBBCF76F4E2}"/>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0957ECA-1EC8-4DA1-9487-1D2E4318F013}"/>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EE823EB1-7DA7-42B7-AB0A-9449CAAD5759}"/>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3">
            <a:extLst>
              <a:ext uri="{FF2B5EF4-FFF2-40B4-BE49-F238E27FC236}">
                <a16:creationId xmlns:a16="http://schemas.microsoft.com/office/drawing/2014/main" id="{63902376-209F-48F2-BE0C-9F2706ADF72A}"/>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2BA2-C269-42EE-B29D-FAD4D2B992D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AF78071-C67B-4A83-9517-ED10116DB307}"/>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buNone/>
            </a:pPr>
            <a:r>
              <a:t>Click icon to add picture</a:t>
            </a:r>
          </a:p>
        </p:txBody>
      </p:sp>
      <p:sp>
        <p:nvSpPr>
          <p:cNvPr id="4" name="Text Placeholder 3">
            <a:extLst>
              <a:ext uri="{FF2B5EF4-FFF2-40B4-BE49-F238E27FC236}">
                <a16:creationId xmlns:a16="http://schemas.microsoft.com/office/drawing/2014/main" id="{89566807-93A0-4E28-AF72-4F641CBB8B5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3">
            <a:extLst>
              <a:ext uri="{FF2B5EF4-FFF2-40B4-BE49-F238E27FC236}">
                <a16:creationId xmlns:a16="http://schemas.microsoft.com/office/drawing/2014/main" id="{13963BF3-3834-4EBE-8A67-A73D5E43BF9D}"/>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189BC-4E84-4C4B-B881-70FB034C23E5}"/>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AE8BC0C-4446-45CA-9792-565E911EA754}"/>
              </a:ext>
            </a:extLst>
          </p:cNvPr>
          <p:cNvSpPr>
            <a:spLocks noGrp="1"/>
          </p:cNvSpPr>
          <p:nvPr>
            <p:ph type="body" idx="1"/>
          </p:nvPr>
        </p:nvSpPr>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3">
            <a:extLst>
              <a:ext uri="{FF2B5EF4-FFF2-40B4-BE49-F238E27FC236}">
                <a16:creationId xmlns:a16="http://schemas.microsoft.com/office/drawing/2014/main" id="{DE893E2F-D904-42E8-94AD-568601C21B7B}"/>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723B7C-E9F2-458D-97EF-609968CD7FAA}"/>
              </a:ext>
            </a:extLst>
          </p:cNvPr>
          <p:cNvSpPr>
            <a:spLocks noGrp="1"/>
          </p:cNvSpPr>
          <p:nvPr>
            <p:ph type="title"/>
          </p:nvPr>
        </p:nvSpPr>
        <p:spPr>
          <a:xfrm>
            <a:off x="5686425" y="274638"/>
            <a:ext cx="1741488" cy="5010150"/>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1583400-4A94-4871-841F-B9C5119F9B26}"/>
              </a:ext>
            </a:extLst>
          </p:cNvPr>
          <p:cNvSpPr>
            <a:spLocks noGrp="1"/>
          </p:cNvSpPr>
          <p:nvPr>
            <p:ph type="body" idx="1"/>
          </p:nvPr>
        </p:nvSpPr>
        <p:spPr>
          <a:xfrm>
            <a:off x="457200" y="274638"/>
            <a:ext cx="5076825" cy="5010150"/>
          </a:xfrm>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3">
            <a:extLst>
              <a:ext uri="{FF2B5EF4-FFF2-40B4-BE49-F238E27FC236}">
                <a16:creationId xmlns:a16="http://schemas.microsoft.com/office/drawing/2014/main" id="{689EDD89-450D-4214-976F-C75601F72B0A}"/>
              </a:ext>
            </a:extLst>
          </p:cNvPr>
          <p:cNvSpPr>
            <a:spLocks noGrp="1"/>
          </p:cNvSpPr>
          <p:nvPr>
            <p:ph type="sldNum" idx="10"/>
          </p:nvPr>
        </p:nvSpPr>
        <p:spPr/>
        <p:txBody>
          <a:bodyPr/>
          <a:lstStyle>
            <a:lvl1pPr>
              <a:buNone/>
              <a:defRPr/>
            </a:lvl1pPr>
          </a:lstStyle>
          <a:p>
            <a:fld id="{36A9D662-D713-5945-9CA3-C981A7AC5439}"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2D1D3-0F6C-480E-809D-5B5CD059FE77}"/>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05C9A29-1717-4EAC-B20E-40A76D38F1F2}"/>
              </a:ext>
            </a:extLst>
          </p:cNvPr>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Click to edit Master subtitle style</a:t>
            </a:r>
          </a:p>
        </p:txBody>
      </p:sp>
      <p:sp>
        <p:nvSpPr>
          <p:cNvPr id="4" name="Rectangle 7">
            <a:extLst>
              <a:ext uri="{FF2B5EF4-FFF2-40B4-BE49-F238E27FC236}">
                <a16:creationId xmlns:a16="http://schemas.microsoft.com/office/drawing/2014/main" id="{B76B4C25-DD56-47A1-8DA2-7332FA1DB2EE}"/>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EE78D-E76C-4FD6-AB63-89F67AA225A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F267DB-FAC4-4647-85D9-08A1B50E701F}"/>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21924613-C1ED-42A1-9CF3-BBD874F2778E}"/>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75E0B-068C-4533-AE61-FB6DD58EFAA4}"/>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48FC4DB-C61A-45F1-9670-2F78204362A6}"/>
              </a:ext>
            </a:extLst>
          </p:cNvPr>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buNone/>
            </a:pPr>
            <a:r>
              <a:t>Edit Master text styles</a:t>
            </a:r>
          </a:p>
        </p:txBody>
      </p:sp>
      <p:sp>
        <p:nvSpPr>
          <p:cNvPr id="4" name="Rectangle 7">
            <a:extLst>
              <a:ext uri="{FF2B5EF4-FFF2-40B4-BE49-F238E27FC236}">
                <a16:creationId xmlns:a16="http://schemas.microsoft.com/office/drawing/2014/main" id="{C5D69BD5-307D-49B7-9523-0DD3790D975E}"/>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E9A27-BDC2-4C7C-84A9-84C3E4F426B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5E074EE-4630-4689-885B-34721B9D1BA0}"/>
              </a:ext>
            </a:extLst>
          </p:cNvPr>
          <p:cNvSpPr>
            <a:spLocks noGrp="1"/>
          </p:cNvSpPr>
          <p:nvPr>
            <p:ph idx="1"/>
          </p:nvPr>
        </p:nvSpPr>
        <p:spPr>
          <a:xfrm>
            <a:off x="78581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B1E1C2C-14E2-4DD2-86AE-E96555CCC5D3}"/>
              </a:ext>
            </a:extLst>
          </p:cNvPr>
          <p:cNvSpPr>
            <a:spLocks noGrp="1"/>
          </p:cNvSpPr>
          <p:nvPr>
            <p:ph idx="2"/>
          </p:nvPr>
        </p:nvSpPr>
        <p:spPr>
          <a:xfrm>
            <a:off x="418306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Rectangle 7">
            <a:extLst>
              <a:ext uri="{FF2B5EF4-FFF2-40B4-BE49-F238E27FC236}">
                <a16:creationId xmlns:a16="http://schemas.microsoft.com/office/drawing/2014/main" id="{967E720E-F5A7-4140-AC58-4321EACDA02F}"/>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2F2BE-2F59-4E73-95A6-402DDBCB1832}"/>
              </a:ext>
            </a:extLst>
          </p:cNvPr>
          <p:cNvSpPr>
            <a:spLocks noGrp="1"/>
          </p:cNvSpPr>
          <p:nvPr>
            <p:ph type="title"/>
          </p:nvPr>
        </p:nvSpPr>
        <p:spPr>
          <a:xfrm>
            <a:off x="457200" y="274638"/>
            <a:ext cx="8229600" cy="1143000"/>
          </a:xfrm>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C8FBB153-8B78-474C-8285-330ECF761028}"/>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4" name="Content Placeholder 3">
            <a:extLst>
              <a:ext uri="{FF2B5EF4-FFF2-40B4-BE49-F238E27FC236}">
                <a16:creationId xmlns:a16="http://schemas.microsoft.com/office/drawing/2014/main" id="{D25C57AE-362E-4FF3-948D-FF1CC2B6A491}"/>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DB98AAAB-19D0-4FB2-810B-3A6D5653124E}"/>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6" name="Content Placeholder 5">
            <a:extLst>
              <a:ext uri="{FF2B5EF4-FFF2-40B4-BE49-F238E27FC236}">
                <a16:creationId xmlns:a16="http://schemas.microsoft.com/office/drawing/2014/main" id="{770AFB9D-EC2D-44AB-AFC3-55256E87D67D}"/>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Rectangle 7">
            <a:extLst>
              <a:ext uri="{FF2B5EF4-FFF2-40B4-BE49-F238E27FC236}">
                <a16:creationId xmlns:a16="http://schemas.microsoft.com/office/drawing/2014/main" id="{ACDFD392-E421-4F89-97EE-7009794E5316}"/>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58AA0-60BC-44CF-A7EF-0E9465997FEE}"/>
              </a:ext>
            </a:extLst>
          </p:cNvPr>
          <p:cNvSpPr>
            <a:spLocks noGrp="1"/>
          </p:cNvSpPr>
          <p:nvPr>
            <p:ph type="title"/>
          </p:nvPr>
        </p:nvSpPr>
        <p:spPr/>
        <p:txBody>
          <a:bodyPr/>
          <a:lstStyle/>
          <a:p>
            <a:r>
              <a:t>Click to edit Master title style</a:t>
            </a:r>
          </a:p>
        </p:txBody>
      </p:sp>
      <p:sp>
        <p:nvSpPr>
          <p:cNvPr id="3" name="Rectangle 7">
            <a:extLst>
              <a:ext uri="{FF2B5EF4-FFF2-40B4-BE49-F238E27FC236}">
                <a16:creationId xmlns:a16="http://schemas.microsoft.com/office/drawing/2014/main" id="{11C44CE4-CACE-498F-9500-D10988699A88}"/>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87708BD-13AB-4C79-B828-4968923A304B}"/>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294C-E150-478D-BA2A-268DEE732A83}"/>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98EDB499-746D-4FFD-8C47-B26B2BC49DF7}"/>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B1249CF-D2BA-458C-9197-648C08ABD35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7">
            <a:extLst>
              <a:ext uri="{FF2B5EF4-FFF2-40B4-BE49-F238E27FC236}">
                <a16:creationId xmlns:a16="http://schemas.microsoft.com/office/drawing/2014/main" id="{CACA7988-AD85-4BAA-8571-D7928F50118E}"/>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B43E2-C058-4D73-A15B-757A51E47CF7}"/>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732DA56B-14C8-4107-8D8C-33C6881DDA73}"/>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buNone/>
            </a:pPr>
            <a:r>
              <a:t>Click icon to add picture</a:t>
            </a:r>
          </a:p>
        </p:txBody>
      </p:sp>
      <p:sp>
        <p:nvSpPr>
          <p:cNvPr id="4" name="Text Placeholder 3">
            <a:extLst>
              <a:ext uri="{FF2B5EF4-FFF2-40B4-BE49-F238E27FC236}">
                <a16:creationId xmlns:a16="http://schemas.microsoft.com/office/drawing/2014/main" id="{CB861ACC-B288-4168-A5D8-440B53BE36A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7">
            <a:extLst>
              <a:ext uri="{FF2B5EF4-FFF2-40B4-BE49-F238E27FC236}">
                <a16:creationId xmlns:a16="http://schemas.microsoft.com/office/drawing/2014/main" id="{9F90CAAC-7B8C-4E55-8C5F-E54E8C372653}"/>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B6CE4-C0EC-4F88-B498-F6306185163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FB26F0F-40E2-4004-B4F0-A12D09E4F916}"/>
              </a:ext>
            </a:extLst>
          </p:cNvPr>
          <p:cNvSpPr>
            <a:spLocks noGrp="1"/>
          </p:cNvSpPr>
          <p:nvPr>
            <p:ph type="body" idx="1"/>
          </p:nvPr>
        </p:nvSpPr>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186A989F-B719-4566-B971-D2A9DDA20A5C}"/>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9581F3-06CA-41DD-AB37-BEA6CD9A71A4}"/>
              </a:ext>
            </a:extLst>
          </p:cNvPr>
          <p:cNvSpPr>
            <a:spLocks noGrp="1"/>
          </p:cNvSpPr>
          <p:nvPr>
            <p:ph type="title"/>
          </p:nvPr>
        </p:nvSpPr>
        <p:spPr>
          <a:xfrm>
            <a:off x="5686425" y="274638"/>
            <a:ext cx="1741488" cy="5010150"/>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4F9EA4C-F112-492D-9D53-B45C331427D5}"/>
              </a:ext>
            </a:extLst>
          </p:cNvPr>
          <p:cNvSpPr>
            <a:spLocks noGrp="1"/>
          </p:cNvSpPr>
          <p:nvPr>
            <p:ph type="body" idx="1"/>
          </p:nvPr>
        </p:nvSpPr>
        <p:spPr>
          <a:xfrm>
            <a:off x="457200" y="274638"/>
            <a:ext cx="5076825" cy="5010150"/>
          </a:xfrm>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51E1DEF4-DAF1-41DC-8123-765848C6D794}"/>
              </a:ext>
            </a:extLst>
          </p:cNvPr>
          <p:cNvSpPr>
            <a:spLocks noGrp="1"/>
          </p:cNvSpPr>
          <p:nvPr>
            <p:ph type="sldNum" idx="10"/>
          </p:nvPr>
        </p:nvSpPr>
        <p:spPr/>
        <p:txBody>
          <a:bodyPr/>
          <a:lstStyle>
            <a:lvl1pPr>
              <a:buNone/>
              <a:defRPr/>
            </a:lvl1pPr>
          </a:lstStyle>
          <a:p>
            <a:pPr>
              <a:buNone/>
            </a:pPr>
            <a:r>
              <a:t>MMangtSc </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4C234-BC16-4490-AA91-55C728787DC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8A4C2000-3EC4-4947-B5BE-C38FBE26010B}"/>
              </a:ext>
            </a:extLst>
          </p:cNvPr>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t>Click to edit Master subtitle style</a:t>
            </a:r>
          </a:p>
        </p:txBody>
      </p:sp>
      <p:sp>
        <p:nvSpPr>
          <p:cNvPr id="4" name="Rectangle 7">
            <a:extLst>
              <a:ext uri="{FF2B5EF4-FFF2-40B4-BE49-F238E27FC236}">
                <a16:creationId xmlns:a16="http://schemas.microsoft.com/office/drawing/2014/main" id="{95F576AD-6B39-4A6A-AF0C-D1AEA80FC0CD}"/>
              </a:ext>
            </a:extLst>
          </p:cNvPr>
          <p:cNvSpPr>
            <a:spLocks noGrp="1"/>
          </p:cNvSpPr>
          <p:nvPr>
            <p:ph type="sldNum" idx="10"/>
          </p:nvPr>
        </p:nvSpPr>
        <p:spPr/>
        <p:txBody>
          <a:bodyPr/>
          <a:lstStyle>
            <a:lvl1pPr>
              <a:buNone/>
              <a:defRPr/>
            </a:lvl1pPr>
          </a:lstStyle>
          <a:p>
            <a:fld id="{B77D0300-A667-44DD-86DF-90EC0AA7DD9F}"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FE10B-5FE9-463E-9903-C7C7C01AD42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6E47130-C303-400C-BE56-C0BBCB2088A3}"/>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B051EF44-85C7-4ED0-A7C0-18185369D134}"/>
              </a:ext>
            </a:extLst>
          </p:cNvPr>
          <p:cNvSpPr>
            <a:spLocks noGrp="1"/>
          </p:cNvSpPr>
          <p:nvPr>
            <p:ph type="sldNum" idx="10"/>
          </p:nvPr>
        </p:nvSpPr>
        <p:spPr/>
        <p:txBody>
          <a:bodyPr/>
          <a:lstStyle>
            <a:lvl1pPr>
              <a:buNone/>
              <a:defRPr/>
            </a:lvl1pPr>
          </a:lstStyle>
          <a:p>
            <a:fld id="{6507172B-8311-48EC-BDFF-D413E2248CE7}"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3B865-8337-4C12-AB60-DEF22153B609}"/>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920E249C-5FF7-4F3F-81AA-01150F015F84}"/>
              </a:ext>
            </a:extLst>
          </p:cNvPr>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buNone/>
            </a:pPr>
            <a:r>
              <a:t>Edit Master text styles</a:t>
            </a:r>
          </a:p>
        </p:txBody>
      </p:sp>
      <p:sp>
        <p:nvSpPr>
          <p:cNvPr id="4" name="Rectangle 7">
            <a:extLst>
              <a:ext uri="{FF2B5EF4-FFF2-40B4-BE49-F238E27FC236}">
                <a16:creationId xmlns:a16="http://schemas.microsoft.com/office/drawing/2014/main" id="{9FB8C134-5257-4EF0-B45E-8BD19F9613FB}"/>
              </a:ext>
            </a:extLst>
          </p:cNvPr>
          <p:cNvSpPr>
            <a:spLocks noGrp="1"/>
          </p:cNvSpPr>
          <p:nvPr>
            <p:ph type="sldNum" idx="10"/>
          </p:nvPr>
        </p:nvSpPr>
        <p:spPr/>
        <p:txBody>
          <a:bodyPr/>
          <a:lstStyle>
            <a:lvl1pPr>
              <a:buNone/>
              <a:defRPr/>
            </a:lvl1pPr>
          </a:lstStyle>
          <a:p>
            <a:fld id="{2A45BE85-53FE-426C-A638-F277B9D08A0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CCE9-3CDC-4D9A-BE25-C53B1609EAB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64D0555-42B4-4EE1-89AD-1C17754899A3}"/>
              </a:ext>
            </a:extLst>
          </p:cNvPr>
          <p:cNvSpPr>
            <a:spLocks noGrp="1"/>
          </p:cNvSpPr>
          <p:nvPr>
            <p:ph idx="1"/>
          </p:nvPr>
        </p:nvSpPr>
        <p:spPr>
          <a:xfrm>
            <a:off x="78581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30CF4B1-B256-4FB5-AC4A-F87C51C7BFCD}"/>
              </a:ext>
            </a:extLst>
          </p:cNvPr>
          <p:cNvSpPr>
            <a:spLocks noGrp="1"/>
          </p:cNvSpPr>
          <p:nvPr>
            <p:ph idx="2"/>
          </p:nvPr>
        </p:nvSpPr>
        <p:spPr>
          <a:xfrm>
            <a:off x="4183063" y="1341438"/>
            <a:ext cx="3244850" cy="394335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Rectangle 7">
            <a:extLst>
              <a:ext uri="{FF2B5EF4-FFF2-40B4-BE49-F238E27FC236}">
                <a16:creationId xmlns:a16="http://schemas.microsoft.com/office/drawing/2014/main" id="{88AA3311-E361-4DBE-A81A-79C64F1D82D0}"/>
              </a:ext>
            </a:extLst>
          </p:cNvPr>
          <p:cNvSpPr>
            <a:spLocks noGrp="1"/>
          </p:cNvSpPr>
          <p:nvPr>
            <p:ph type="sldNum" idx="10"/>
          </p:nvPr>
        </p:nvSpPr>
        <p:spPr/>
        <p:txBody>
          <a:bodyPr/>
          <a:lstStyle>
            <a:lvl1pPr>
              <a:buNone/>
              <a:defRPr/>
            </a:lvl1pPr>
          </a:lstStyle>
          <a:p>
            <a:fld id="{AC4404E6-21D3-4594-867E-F664C375E38E}"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A3F5-2D09-4B6B-BBAB-C6B027BC3725}"/>
              </a:ext>
            </a:extLst>
          </p:cNvPr>
          <p:cNvSpPr>
            <a:spLocks noGrp="1"/>
          </p:cNvSpPr>
          <p:nvPr>
            <p:ph type="title"/>
          </p:nvPr>
        </p:nvSpPr>
        <p:spPr>
          <a:xfrm>
            <a:off x="457200" y="274638"/>
            <a:ext cx="8229600" cy="1143000"/>
          </a:xfrm>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1714ACC-08AD-46DD-9234-2B6946BCF0A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4" name="Content Placeholder 3">
            <a:extLst>
              <a:ext uri="{FF2B5EF4-FFF2-40B4-BE49-F238E27FC236}">
                <a16:creationId xmlns:a16="http://schemas.microsoft.com/office/drawing/2014/main" id="{34CE9853-F4A9-4489-BE7A-5669F68C0F8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052E1F70-BF94-4BB5-8923-3793F92CD4A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Edit Master text styles</a:t>
            </a:r>
          </a:p>
        </p:txBody>
      </p:sp>
      <p:sp>
        <p:nvSpPr>
          <p:cNvPr id="6" name="Content Placeholder 5">
            <a:extLst>
              <a:ext uri="{FF2B5EF4-FFF2-40B4-BE49-F238E27FC236}">
                <a16:creationId xmlns:a16="http://schemas.microsoft.com/office/drawing/2014/main" id="{A032E281-7DBD-41A6-B9BE-8E24B4F34F3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Rectangle 7">
            <a:extLst>
              <a:ext uri="{FF2B5EF4-FFF2-40B4-BE49-F238E27FC236}">
                <a16:creationId xmlns:a16="http://schemas.microsoft.com/office/drawing/2014/main" id="{B9FC91C9-82B0-460A-AF16-F8E435FFCB63}"/>
              </a:ext>
            </a:extLst>
          </p:cNvPr>
          <p:cNvSpPr>
            <a:spLocks noGrp="1"/>
          </p:cNvSpPr>
          <p:nvPr>
            <p:ph type="sldNum" idx="10"/>
          </p:nvPr>
        </p:nvSpPr>
        <p:spPr/>
        <p:txBody>
          <a:bodyPr/>
          <a:lstStyle>
            <a:lvl1pPr>
              <a:buNone/>
              <a:defRPr/>
            </a:lvl1pPr>
          </a:lstStyle>
          <a:p>
            <a:fld id="{EB1E9315-5B84-4138-891F-AD09308DF5A3}"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2E6A0-1F6D-428D-BA92-B9E6180EE359}"/>
              </a:ext>
            </a:extLst>
          </p:cNvPr>
          <p:cNvSpPr>
            <a:spLocks noGrp="1"/>
          </p:cNvSpPr>
          <p:nvPr>
            <p:ph type="title"/>
          </p:nvPr>
        </p:nvSpPr>
        <p:spPr/>
        <p:txBody>
          <a:bodyPr/>
          <a:lstStyle/>
          <a:p>
            <a:r>
              <a:t>Click to edit Master title style</a:t>
            </a:r>
          </a:p>
        </p:txBody>
      </p:sp>
      <p:sp>
        <p:nvSpPr>
          <p:cNvPr id="3" name="Rectangle 7">
            <a:extLst>
              <a:ext uri="{FF2B5EF4-FFF2-40B4-BE49-F238E27FC236}">
                <a16:creationId xmlns:a16="http://schemas.microsoft.com/office/drawing/2014/main" id="{89435CC7-78C9-48D3-9E22-AAB54A252690}"/>
              </a:ext>
            </a:extLst>
          </p:cNvPr>
          <p:cNvSpPr>
            <a:spLocks noGrp="1"/>
          </p:cNvSpPr>
          <p:nvPr>
            <p:ph type="sldNum" idx="10"/>
          </p:nvPr>
        </p:nvSpPr>
        <p:spPr/>
        <p:txBody>
          <a:bodyPr/>
          <a:lstStyle>
            <a:lvl1pPr>
              <a:buNone/>
              <a:defRPr/>
            </a:lvl1pPr>
          </a:lstStyle>
          <a:p>
            <a:fld id="{5D881D18-F21E-4B28-8267-7C045F35B93D}"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B40BC694-D5F9-43CB-AF94-479EC94ED59A}"/>
              </a:ext>
            </a:extLst>
          </p:cNvPr>
          <p:cNvSpPr>
            <a:spLocks noGrp="1"/>
          </p:cNvSpPr>
          <p:nvPr>
            <p:ph type="sldNum" idx="10"/>
          </p:nvPr>
        </p:nvSpPr>
        <p:spPr/>
        <p:txBody>
          <a:bodyPr/>
          <a:lstStyle>
            <a:lvl1pPr>
              <a:buNone/>
              <a:defRPr/>
            </a:lvl1pPr>
          </a:lstStyle>
          <a:p>
            <a:fld id="{DE2EFDCE-2C37-4DD8-916A-4EED4A74ABE0}"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DBD38-8BC7-4F06-9135-CF0E1F150F7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514C2590-4F27-49DC-A9BC-02D475F4BEC8}"/>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41C566C7-45ED-4EC4-8E22-926563ECA171}"/>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7">
            <a:extLst>
              <a:ext uri="{FF2B5EF4-FFF2-40B4-BE49-F238E27FC236}">
                <a16:creationId xmlns:a16="http://schemas.microsoft.com/office/drawing/2014/main" id="{B17482DA-020C-4040-858A-3F28B74AA9F1}"/>
              </a:ext>
            </a:extLst>
          </p:cNvPr>
          <p:cNvSpPr>
            <a:spLocks noGrp="1"/>
          </p:cNvSpPr>
          <p:nvPr>
            <p:ph type="sldNum" idx="10"/>
          </p:nvPr>
        </p:nvSpPr>
        <p:spPr/>
        <p:txBody>
          <a:bodyPr/>
          <a:lstStyle>
            <a:lvl1pPr>
              <a:buNone/>
              <a:defRPr/>
            </a:lvl1pPr>
          </a:lstStyle>
          <a:p>
            <a:fld id="{87147B8A-789F-4293-904D-186FD651C0CD}"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79D02-602E-4C87-9FB3-8319D60DE390}"/>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D27F5F32-CD3E-44C8-BB53-67D0E566CEE9}"/>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buNone/>
            </a:pPr>
            <a:r>
              <a:t>Click icon to add picture</a:t>
            </a:r>
          </a:p>
        </p:txBody>
      </p:sp>
      <p:sp>
        <p:nvSpPr>
          <p:cNvPr id="4" name="Text Placeholder 3">
            <a:extLst>
              <a:ext uri="{FF2B5EF4-FFF2-40B4-BE49-F238E27FC236}">
                <a16:creationId xmlns:a16="http://schemas.microsoft.com/office/drawing/2014/main" id="{CFC64EDB-A139-4FCA-B223-B7D32A18B761}"/>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Edit Master text styles</a:t>
            </a:r>
          </a:p>
        </p:txBody>
      </p:sp>
      <p:sp>
        <p:nvSpPr>
          <p:cNvPr id="5" name="Rectangle 7">
            <a:extLst>
              <a:ext uri="{FF2B5EF4-FFF2-40B4-BE49-F238E27FC236}">
                <a16:creationId xmlns:a16="http://schemas.microsoft.com/office/drawing/2014/main" id="{12C5C09E-4FA5-4C28-830E-C1059CD2D530}"/>
              </a:ext>
            </a:extLst>
          </p:cNvPr>
          <p:cNvSpPr>
            <a:spLocks noGrp="1"/>
          </p:cNvSpPr>
          <p:nvPr>
            <p:ph type="sldNum" idx="10"/>
          </p:nvPr>
        </p:nvSpPr>
        <p:spPr/>
        <p:txBody>
          <a:bodyPr/>
          <a:lstStyle>
            <a:lvl1pPr>
              <a:buNone/>
              <a:defRPr/>
            </a:lvl1pPr>
          </a:lstStyle>
          <a:p>
            <a:fld id="{D076CB22-FA47-4725-9AB7-9E974C18FF5F}"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2547D-A260-4909-8D02-F7767772F565}"/>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F669B83-DAC0-4572-BD93-079303F61699}"/>
              </a:ext>
            </a:extLst>
          </p:cNvPr>
          <p:cNvSpPr>
            <a:spLocks noGrp="1"/>
          </p:cNvSpPr>
          <p:nvPr>
            <p:ph type="body" idx="1"/>
          </p:nvPr>
        </p:nvSpPr>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D87CD9C1-8C48-428D-A034-A30A2A7C9845}"/>
              </a:ext>
            </a:extLst>
          </p:cNvPr>
          <p:cNvSpPr>
            <a:spLocks noGrp="1"/>
          </p:cNvSpPr>
          <p:nvPr>
            <p:ph type="sldNum" idx="10"/>
          </p:nvPr>
        </p:nvSpPr>
        <p:spPr/>
        <p:txBody>
          <a:bodyPr/>
          <a:lstStyle>
            <a:lvl1pPr>
              <a:buNone/>
              <a:defRPr/>
            </a:lvl1pPr>
          </a:lstStyle>
          <a:p>
            <a:fld id="{E2D61F24-5650-46A6-8806-14A1504E6C21}"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B3EA7F-4AB5-40D6-905D-010309EBC956}"/>
              </a:ext>
            </a:extLst>
          </p:cNvPr>
          <p:cNvSpPr>
            <a:spLocks noGrp="1"/>
          </p:cNvSpPr>
          <p:nvPr>
            <p:ph type="title"/>
          </p:nvPr>
        </p:nvSpPr>
        <p:spPr>
          <a:xfrm>
            <a:off x="5686425" y="274638"/>
            <a:ext cx="1741488" cy="5010150"/>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B56D948-73F2-4D66-B28A-6180FD9FDA43}"/>
              </a:ext>
            </a:extLst>
          </p:cNvPr>
          <p:cNvSpPr>
            <a:spLocks noGrp="1"/>
          </p:cNvSpPr>
          <p:nvPr>
            <p:ph type="body" idx="1"/>
          </p:nvPr>
        </p:nvSpPr>
        <p:spPr>
          <a:xfrm>
            <a:off x="457200" y="274638"/>
            <a:ext cx="5076825" cy="5010150"/>
          </a:xfrm>
        </p:spPr>
        <p:txBody>
          <a:bodyPr vert="eaVert"/>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7">
            <a:extLst>
              <a:ext uri="{FF2B5EF4-FFF2-40B4-BE49-F238E27FC236}">
                <a16:creationId xmlns:a16="http://schemas.microsoft.com/office/drawing/2014/main" id="{B9A58F11-028A-458A-A92A-F1A197933699}"/>
              </a:ext>
            </a:extLst>
          </p:cNvPr>
          <p:cNvSpPr>
            <a:spLocks noGrp="1"/>
          </p:cNvSpPr>
          <p:nvPr>
            <p:ph type="sldNum" idx="10"/>
          </p:nvPr>
        </p:nvSpPr>
        <p:spPr/>
        <p:txBody>
          <a:bodyPr/>
          <a:lstStyle>
            <a:lvl1pPr>
              <a:buNone/>
              <a:defRPr/>
            </a:lvl1pPr>
          </a:lstStyle>
          <a:p>
            <a:fld id="{92E9676C-C39E-4152-B276-53F99F9724F1}"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267A-32C4-95A1-8860-B4AFB117DA9E}"/>
              </a:ext>
            </a:extLst>
          </p:cNvPr>
          <p:cNvSpPr>
            <a:spLocks noGrp="1"/>
          </p:cNvSpPr>
          <p:nvPr>
            <p:ph type="ctrTitle"/>
          </p:nvPr>
        </p:nvSpPr>
        <p:spPr>
          <a:xfrm>
            <a:off x="1143000" y="1122363"/>
            <a:ext cx="6858000" cy="2387600"/>
          </a:xfrm>
        </p:spPr>
        <p:txBody>
          <a:bodyPr anchor="b"/>
          <a:lstStyle>
            <a:lvl1pPr algn="ctr">
              <a:buNone/>
              <a:defRPr sz="4500"/>
            </a:lvl1pPr>
          </a:lstStyle>
          <a:p>
            <a:r>
              <a:t>Click to edit Master title style</a:t>
            </a:r>
          </a:p>
        </p:txBody>
      </p:sp>
      <p:sp>
        <p:nvSpPr>
          <p:cNvPr id="3" name="Subtitle 2">
            <a:extLst>
              <a:ext uri="{FF2B5EF4-FFF2-40B4-BE49-F238E27FC236}">
                <a16:creationId xmlns:a16="http://schemas.microsoft.com/office/drawing/2014/main" id="{3EB8749B-C000-54D9-F9BA-9F938596C2A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Click to edit Master subtitle style</a:t>
            </a:r>
          </a:p>
        </p:txBody>
      </p:sp>
      <p:sp>
        <p:nvSpPr>
          <p:cNvPr id="4" name="Date Placeholder 3">
            <a:extLst>
              <a:ext uri="{FF2B5EF4-FFF2-40B4-BE49-F238E27FC236}">
                <a16:creationId xmlns:a16="http://schemas.microsoft.com/office/drawing/2014/main" id="{DFCB5618-E475-3BA5-C59D-A74C6FB10936}"/>
              </a:ext>
            </a:extLst>
          </p:cNvPr>
          <p:cNvSpPr>
            <a:spLocks noGrp="1"/>
          </p:cNvSpPr>
          <p:nvPr>
            <p:ph type="dt" idx="10"/>
          </p:nvPr>
        </p:nvSpPr>
        <p:spPr/>
        <p:txBody>
          <a:body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015B1582-FA31-3205-8A99-D776D982B9F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BA65BA6-1934-24DF-34CB-D8D8E8E07557}"/>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49F1-2E0C-A821-35FA-0B7134A3B83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87AB834-3882-CE28-2D07-0CEBC207EAE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389E1A-1DDA-CA7E-7254-B872FD6A545F}"/>
              </a:ext>
            </a:extLst>
          </p:cNvPr>
          <p:cNvSpPr>
            <a:spLocks noGrp="1"/>
          </p:cNvSpPr>
          <p:nvPr>
            <p:ph type="dt" idx="10"/>
          </p:nvPr>
        </p:nvSpPr>
        <p:spPr/>
        <p:txBody>
          <a:body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9E8FE5B7-7E76-A7FF-E4B8-11F30652614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B13F068-BF66-D3C3-E387-72DFE5EE359B}"/>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E65E-B31F-7C65-6694-776E832D6E2F}"/>
              </a:ext>
            </a:extLst>
          </p:cNvPr>
          <p:cNvSpPr>
            <a:spLocks noGrp="1"/>
          </p:cNvSpPr>
          <p:nvPr>
            <p:ph type="title"/>
          </p:nvPr>
        </p:nvSpPr>
        <p:spPr>
          <a:xfrm>
            <a:off x="623888" y="1709739"/>
            <a:ext cx="7886700" cy="2852737"/>
          </a:xfrm>
        </p:spPr>
        <p:txBody>
          <a:bodyPr anchor="b"/>
          <a:lstStyle>
            <a:lvl1pPr>
              <a:buNone/>
              <a:defRPr sz="4500"/>
            </a:lvl1pPr>
          </a:lstStyle>
          <a:p>
            <a:r>
              <a:t>Click to edit Master title style</a:t>
            </a:r>
          </a:p>
        </p:txBody>
      </p:sp>
      <p:sp>
        <p:nvSpPr>
          <p:cNvPr id="3" name="Text Placeholder 2">
            <a:extLst>
              <a:ext uri="{FF2B5EF4-FFF2-40B4-BE49-F238E27FC236}">
                <a16:creationId xmlns:a16="http://schemas.microsoft.com/office/drawing/2014/main" id="{BB286099-B3D7-F08D-9DFA-FA7F3C9B158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E287576-67FE-787D-A78A-19F11FFAB758}"/>
              </a:ext>
            </a:extLst>
          </p:cNvPr>
          <p:cNvSpPr>
            <a:spLocks noGrp="1"/>
          </p:cNvSpPr>
          <p:nvPr>
            <p:ph type="dt" idx="10"/>
          </p:nvPr>
        </p:nvSpPr>
        <p:spPr/>
        <p:txBody>
          <a:body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C33EAE96-60C7-1CE3-3708-0C8324CE772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6BF2052-7F39-7167-0258-B02BDF6D6571}"/>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A7DA-72F0-1473-C373-C680CF98223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81121A8-9B4F-38A8-328F-BD45861BC30B}"/>
              </a:ext>
            </a:extLst>
          </p:cNvPr>
          <p:cNvSpPr>
            <a:spLocks noGrp="1"/>
          </p:cNvSpPr>
          <p:nvPr>
            <p:ph idx="1"/>
          </p:nvPr>
        </p:nvSpPr>
        <p:spPr>
          <a:xfrm>
            <a:off x="628650" y="1825625"/>
            <a:ext cx="38862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A177053-EFD3-6FF1-8FDB-E02370A62C3A}"/>
              </a:ext>
            </a:extLst>
          </p:cNvPr>
          <p:cNvSpPr>
            <a:spLocks noGrp="1"/>
          </p:cNvSpPr>
          <p:nvPr>
            <p:ph idx="2"/>
          </p:nvPr>
        </p:nvSpPr>
        <p:spPr>
          <a:xfrm>
            <a:off x="4629150" y="1825625"/>
            <a:ext cx="38862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A1C3985-BDF9-4A99-E19F-084EE21E371B}"/>
              </a:ext>
            </a:extLst>
          </p:cNvPr>
          <p:cNvSpPr>
            <a:spLocks noGrp="1"/>
          </p:cNvSpPr>
          <p:nvPr>
            <p:ph type="dt" idx="10"/>
          </p:nvPr>
        </p:nvSpPr>
        <p:spPr/>
        <p:txBody>
          <a:bodyPr/>
          <a:lstStyle/>
          <a:p>
            <a:fld id="{B4AEEB7E-6EF2-42C4-B6B1-48CE3646D959}" type="datetimeFigureOut">
              <a:t>8/19/2026</a:t>
            </a:fld>
            <a:endParaRPr/>
          </a:p>
        </p:txBody>
      </p:sp>
      <p:sp>
        <p:nvSpPr>
          <p:cNvPr id="6" name="Footer Placeholder 5">
            <a:extLst>
              <a:ext uri="{FF2B5EF4-FFF2-40B4-BE49-F238E27FC236}">
                <a16:creationId xmlns:a16="http://schemas.microsoft.com/office/drawing/2014/main" id="{39FB4152-B500-4E7F-0189-708C5E86102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C7F7F28-D1A4-6EB2-D5D8-2B990DFC9ADA}"/>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0D6A3-05A6-8E4A-BAE9-727A7570D8AB}"/>
              </a:ext>
            </a:extLst>
          </p:cNvPr>
          <p:cNvSpPr>
            <a:spLocks noGrp="1"/>
          </p:cNvSpPr>
          <p:nvPr>
            <p:ph type="title"/>
          </p:nvPr>
        </p:nvSpPr>
        <p:spPr>
          <a:xfrm>
            <a:off x="629841" y="365126"/>
            <a:ext cx="7886700" cy="1325563"/>
          </a:xfrm>
        </p:spPr>
        <p:txBody>
          <a:bodyPr/>
          <a:lstStyle/>
          <a:p>
            <a:r>
              <a:t>Click to edit Master title style</a:t>
            </a:r>
          </a:p>
        </p:txBody>
      </p:sp>
      <p:sp>
        <p:nvSpPr>
          <p:cNvPr id="3" name="Text Placeholder 2">
            <a:extLst>
              <a:ext uri="{FF2B5EF4-FFF2-40B4-BE49-F238E27FC236}">
                <a16:creationId xmlns:a16="http://schemas.microsoft.com/office/drawing/2014/main" id="{4AAD2E6B-218C-4C2C-4218-D1C216FBC4F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Click to edit Master text styles</a:t>
            </a:r>
          </a:p>
        </p:txBody>
      </p:sp>
      <p:sp>
        <p:nvSpPr>
          <p:cNvPr id="4" name="Content Placeholder 3">
            <a:extLst>
              <a:ext uri="{FF2B5EF4-FFF2-40B4-BE49-F238E27FC236}">
                <a16:creationId xmlns:a16="http://schemas.microsoft.com/office/drawing/2014/main" id="{DAEC961E-F470-8554-6F22-8B6C7DFBDF77}"/>
              </a:ext>
            </a:extLst>
          </p:cNvPr>
          <p:cNvSpPr>
            <a:spLocks noGrp="1"/>
          </p:cNvSpPr>
          <p:nvPr>
            <p:ph idx="2"/>
          </p:nvPr>
        </p:nvSpPr>
        <p:spPr>
          <a:xfrm>
            <a:off x="629842" y="2505075"/>
            <a:ext cx="3868340"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402CD46F-E589-0809-3DCB-3B933471D1DD}"/>
              </a:ext>
            </a:extLst>
          </p:cNvPr>
          <p:cNvSpPr>
            <a:spLocks noGrp="1"/>
          </p:cNvSpPr>
          <p:nvPr>
            <p:ph type="body"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Click to edit Master text styles</a:t>
            </a:r>
          </a:p>
        </p:txBody>
      </p:sp>
      <p:sp>
        <p:nvSpPr>
          <p:cNvPr id="6" name="Content Placeholder 5">
            <a:extLst>
              <a:ext uri="{FF2B5EF4-FFF2-40B4-BE49-F238E27FC236}">
                <a16:creationId xmlns:a16="http://schemas.microsoft.com/office/drawing/2014/main" id="{05599E50-B441-5139-9608-80BB661E524F}"/>
              </a:ext>
            </a:extLst>
          </p:cNvPr>
          <p:cNvSpPr>
            <a:spLocks noGrp="1"/>
          </p:cNvSpPr>
          <p:nvPr>
            <p:ph idx="4"/>
          </p:nvPr>
        </p:nvSpPr>
        <p:spPr>
          <a:xfrm>
            <a:off x="4629150" y="2505075"/>
            <a:ext cx="3887391"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95BD3DA-FD4D-3864-E976-9B40571655FE}"/>
              </a:ext>
            </a:extLst>
          </p:cNvPr>
          <p:cNvSpPr>
            <a:spLocks noGrp="1"/>
          </p:cNvSpPr>
          <p:nvPr>
            <p:ph type="dt" idx="10"/>
          </p:nvPr>
        </p:nvSpPr>
        <p:spPr/>
        <p:txBody>
          <a:bodyPr/>
          <a:lstStyle/>
          <a:p>
            <a:fld id="{B4AEEB7E-6EF2-42C4-B6B1-48CE3646D959}" type="datetimeFigureOut">
              <a:t>8/19/2026</a:t>
            </a:fld>
            <a:endParaRPr/>
          </a:p>
        </p:txBody>
      </p:sp>
      <p:sp>
        <p:nvSpPr>
          <p:cNvPr id="8" name="Footer Placeholder 7">
            <a:extLst>
              <a:ext uri="{FF2B5EF4-FFF2-40B4-BE49-F238E27FC236}">
                <a16:creationId xmlns:a16="http://schemas.microsoft.com/office/drawing/2014/main" id="{64ED2D04-6FCC-9A31-48F4-97876B01AA9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7FA38FF-EA1D-82CF-28EB-87ACF05B853E}"/>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4A94D-6FBD-BB3F-0D36-01C15AAC009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B31F839-28C4-C94B-F059-5406DF1ACD62}"/>
              </a:ext>
            </a:extLst>
          </p:cNvPr>
          <p:cNvSpPr>
            <a:spLocks noGrp="1"/>
          </p:cNvSpPr>
          <p:nvPr>
            <p:ph type="dt" idx="10"/>
          </p:nvPr>
        </p:nvSpPr>
        <p:spPr/>
        <p:txBody>
          <a:bodyPr/>
          <a:lstStyle/>
          <a:p>
            <a:fld id="{B4AEEB7E-6EF2-42C4-B6B1-48CE3646D959}" type="datetimeFigureOut">
              <a:t>8/19/2026</a:t>
            </a:fld>
            <a:endParaRPr/>
          </a:p>
        </p:txBody>
      </p:sp>
      <p:sp>
        <p:nvSpPr>
          <p:cNvPr id="4" name="Footer Placeholder 3">
            <a:extLst>
              <a:ext uri="{FF2B5EF4-FFF2-40B4-BE49-F238E27FC236}">
                <a16:creationId xmlns:a16="http://schemas.microsoft.com/office/drawing/2014/main" id="{CA48AF91-CEF8-96F5-62CF-260A6BBF931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3001FB8-8AAC-7E4A-F501-837DB87D3AB3}"/>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A19F4B-144E-D554-9AF1-4F912A66BDF3}"/>
              </a:ext>
            </a:extLst>
          </p:cNvPr>
          <p:cNvSpPr>
            <a:spLocks noGrp="1"/>
          </p:cNvSpPr>
          <p:nvPr>
            <p:ph type="dt" idx="10"/>
          </p:nvPr>
        </p:nvSpPr>
        <p:spPr/>
        <p:txBody>
          <a:bodyPr/>
          <a:lstStyle/>
          <a:p>
            <a:fld id="{B4AEEB7E-6EF2-42C4-B6B1-48CE3646D959}" type="datetimeFigureOut">
              <a:t>8/19/2026</a:t>
            </a:fld>
            <a:endParaRPr/>
          </a:p>
        </p:txBody>
      </p:sp>
      <p:sp>
        <p:nvSpPr>
          <p:cNvPr id="3" name="Footer Placeholder 2">
            <a:extLst>
              <a:ext uri="{FF2B5EF4-FFF2-40B4-BE49-F238E27FC236}">
                <a16:creationId xmlns:a16="http://schemas.microsoft.com/office/drawing/2014/main" id="{1B876E05-F829-D27E-BA90-89573DBB6B14}"/>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DDC47EF-F55D-9879-A425-1FB565F1C982}"/>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E2F0-7AE8-9D01-9F0D-0B612B3EC504}"/>
              </a:ext>
            </a:extLst>
          </p:cNvPr>
          <p:cNvSpPr>
            <a:spLocks noGrp="1"/>
          </p:cNvSpPr>
          <p:nvPr>
            <p:ph type="title"/>
          </p:nvPr>
        </p:nvSpPr>
        <p:spPr>
          <a:xfrm>
            <a:off x="629841" y="457200"/>
            <a:ext cx="2949178" cy="1600200"/>
          </a:xfrm>
        </p:spPr>
        <p:txBody>
          <a:bodyPr anchor="b"/>
          <a:lstStyle>
            <a:lvl1pPr>
              <a:buNone/>
              <a:defRPr sz="2400"/>
            </a:lvl1pPr>
          </a:lstStyle>
          <a:p>
            <a:r>
              <a:t>Click to edit Master title style</a:t>
            </a:r>
          </a:p>
        </p:txBody>
      </p:sp>
      <p:sp>
        <p:nvSpPr>
          <p:cNvPr id="3" name="Content Placeholder 2">
            <a:extLst>
              <a:ext uri="{FF2B5EF4-FFF2-40B4-BE49-F238E27FC236}">
                <a16:creationId xmlns:a16="http://schemas.microsoft.com/office/drawing/2014/main" id="{7DE4AEA7-4AC5-83E3-5E48-F4755F92E8EA}"/>
              </a:ext>
            </a:extLst>
          </p:cNvPr>
          <p:cNvSpPr>
            <a:spLocks noGrp="1"/>
          </p:cNvSpPr>
          <p:nvPr>
            <p:ph idx="1"/>
          </p:nvPr>
        </p:nvSpPr>
        <p:spPr>
          <a:xfrm>
            <a:off x="3887391" y="987426"/>
            <a:ext cx="4629150" cy="487362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7C0DD9C-FF11-BD34-0A9E-C5D8C03985DA}"/>
              </a:ext>
            </a:extLst>
          </p:cNvPr>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Click to edit Master text styles</a:t>
            </a:r>
          </a:p>
        </p:txBody>
      </p:sp>
      <p:sp>
        <p:nvSpPr>
          <p:cNvPr id="5" name="Date Placeholder 4">
            <a:extLst>
              <a:ext uri="{FF2B5EF4-FFF2-40B4-BE49-F238E27FC236}">
                <a16:creationId xmlns:a16="http://schemas.microsoft.com/office/drawing/2014/main" id="{A608F789-72B3-C398-F8C1-2C72EC13F45C}"/>
              </a:ext>
            </a:extLst>
          </p:cNvPr>
          <p:cNvSpPr>
            <a:spLocks noGrp="1"/>
          </p:cNvSpPr>
          <p:nvPr>
            <p:ph type="dt" idx="10"/>
          </p:nvPr>
        </p:nvSpPr>
        <p:spPr/>
        <p:txBody>
          <a:bodyPr/>
          <a:lstStyle/>
          <a:p>
            <a:fld id="{B4AEEB7E-6EF2-42C4-B6B1-48CE3646D959}" type="datetimeFigureOut">
              <a:t>8/19/2026</a:t>
            </a:fld>
            <a:endParaRPr/>
          </a:p>
        </p:txBody>
      </p:sp>
      <p:sp>
        <p:nvSpPr>
          <p:cNvPr id="6" name="Footer Placeholder 5">
            <a:extLst>
              <a:ext uri="{FF2B5EF4-FFF2-40B4-BE49-F238E27FC236}">
                <a16:creationId xmlns:a16="http://schemas.microsoft.com/office/drawing/2014/main" id="{CBF03D8A-053F-C6DE-28AC-C761EFA7422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D8B6378-CD70-779A-1101-661794747BB1}"/>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C942-DA73-0A65-4492-5E29CBAF472D}"/>
              </a:ext>
            </a:extLst>
          </p:cNvPr>
          <p:cNvSpPr>
            <a:spLocks noGrp="1"/>
          </p:cNvSpPr>
          <p:nvPr>
            <p:ph type="title"/>
          </p:nvPr>
        </p:nvSpPr>
        <p:spPr>
          <a:xfrm>
            <a:off x="629841" y="457200"/>
            <a:ext cx="2949178" cy="1600200"/>
          </a:xfrm>
        </p:spPr>
        <p:txBody>
          <a:bodyPr anchor="b"/>
          <a:lstStyle>
            <a:lvl1pPr>
              <a:buNone/>
              <a:defRPr sz="2400"/>
            </a:lvl1pPr>
          </a:lstStyle>
          <a:p>
            <a:r>
              <a:t>Click to edit Master title style</a:t>
            </a:r>
          </a:p>
        </p:txBody>
      </p:sp>
      <p:sp>
        <p:nvSpPr>
          <p:cNvPr id="3" name="Picture Placeholder 2">
            <a:extLst>
              <a:ext uri="{FF2B5EF4-FFF2-40B4-BE49-F238E27FC236}">
                <a16:creationId xmlns:a16="http://schemas.microsoft.com/office/drawing/2014/main" id="{839BA0BD-0FCE-777A-A782-39CC9A8382A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 Placeholder 3">
            <a:extLst>
              <a:ext uri="{FF2B5EF4-FFF2-40B4-BE49-F238E27FC236}">
                <a16:creationId xmlns:a16="http://schemas.microsoft.com/office/drawing/2014/main" id="{220B9B79-B689-A6E0-7E6E-C431EAC5438A}"/>
              </a:ext>
            </a:extLst>
          </p:cNvPr>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Click to edit Master text styles</a:t>
            </a:r>
          </a:p>
        </p:txBody>
      </p:sp>
      <p:sp>
        <p:nvSpPr>
          <p:cNvPr id="5" name="Date Placeholder 4">
            <a:extLst>
              <a:ext uri="{FF2B5EF4-FFF2-40B4-BE49-F238E27FC236}">
                <a16:creationId xmlns:a16="http://schemas.microsoft.com/office/drawing/2014/main" id="{71C537BB-6B82-2BA6-61E6-2D95EACB5A2A}"/>
              </a:ext>
            </a:extLst>
          </p:cNvPr>
          <p:cNvSpPr>
            <a:spLocks noGrp="1"/>
          </p:cNvSpPr>
          <p:nvPr>
            <p:ph type="dt" idx="10"/>
          </p:nvPr>
        </p:nvSpPr>
        <p:spPr/>
        <p:txBody>
          <a:bodyPr/>
          <a:lstStyle/>
          <a:p>
            <a:fld id="{B4AEEB7E-6EF2-42C4-B6B1-48CE3646D959}" type="datetimeFigureOut">
              <a:t>8/19/2026</a:t>
            </a:fld>
            <a:endParaRPr/>
          </a:p>
        </p:txBody>
      </p:sp>
      <p:sp>
        <p:nvSpPr>
          <p:cNvPr id="6" name="Footer Placeholder 5">
            <a:extLst>
              <a:ext uri="{FF2B5EF4-FFF2-40B4-BE49-F238E27FC236}">
                <a16:creationId xmlns:a16="http://schemas.microsoft.com/office/drawing/2014/main" id="{41004009-FCA2-83D3-2B76-0FCD2AF7930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0FE710D-0BA6-B7A4-4956-34620CCB0144}"/>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06A25-02BF-E749-3BB2-89D5E3B0563C}"/>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DCE6021-96DA-138D-2BAA-61CFB15C05E3}"/>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18D5785-8934-7B27-6A2C-5D9024B330B9}"/>
              </a:ext>
            </a:extLst>
          </p:cNvPr>
          <p:cNvSpPr>
            <a:spLocks noGrp="1"/>
          </p:cNvSpPr>
          <p:nvPr>
            <p:ph type="dt" idx="10"/>
          </p:nvPr>
        </p:nvSpPr>
        <p:spPr/>
        <p:txBody>
          <a:body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EB9159F8-3FA5-EF50-149F-D3DE553DC14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D3C2A46-6520-FFE8-D43C-E49277C39036}"/>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6505FD-A709-C6AF-2F22-857EB863F6A6}"/>
              </a:ext>
            </a:extLst>
          </p:cNvPr>
          <p:cNvSpPr>
            <a:spLocks noGrp="1"/>
          </p:cNvSpPr>
          <p:nvPr>
            <p:ph type="title"/>
          </p:nvPr>
        </p:nvSpPr>
        <p:spPr>
          <a:xfrm>
            <a:off x="6543675" y="365125"/>
            <a:ext cx="1971675"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3B3589C-F4FC-F942-A000-DDB253F10F0A}"/>
              </a:ext>
            </a:extLst>
          </p:cNvPr>
          <p:cNvSpPr>
            <a:spLocks noGrp="1"/>
          </p:cNvSpPr>
          <p:nvPr>
            <p:ph type="body" idx="1"/>
          </p:nvPr>
        </p:nvSpPr>
        <p:spPr>
          <a:xfrm>
            <a:off x="628650" y="365125"/>
            <a:ext cx="5800725"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2813C83-E46E-2237-D681-D1FA12BF2AB6}"/>
              </a:ext>
            </a:extLst>
          </p:cNvPr>
          <p:cNvSpPr>
            <a:spLocks noGrp="1"/>
          </p:cNvSpPr>
          <p:nvPr>
            <p:ph type="dt" idx="10"/>
          </p:nvPr>
        </p:nvSpPr>
        <p:spPr/>
        <p:txBody>
          <a:body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CF2AD3FA-52BA-642C-E06C-25CEF4CE8DD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7C2623F-7F0A-EB94-CAAC-22DEF8324A66}"/>
              </a:ext>
            </a:extLst>
          </p:cNvPr>
          <p:cNvSpPr>
            <a:spLocks noGrp="1"/>
          </p:cNvSpPr>
          <p:nvPr>
            <p:ph type="sldNum" idx="12"/>
          </p:nvPr>
        </p:nvSpPr>
        <p:spPr/>
        <p:txBody>
          <a:bodyPr/>
          <a:lstStyle/>
          <a:p>
            <a:fld id="{36A9D662-D713-5945-9CA3-C981A7AC543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3714F20C-0229-4310-9BCC-501ABF7F4967}"/>
              </a:ext>
            </a:extLst>
          </p:cNvPr>
          <p:cNvSpPr>
            <a:spLocks noGrp="1"/>
          </p:cNvSpPr>
          <p:nvPr>
            <p:ph type="title"/>
          </p:nvPr>
        </p:nvSpPr>
        <p:spPr>
          <a:xfrm>
            <a:off x="457200" y="274638"/>
            <a:ext cx="6756400" cy="920750"/>
          </a:xfrm>
          <a:prstGeom prst="rect">
            <a:avLst/>
          </a:prstGeom>
          <a:noFill/>
          <a:ln>
            <a:noFill/>
          </a:ln>
        </p:spPr>
        <p:txBody>
          <a:bodyPr vert="horz" wrap="square" lIns="90000" tIns="46800" rIns="90000" bIns="46800" anchor="ctr"/>
          <a:lstStyle/>
          <a:p>
            <a:pPr lvl="0">
              <a:buNone/>
            </a:pPr>
            <a:r>
              <a:t>Click to edit the title text format</a:t>
            </a:r>
          </a:p>
        </p:txBody>
      </p:sp>
      <p:sp>
        <p:nvSpPr>
          <p:cNvPr id="1027" name="Rectangle 2">
            <a:extLst>
              <a:ext uri="{FF2B5EF4-FFF2-40B4-BE49-F238E27FC236}">
                <a16:creationId xmlns:a16="http://schemas.microsoft.com/office/drawing/2014/main" id="{88BB0789-D653-4215-B842-D9A3EEAB08BB}"/>
              </a:ext>
            </a:extLst>
          </p:cNvPr>
          <p:cNvSpPr>
            <a:spLocks noGrp="1"/>
          </p:cNvSpPr>
          <p:nvPr>
            <p:ph type="body" idx="1"/>
          </p:nvPr>
        </p:nvSpPr>
        <p:spPr>
          <a:xfrm>
            <a:off x="785813" y="1341438"/>
            <a:ext cx="6642100" cy="3943350"/>
          </a:xfrm>
          <a:prstGeom prst="rect">
            <a:avLst/>
          </a:prstGeom>
          <a:noFill/>
          <a:ln>
            <a:noFill/>
          </a:ln>
        </p:spPr>
        <p:txBody>
          <a:bodyPr vert="horz" wrap="square" lIns="90000" tIns="46800" rIns="90000" bIns="46800" anchor="t"/>
          <a:lstStyle/>
          <a:p>
            <a:pPr lvl="0">
              <a:buNone/>
            </a:pPr>
            <a:r>
              <a:t>Click to edit the outline text format</a:t>
            </a:r>
          </a:p>
          <a:p>
            <a:pPr lvl="1">
              <a:buNone/>
            </a:pPr>
            <a:r>
              <a:t>Second Outline Level</a:t>
            </a:r>
          </a:p>
          <a:p>
            <a:pPr lvl="2">
              <a:buNone/>
            </a:pPr>
            <a:r>
              <a:t>Third Outline Level</a:t>
            </a:r>
          </a:p>
          <a:p>
            <a:pPr lvl="3">
              <a:buNone/>
            </a:pPr>
            <a:r>
              <a:t>Fourth Outline Level</a:t>
            </a:r>
          </a:p>
          <a:p>
            <a:pPr lvl="4">
              <a:buNone/>
            </a:pPr>
            <a:r>
              <a:t>Fifth Outline Level</a:t>
            </a:r>
          </a:p>
          <a:p>
            <a:pPr lvl="4">
              <a:buNone/>
            </a:pPr>
            <a:r>
              <a:t>Sixth Outline Level</a:t>
            </a:r>
          </a:p>
          <a:p>
            <a:pPr lvl="4">
              <a:buNone/>
            </a:pPr>
            <a:r>
              <a:t>Seventh Outline Level</a:t>
            </a:r>
          </a:p>
          <a:p>
            <a:pPr lvl="4">
              <a:buNone/>
            </a:pPr>
            <a:r>
              <a:t>Eighth Outline Level</a:t>
            </a:r>
          </a:p>
          <a:p>
            <a:pPr lvl="4">
              <a:buNone/>
            </a:pPr>
            <a:r>
              <a:t>Ninth Outline Level</a:t>
            </a:r>
          </a:p>
        </p:txBody>
      </p:sp>
      <p:sp>
        <p:nvSpPr>
          <p:cNvPr id="2" name="Rectangle 3">
            <a:extLst>
              <a:ext uri="{FF2B5EF4-FFF2-40B4-BE49-F238E27FC236}">
                <a16:creationId xmlns:a16="http://schemas.microsoft.com/office/drawing/2014/main" id="{A8DC60C6-7401-4345-847F-03239C8FC89E}"/>
              </a:ext>
            </a:extLst>
          </p:cNvPr>
          <p:cNvSpPr>
            <a:spLocks noGrp="1"/>
          </p:cNvSpPr>
          <p:nvPr>
            <p:ph type="sldNum"/>
          </p:nvPr>
        </p:nvSpPr>
        <p:spPr>
          <a:xfrm>
            <a:off x="6877050" y="6245225"/>
            <a:ext cx="1808163" cy="474663"/>
          </a:xfrm>
          <a:prstGeom prst="rect">
            <a:avLst/>
          </a:prstGeom>
          <a:noFill/>
          <a:ln w="9525">
            <a:noFill/>
          </a:ln>
        </p:spPr>
        <p:txBody>
          <a:bodyPr vert="horz" wrap="square" lIns="90000" tIns="46800" rIns="90000" bIns="46800" anchor="t"/>
          <a:lstStyle>
            <a:lvl1pPr algn="r">
              <a:buNone/>
              <a:defRPr sz="1200">
                <a:solidFill>
                  <a:srgbClr val="000000"/>
                </a:solidFill>
                <a:latin typeface="Verdana"/>
                <a:ea typeface="Verdana"/>
                <a:cs typeface="Verdana"/>
              </a:defRPr>
            </a:lvl1pPr>
          </a:lstStyle>
          <a:p>
            <a:fld id="{36A9D662-D713-5945-9CA3-C981A7AC5439}" type="slidenum">
              <a:t>‹#›</a:t>
            </a:fld>
            <a:endParaRPr/>
          </a:p>
        </p:txBody>
      </p:sp>
      <p:sp>
        <p:nvSpPr>
          <p:cNvPr id="1028" name="Text Box 4">
            <a:extLst>
              <a:ext uri="{FF2B5EF4-FFF2-40B4-BE49-F238E27FC236}">
                <a16:creationId xmlns:a16="http://schemas.microsoft.com/office/drawing/2014/main" id="{EF5F7024-674E-4458-ADDF-F9CC2E9CF4B3}"/>
              </a:ext>
            </a:extLst>
          </p:cNvPr>
          <p:cNvSpPr>
            <a:spLocks noGrp="1"/>
          </p:cNvSpPr>
          <p:nvPr/>
        </p:nvSpPr>
        <p:spPr>
          <a:xfrm>
            <a:off x="5292725" y="6172200"/>
            <a:ext cx="2459038" cy="685800"/>
          </a:xfrm>
          <a:prstGeom prst="rect">
            <a:avLst/>
          </a:prstGeom>
          <a:noFill/>
          <a:ln w="9525">
            <a:noFill/>
          </a:ln>
        </p:spPr>
        <p:txBody>
          <a:bodyPr wrap="none" anchor="ctr"/>
          <a:lstStyle/>
          <a:p>
            <a:pPr>
              <a:buFont typeface="Times New Roman"/>
              <a:buNone/>
            </a:pPr>
            <a:endParaRPr>
              <a:latin typeface="Arial"/>
              <a:ea typeface="Arial"/>
              <a:cs typeface="Arial"/>
            </a:endParaRPr>
          </a:p>
        </p:txBody>
      </p:sp>
      <p:pic>
        <p:nvPicPr>
          <p:cNvPr id="1035" name="Picture 5"/>
          <p:cNvPicPr>
            <a:picLocks noChangeAspect="1"/>
          </p:cNvPicPr>
          <p:nvPr/>
        </p:nvPicPr>
        <p:blipFill>
          <a:blip r:embed="rId13"/>
          <a:srcRect/>
          <a:stretch>
            <a:fillRect/>
          </a:stretch>
        </p:blipFill>
        <p:spPr>
          <a:xfrm>
            <a:off x="642938" y="5357813"/>
            <a:ext cx="2768600" cy="1270000"/>
          </a:xfrm>
          <a:prstGeom prst="rect">
            <a:avLst/>
          </a:prstGeom>
          <a:ln>
            <a:noFill/>
          </a:ln>
        </p:spPr>
      </p:pic>
      <p:sp>
        <p:nvSpPr>
          <p:cNvPr id="3" name="Rectangle 6">
            <a:extLst>
              <a:ext uri="{FF2B5EF4-FFF2-40B4-BE49-F238E27FC236}">
                <a16:creationId xmlns:a16="http://schemas.microsoft.com/office/drawing/2014/main" id="{202B3B50-D9FC-4418-AB45-48A79CF71203}"/>
              </a:ext>
            </a:extLst>
          </p:cNvPr>
          <p:cNvSpPr>
            <a:spLocks noGrp="1"/>
          </p:cNvSpPr>
          <p:nvPr/>
        </p:nvSpPr>
        <p:spPr>
          <a:xfrm>
            <a:off x="0" y="0"/>
            <a:ext cx="533400" cy="6858000"/>
          </a:xfrm>
          <a:prstGeom prst="rect">
            <a:avLst/>
          </a:prstGeom>
          <a:solidFill>
            <a:srgbClr val="A12830"/>
          </a:solidFill>
          <a:ln w="9525">
            <a:noFill/>
          </a:ln>
        </p:spPr>
        <p:txBody>
          <a:bodyPr wrap="none" anchor="ctr"/>
          <a:lstStyle/>
          <a:p>
            <a:pPr>
              <a:buFont typeface="Times New Roman"/>
              <a:buNone/>
            </a:pPr>
            <a:endParaRPr>
              <a:latin typeface="Arial"/>
              <a:ea typeface="Arial"/>
              <a:cs typeface="Arial"/>
            </a:endParaRPr>
          </a:p>
        </p:txBody>
      </p:sp>
      <p:pic>
        <p:nvPicPr>
          <p:cNvPr id="1037" name="Picture 7"/>
          <p:cNvPicPr>
            <a:picLocks noChangeAspect="1"/>
          </p:cNvPicPr>
          <p:nvPr/>
        </p:nvPicPr>
        <p:blipFill>
          <a:blip r:embed="rId14"/>
          <a:srcRect/>
          <a:stretch>
            <a:fillRect/>
          </a:stretch>
        </p:blipFill>
        <p:spPr>
          <a:xfrm>
            <a:off x="6883400" y="0"/>
            <a:ext cx="2260600" cy="685800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49263">
        <a:spcBef>
          <a:spcPct val="0"/>
        </a:spcBef>
        <a:spcAft>
          <a:spcPct val="0"/>
        </a:spcAft>
        <a:buClr>
          <a:srgbClr val="000000"/>
        </a:buClr>
        <a:buSzPct val="100000"/>
        <a:buFont typeface="Times New Roman"/>
        <a:buNone/>
        <a:defRPr sz="2400" b="1">
          <a:solidFill>
            <a:srgbClr val="000000"/>
          </a:solidFill>
          <a:latin typeface="+mj-lt"/>
          <a:ea typeface="+mj-lt"/>
          <a:cs typeface="+mj-lt"/>
        </a:defRPr>
      </a:lvl1pPr>
      <a:lvl2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2pPr>
      <a:lvl3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3pPr>
      <a:lvl4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4pPr>
      <a:lvl5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5pPr>
      <a:lvl6pPr marL="25146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6pPr>
      <a:lvl7pPr marL="29718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7pPr>
      <a:lvl8pPr marL="34290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8pPr>
      <a:lvl9pPr marL="38862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9pPr>
    </p:titleStyle>
    <p:bodyStyle>
      <a:lvl1pPr marL="342900" indent="-342900" algn="l" defTabSz="449263">
        <a:spcBef>
          <a:spcPts val="500"/>
        </a:spcBef>
        <a:spcAft>
          <a:spcPct val="0"/>
        </a:spcAft>
        <a:buClr>
          <a:srgbClr val="000000"/>
        </a:buClr>
        <a:buSzPct val="100000"/>
        <a:buFont typeface="Times New Roman"/>
        <a:buNone/>
        <a:defRPr sz="2000">
          <a:solidFill>
            <a:srgbClr val="C00000"/>
          </a:solidFill>
          <a:latin typeface="+mn-lt"/>
          <a:ea typeface="+mn-lt"/>
          <a:cs typeface="+mn-lt"/>
        </a:defRPr>
      </a:lvl1pPr>
      <a:lvl2pPr marL="742950" indent="-285750" algn="l" defTabSz="449263">
        <a:spcBef>
          <a:spcPts val="700"/>
        </a:spcBef>
        <a:spcAft>
          <a:spcPct val="0"/>
        </a:spcAft>
        <a:buClr>
          <a:srgbClr val="000000"/>
        </a:buClr>
        <a:buSzPct val="100000"/>
        <a:buFont typeface="Times New Roman"/>
        <a:buNone/>
        <a:defRPr sz="2800">
          <a:solidFill>
            <a:srgbClr val="C00000"/>
          </a:solidFill>
          <a:latin typeface="+mn-lt"/>
          <a:ea typeface="+mn-lt"/>
          <a:cs typeface="+mn-lt"/>
        </a:defRPr>
      </a:lvl2pPr>
      <a:lvl3pPr marL="1143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3pPr>
      <a:lvl4pPr marL="1600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4pPr>
      <a:lvl5pPr marL="20574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5pPr>
      <a:lvl6pPr marL="25146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6pPr>
      <a:lvl7pPr marL="29718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7pPr>
      <a:lvl8pPr marL="3429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8pPr>
      <a:lvl9pPr marL="3886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Text Box 1">
            <a:extLst>
              <a:ext uri="{FF2B5EF4-FFF2-40B4-BE49-F238E27FC236}">
                <a16:creationId xmlns:a16="http://schemas.microsoft.com/office/drawing/2014/main" id="{C50FA417-DA13-46EC-ADAD-F69773A44C2E}"/>
              </a:ext>
            </a:extLst>
          </p:cNvPr>
          <p:cNvSpPr>
            <a:spLocks noGrp="1"/>
          </p:cNvSpPr>
          <p:nvPr/>
        </p:nvSpPr>
        <p:spPr>
          <a:xfrm>
            <a:off x="5292725" y="6172200"/>
            <a:ext cx="2459038" cy="685800"/>
          </a:xfrm>
          <a:prstGeom prst="rect">
            <a:avLst/>
          </a:prstGeom>
          <a:noFill/>
          <a:ln w="9525">
            <a:noFill/>
          </a:ln>
        </p:spPr>
        <p:txBody>
          <a:bodyPr wrap="none" anchor="ctr"/>
          <a:lstStyle/>
          <a:p>
            <a:pPr>
              <a:buFont typeface="Times New Roman"/>
              <a:buNone/>
            </a:pPr>
            <a:endParaRPr>
              <a:latin typeface="Arial"/>
              <a:ea typeface="Arial"/>
              <a:cs typeface="Arial"/>
            </a:endParaRPr>
          </a:p>
        </p:txBody>
      </p:sp>
      <p:pic>
        <p:nvPicPr>
          <p:cNvPr id="2059" name="Picture 2"/>
          <p:cNvPicPr>
            <a:picLocks noChangeAspect="1"/>
          </p:cNvPicPr>
          <p:nvPr/>
        </p:nvPicPr>
        <p:blipFill>
          <a:blip r:embed="rId13"/>
          <a:srcRect/>
          <a:stretch>
            <a:fillRect/>
          </a:stretch>
        </p:blipFill>
        <p:spPr>
          <a:xfrm>
            <a:off x="642938" y="5357813"/>
            <a:ext cx="2768600" cy="1270000"/>
          </a:xfrm>
          <a:prstGeom prst="rect">
            <a:avLst/>
          </a:prstGeom>
          <a:ln>
            <a:noFill/>
          </a:ln>
        </p:spPr>
      </p:pic>
      <p:sp>
        <p:nvSpPr>
          <p:cNvPr id="2" name="Rectangle 3">
            <a:extLst>
              <a:ext uri="{FF2B5EF4-FFF2-40B4-BE49-F238E27FC236}">
                <a16:creationId xmlns:a16="http://schemas.microsoft.com/office/drawing/2014/main" id="{2E3356FF-E521-4026-8639-79F03712442C}"/>
              </a:ext>
            </a:extLst>
          </p:cNvPr>
          <p:cNvSpPr>
            <a:spLocks noGrp="1"/>
          </p:cNvSpPr>
          <p:nvPr/>
        </p:nvSpPr>
        <p:spPr>
          <a:xfrm>
            <a:off x="0" y="0"/>
            <a:ext cx="533400" cy="6858000"/>
          </a:xfrm>
          <a:prstGeom prst="rect">
            <a:avLst/>
          </a:prstGeom>
          <a:solidFill>
            <a:srgbClr val="A12830"/>
          </a:solidFill>
          <a:ln w="9525">
            <a:noFill/>
          </a:ln>
        </p:spPr>
        <p:txBody>
          <a:bodyPr wrap="none" anchor="ctr"/>
          <a:lstStyle/>
          <a:p>
            <a:pPr>
              <a:buFont typeface="Times New Roman"/>
              <a:buNone/>
            </a:pPr>
            <a:endParaRPr>
              <a:latin typeface="Arial"/>
              <a:ea typeface="Arial"/>
              <a:cs typeface="Arial"/>
            </a:endParaRPr>
          </a:p>
        </p:txBody>
      </p:sp>
      <p:pic>
        <p:nvPicPr>
          <p:cNvPr id="2061" name="Picture 4"/>
          <p:cNvPicPr>
            <a:picLocks noChangeAspect="1"/>
          </p:cNvPicPr>
          <p:nvPr/>
        </p:nvPicPr>
        <p:blipFill>
          <a:blip r:embed="rId14"/>
          <a:srcRect/>
          <a:stretch>
            <a:fillRect/>
          </a:stretch>
        </p:blipFill>
        <p:spPr>
          <a:xfrm>
            <a:off x="6883400" y="0"/>
            <a:ext cx="2260600" cy="6858000"/>
          </a:xfrm>
          <a:prstGeom prst="rect">
            <a:avLst/>
          </a:prstGeom>
          <a:ln>
            <a:noFill/>
          </a:ln>
        </p:spPr>
      </p:pic>
      <p:sp>
        <p:nvSpPr>
          <p:cNvPr id="2054" name="Rectangle 5">
            <a:extLst>
              <a:ext uri="{FF2B5EF4-FFF2-40B4-BE49-F238E27FC236}">
                <a16:creationId xmlns:a16="http://schemas.microsoft.com/office/drawing/2014/main" id="{1CAD9EBB-53C1-48FD-983A-2B4C5C3A1BB7}"/>
              </a:ext>
            </a:extLst>
          </p:cNvPr>
          <p:cNvSpPr>
            <a:spLocks noGrp="1"/>
          </p:cNvSpPr>
          <p:nvPr>
            <p:ph type="title"/>
          </p:nvPr>
        </p:nvSpPr>
        <p:spPr>
          <a:xfrm>
            <a:off x="457200" y="274638"/>
            <a:ext cx="6756400" cy="920750"/>
          </a:xfrm>
          <a:prstGeom prst="rect">
            <a:avLst/>
          </a:prstGeom>
          <a:noFill/>
          <a:ln>
            <a:noFill/>
          </a:ln>
        </p:spPr>
        <p:txBody>
          <a:bodyPr vert="horz" wrap="square" lIns="90000" tIns="46800" rIns="90000" bIns="46800" anchor="ctr"/>
          <a:lstStyle/>
          <a:p>
            <a:pPr lvl="0">
              <a:buNone/>
            </a:pPr>
            <a:r>
              <a:t>Click to edit the title text format</a:t>
            </a:r>
          </a:p>
        </p:txBody>
      </p:sp>
      <p:sp>
        <p:nvSpPr>
          <p:cNvPr id="2055" name="Rectangle 6">
            <a:extLst>
              <a:ext uri="{FF2B5EF4-FFF2-40B4-BE49-F238E27FC236}">
                <a16:creationId xmlns:a16="http://schemas.microsoft.com/office/drawing/2014/main" id="{1C3994FC-F599-4E29-ADF6-7FA65FECC792}"/>
              </a:ext>
            </a:extLst>
          </p:cNvPr>
          <p:cNvSpPr>
            <a:spLocks noGrp="1"/>
          </p:cNvSpPr>
          <p:nvPr>
            <p:ph type="body" idx="1"/>
          </p:nvPr>
        </p:nvSpPr>
        <p:spPr>
          <a:xfrm>
            <a:off x="785813" y="1341438"/>
            <a:ext cx="6642100" cy="3943350"/>
          </a:xfrm>
          <a:prstGeom prst="rect">
            <a:avLst/>
          </a:prstGeom>
          <a:noFill/>
          <a:ln>
            <a:noFill/>
          </a:ln>
        </p:spPr>
        <p:txBody>
          <a:bodyPr vert="horz" wrap="square" lIns="90000" tIns="46800" rIns="90000" bIns="46800" anchor="t"/>
          <a:lstStyle/>
          <a:p>
            <a:pPr lvl="0">
              <a:buNone/>
            </a:pPr>
            <a:r>
              <a:t>Click to edit the outline text format</a:t>
            </a:r>
          </a:p>
          <a:p>
            <a:pPr lvl="1">
              <a:buNone/>
            </a:pPr>
            <a:r>
              <a:t>Second Outline Level</a:t>
            </a:r>
          </a:p>
          <a:p>
            <a:pPr lvl="2">
              <a:buNone/>
            </a:pPr>
            <a:r>
              <a:t>Third Outline Level</a:t>
            </a:r>
          </a:p>
          <a:p>
            <a:pPr lvl="3">
              <a:buNone/>
            </a:pPr>
            <a:r>
              <a:t>Fourth Outline Level</a:t>
            </a:r>
          </a:p>
          <a:p>
            <a:pPr lvl="4">
              <a:buNone/>
            </a:pPr>
            <a:r>
              <a:t>Fifth Outline Level</a:t>
            </a:r>
          </a:p>
          <a:p>
            <a:pPr lvl="4">
              <a:buNone/>
            </a:pPr>
            <a:r>
              <a:t>Sixth Outline Level</a:t>
            </a:r>
          </a:p>
          <a:p>
            <a:pPr lvl="4">
              <a:buNone/>
            </a:pPr>
            <a:r>
              <a:t>Seventh Outline Level</a:t>
            </a:r>
          </a:p>
          <a:p>
            <a:pPr lvl="4">
              <a:buNone/>
            </a:pPr>
            <a:r>
              <a:t>Eighth Outline Level</a:t>
            </a:r>
          </a:p>
          <a:p>
            <a:pPr lvl="4">
              <a:buNone/>
            </a:pPr>
            <a:r>
              <a:t>Ninth Outline Level</a:t>
            </a:r>
          </a:p>
        </p:txBody>
      </p:sp>
      <p:sp>
        <p:nvSpPr>
          <p:cNvPr id="3" name="Rectangle 7">
            <a:extLst>
              <a:ext uri="{FF2B5EF4-FFF2-40B4-BE49-F238E27FC236}">
                <a16:creationId xmlns:a16="http://schemas.microsoft.com/office/drawing/2014/main" id="{7215E552-BAD4-4580-95A0-2347654F08FD}"/>
              </a:ext>
            </a:extLst>
          </p:cNvPr>
          <p:cNvSpPr>
            <a:spLocks noGrp="1"/>
          </p:cNvSpPr>
          <p:nvPr>
            <p:ph type="sldNum"/>
          </p:nvPr>
        </p:nvSpPr>
        <p:spPr>
          <a:xfrm>
            <a:off x="5857875" y="5786438"/>
            <a:ext cx="1808163" cy="474662"/>
          </a:xfrm>
          <a:prstGeom prst="rect">
            <a:avLst/>
          </a:prstGeom>
          <a:noFill/>
          <a:ln w="9525">
            <a:noFill/>
          </a:ln>
        </p:spPr>
        <p:txBody>
          <a:bodyPr vert="horz" wrap="square" lIns="90000" tIns="46800" rIns="90000" bIns="46800" anchor="t"/>
          <a:lstStyle>
            <a:lvl1pPr algn="r">
              <a:buFont typeface="Times New Roman"/>
              <a:buNone/>
              <a:tabLst>
                <a:tab pos="723900" algn="l"/>
                <a:tab pos="1447800" algn="l"/>
              </a:tabLst>
              <a:defRPr sz="2000">
                <a:solidFill>
                  <a:srgbClr val="000000"/>
                </a:solidFill>
                <a:latin typeface="+mn-lt"/>
                <a:ea typeface="+mn-lt"/>
                <a:cs typeface="+mn-lt"/>
              </a:defRPr>
            </a:lvl1pPr>
          </a:lstStyle>
          <a:p>
            <a:pPr>
              <a:buNone/>
            </a:pPr>
            <a:r>
              <a:t>MMangtSc </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49263">
        <a:spcBef>
          <a:spcPct val="0"/>
        </a:spcBef>
        <a:spcAft>
          <a:spcPct val="0"/>
        </a:spcAft>
        <a:buClr>
          <a:srgbClr val="000000"/>
        </a:buClr>
        <a:buSzPct val="100000"/>
        <a:buFont typeface="Times New Roman"/>
        <a:buNone/>
        <a:defRPr sz="2400" b="1">
          <a:solidFill>
            <a:srgbClr val="000000"/>
          </a:solidFill>
          <a:latin typeface="+mj-lt"/>
          <a:ea typeface="+mj-lt"/>
          <a:cs typeface="+mj-lt"/>
        </a:defRPr>
      </a:lvl1pPr>
      <a:lvl2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2pPr>
      <a:lvl3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3pPr>
      <a:lvl4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4pPr>
      <a:lvl5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5pPr>
      <a:lvl6pPr marL="25146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6pPr>
      <a:lvl7pPr marL="29718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7pPr>
      <a:lvl8pPr marL="34290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8pPr>
      <a:lvl9pPr marL="38862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9pPr>
    </p:titleStyle>
    <p:bodyStyle>
      <a:lvl1pPr marL="342900" indent="-342900" algn="l" defTabSz="449263">
        <a:spcBef>
          <a:spcPts val="500"/>
        </a:spcBef>
        <a:spcAft>
          <a:spcPct val="0"/>
        </a:spcAft>
        <a:buClr>
          <a:srgbClr val="000000"/>
        </a:buClr>
        <a:buSzPct val="100000"/>
        <a:buFont typeface="Times New Roman"/>
        <a:buNone/>
        <a:defRPr sz="2000">
          <a:solidFill>
            <a:srgbClr val="C00000"/>
          </a:solidFill>
          <a:latin typeface="+mn-lt"/>
          <a:ea typeface="+mn-lt"/>
          <a:cs typeface="+mn-lt"/>
        </a:defRPr>
      </a:lvl1pPr>
      <a:lvl2pPr marL="742950" indent="-285750" algn="l" defTabSz="449263">
        <a:spcBef>
          <a:spcPts val="700"/>
        </a:spcBef>
        <a:spcAft>
          <a:spcPct val="0"/>
        </a:spcAft>
        <a:buClr>
          <a:srgbClr val="000000"/>
        </a:buClr>
        <a:buSzPct val="100000"/>
        <a:buFont typeface="Times New Roman"/>
        <a:buNone/>
        <a:defRPr sz="2800">
          <a:solidFill>
            <a:srgbClr val="C00000"/>
          </a:solidFill>
          <a:latin typeface="+mn-lt"/>
          <a:ea typeface="+mn-lt"/>
          <a:cs typeface="+mn-lt"/>
        </a:defRPr>
      </a:lvl2pPr>
      <a:lvl3pPr marL="1143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3pPr>
      <a:lvl4pPr marL="1600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4pPr>
      <a:lvl5pPr marL="20574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5pPr>
      <a:lvl6pPr marL="25146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6pPr>
      <a:lvl7pPr marL="29718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7pPr>
      <a:lvl8pPr marL="3429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8pPr>
      <a:lvl9pPr marL="3886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B27E8982-7E48-468C-AFD6-F467ED3A111D}"/>
              </a:ext>
            </a:extLst>
          </p:cNvPr>
          <p:cNvSpPr>
            <a:spLocks noGrp="1"/>
          </p:cNvSpPr>
          <p:nvPr/>
        </p:nvSpPr>
        <p:spPr>
          <a:xfrm>
            <a:off x="5292725" y="6172200"/>
            <a:ext cx="2459038" cy="685800"/>
          </a:xfrm>
          <a:prstGeom prst="rect">
            <a:avLst/>
          </a:prstGeom>
          <a:noFill/>
          <a:ln w="9525">
            <a:noFill/>
          </a:ln>
        </p:spPr>
        <p:txBody>
          <a:bodyPr wrap="none" anchor="ctr"/>
          <a:lstStyle/>
          <a:p>
            <a:pPr>
              <a:buFont typeface="Times New Roman"/>
              <a:buNone/>
            </a:pPr>
            <a:endParaRPr>
              <a:latin typeface="Arial"/>
              <a:ea typeface="Arial"/>
              <a:cs typeface="Arial"/>
            </a:endParaRPr>
          </a:p>
        </p:txBody>
      </p:sp>
      <p:pic>
        <p:nvPicPr>
          <p:cNvPr id="3083" name="Picture 2"/>
          <p:cNvPicPr>
            <a:picLocks noChangeAspect="1"/>
          </p:cNvPicPr>
          <p:nvPr/>
        </p:nvPicPr>
        <p:blipFill>
          <a:blip r:embed="rId13"/>
          <a:srcRect/>
          <a:stretch>
            <a:fillRect/>
          </a:stretch>
        </p:blipFill>
        <p:spPr>
          <a:xfrm>
            <a:off x="642938" y="5357813"/>
            <a:ext cx="2768600" cy="1270000"/>
          </a:xfrm>
          <a:prstGeom prst="rect">
            <a:avLst/>
          </a:prstGeom>
          <a:ln>
            <a:noFill/>
          </a:ln>
        </p:spPr>
      </p:pic>
      <p:sp>
        <p:nvSpPr>
          <p:cNvPr id="2" name="Rectangle 3">
            <a:extLst>
              <a:ext uri="{FF2B5EF4-FFF2-40B4-BE49-F238E27FC236}">
                <a16:creationId xmlns:a16="http://schemas.microsoft.com/office/drawing/2014/main" id="{841AEB64-B544-46A5-B076-E04F222D302D}"/>
              </a:ext>
            </a:extLst>
          </p:cNvPr>
          <p:cNvSpPr>
            <a:spLocks noGrp="1"/>
          </p:cNvSpPr>
          <p:nvPr/>
        </p:nvSpPr>
        <p:spPr>
          <a:xfrm>
            <a:off x="0" y="0"/>
            <a:ext cx="533400" cy="6858000"/>
          </a:xfrm>
          <a:prstGeom prst="rect">
            <a:avLst/>
          </a:prstGeom>
          <a:solidFill>
            <a:srgbClr val="A12830"/>
          </a:solidFill>
          <a:ln w="9525">
            <a:noFill/>
          </a:ln>
        </p:spPr>
        <p:txBody>
          <a:bodyPr wrap="none" anchor="ctr"/>
          <a:lstStyle/>
          <a:p>
            <a:pPr>
              <a:buFont typeface="Times New Roman"/>
              <a:buNone/>
            </a:pPr>
            <a:endParaRPr>
              <a:latin typeface="Arial"/>
              <a:ea typeface="Arial"/>
              <a:cs typeface="Arial"/>
            </a:endParaRPr>
          </a:p>
        </p:txBody>
      </p:sp>
      <p:pic>
        <p:nvPicPr>
          <p:cNvPr id="3085" name="Picture 4"/>
          <p:cNvPicPr>
            <a:picLocks noChangeAspect="1"/>
          </p:cNvPicPr>
          <p:nvPr/>
        </p:nvPicPr>
        <p:blipFill>
          <a:blip r:embed="rId14"/>
          <a:srcRect/>
          <a:stretch>
            <a:fillRect/>
          </a:stretch>
        </p:blipFill>
        <p:spPr>
          <a:xfrm>
            <a:off x="6883400" y="0"/>
            <a:ext cx="2260600" cy="6858000"/>
          </a:xfrm>
          <a:prstGeom prst="rect">
            <a:avLst/>
          </a:prstGeom>
          <a:ln>
            <a:noFill/>
          </a:ln>
        </p:spPr>
      </p:pic>
      <p:sp>
        <p:nvSpPr>
          <p:cNvPr id="3078" name="Rectangle 5">
            <a:extLst>
              <a:ext uri="{FF2B5EF4-FFF2-40B4-BE49-F238E27FC236}">
                <a16:creationId xmlns:a16="http://schemas.microsoft.com/office/drawing/2014/main" id="{06F304D7-DF54-474A-BD3E-5F0D871D3DA0}"/>
              </a:ext>
            </a:extLst>
          </p:cNvPr>
          <p:cNvSpPr>
            <a:spLocks noGrp="1"/>
          </p:cNvSpPr>
          <p:nvPr>
            <p:ph type="title"/>
          </p:nvPr>
        </p:nvSpPr>
        <p:spPr>
          <a:xfrm>
            <a:off x="457200" y="274638"/>
            <a:ext cx="6756400" cy="920750"/>
          </a:xfrm>
          <a:prstGeom prst="rect">
            <a:avLst/>
          </a:prstGeom>
          <a:noFill/>
          <a:ln>
            <a:noFill/>
          </a:ln>
        </p:spPr>
        <p:txBody>
          <a:bodyPr vert="horz" wrap="square" lIns="90000" tIns="46800" rIns="90000" bIns="46800" anchor="ctr"/>
          <a:lstStyle/>
          <a:p>
            <a:pPr lvl="0">
              <a:buNone/>
            </a:pPr>
            <a:r>
              <a:t>Click to edit the title text format</a:t>
            </a:r>
          </a:p>
        </p:txBody>
      </p:sp>
      <p:sp>
        <p:nvSpPr>
          <p:cNvPr id="3079" name="Rectangle 6">
            <a:extLst>
              <a:ext uri="{FF2B5EF4-FFF2-40B4-BE49-F238E27FC236}">
                <a16:creationId xmlns:a16="http://schemas.microsoft.com/office/drawing/2014/main" id="{7E4BBB52-A9B0-40DD-A23C-1B7584B71666}"/>
              </a:ext>
            </a:extLst>
          </p:cNvPr>
          <p:cNvSpPr>
            <a:spLocks noGrp="1"/>
          </p:cNvSpPr>
          <p:nvPr>
            <p:ph type="body" idx="1"/>
          </p:nvPr>
        </p:nvSpPr>
        <p:spPr>
          <a:xfrm>
            <a:off x="785813" y="1341438"/>
            <a:ext cx="6642100" cy="3943350"/>
          </a:xfrm>
          <a:prstGeom prst="rect">
            <a:avLst/>
          </a:prstGeom>
          <a:noFill/>
          <a:ln>
            <a:noFill/>
          </a:ln>
        </p:spPr>
        <p:txBody>
          <a:bodyPr vert="horz" wrap="square" lIns="90000" tIns="46800" rIns="90000" bIns="46800" anchor="t"/>
          <a:lstStyle/>
          <a:p>
            <a:pPr lvl="0">
              <a:buNone/>
            </a:pPr>
            <a:r>
              <a:t>Click to edit the outline text format</a:t>
            </a:r>
          </a:p>
          <a:p>
            <a:pPr lvl="1">
              <a:buNone/>
            </a:pPr>
            <a:r>
              <a:t>Second Outline Level</a:t>
            </a:r>
          </a:p>
          <a:p>
            <a:pPr lvl="2">
              <a:buNone/>
            </a:pPr>
            <a:r>
              <a:t>Third Outline Level</a:t>
            </a:r>
          </a:p>
          <a:p>
            <a:pPr lvl="3">
              <a:buNone/>
            </a:pPr>
            <a:r>
              <a:t>Fourth Outline Level</a:t>
            </a:r>
          </a:p>
          <a:p>
            <a:pPr lvl="4">
              <a:buNone/>
            </a:pPr>
            <a:r>
              <a:t>Fifth Outline Level</a:t>
            </a:r>
          </a:p>
          <a:p>
            <a:pPr lvl="4">
              <a:buNone/>
            </a:pPr>
            <a:r>
              <a:t>Sixth Outline Level</a:t>
            </a:r>
          </a:p>
          <a:p>
            <a:pPr lvl="4">
              <a:buNone/>
            </a:pPr>
            <a:r>
              <a:t>Seventh Outline Level</a:t>
            </a:r>
          </a:p>
          <a:p>
            <a:pPr lvl="4">
              <a:buNone/>
            </a:pPr>
            <a:r>
              <a:t>Eighth Outline Level</a:t>
            </a:r>
          </a:p>
          <a:p>
            <a:pPr lvl="4">
              <a:buNone/>
            </a:pPr>
            <a:r>
              <a:t>Ninth Outline Level</a:t>
            </a:r>
          </a:p>
        </p:txBody>
      </p:sp>
      <p:sp>
        <p:nvSpPr>
          <p:cNvPr id="3" name="Rectangle 7">
            <a:extLst>
              <a:ext uri="{FF2B5EF4-FFF2-40B4-BE49-F238E27FC236}">
                <a16:creationId xmlns:a16="http://schemas.microsoft.com/office/drawing/2014/main" id="{7D15CDD2-54DC-43D7-8CFC-D3042B53F11A}"/>
              </a:ext>
            </a:extLst>
          </p:cNvPr>
          <p:cNvSpPr>
            <a:spLocks noGrp="1"/>
          </p:cNvSpPr>
          <p:nvPr>
            <p:ph type="sldNum"/>
          </p:nvPr>
        </p:nvSpPr>
        <p:spPr>
          <a:xfrm>
            <a:off x="7966075" y="6400800"/>
            <a:ext cx="719138" cy="303213"/>
          </a:xfrm>
          <a:prstGeom prst="rect">
            <a:avLst/>
          </a:prstGeom>
          <a:noFill/>
          <a:ln w="9525">
            <a:noFill/>
          </a:ln>
        </p:spPr>
        <p:txBody>
          <a:bodyPr vert="horz" wrap="square" lIns="90000" tIns="46800" rIns="90000" bIns="46800" anchor="t"/>
          <a:lstStyle>
            <a:lvl1pPr algn="r">
              <a:buNone/>
              <a:defRPr sz="1200">
                <a:solidFill>
                  <a:srgbClr val="000000"/>
                </a:solidFill>
                <a:latin typeface="Verdana"/>
                <a:ea typeface="Verdana"/>
                <a:cs typeface="Verdana"/>
              </a:defRPr>
            </a:lvl1pPr>
          </a:lstStyle>
          <a:p>
            <a:fld id="{C9854C72-4AF6-42B3-8249-62BF58F6F54A}" type="slidenum">
              <a:t>‹#›</a:t>
            </a:fld>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449263">
        <a:spcBef>
          <a:spcPct val="0"/>
        </a:spcBef>
        <a:spcAft>
          <a:spcPct val="0"/>
        </a:spcAft>
        <a:buClr>
          <a:srgbClr val="000000"/>
        </a:buClr>
        <a:buSzPct val="100000"/>
        <a:buFont typeface="Times New Roman"/>
        <a:buNone/>
        <a:defRPr sz="2400" b="1">
          <a:solidFill>
            <a:srgbClr val="000000"/>
          </a:solidFill>
          <a:latin typeface="+mj-lt"/>
          <a:ea typeface="+mj-lt"/>
          <a:cs typeface="+mj-lt"/>
        </a:defRPr>
      </a:lvl1pPr>
      <a:lvl2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2pPr>
      <a:lvl3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3pPr>
      <a:lvl4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4pPr>
      <a:lvl5pPr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5pPr>
      <a:lvl6pPr marL="25146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6pPr>
      <a:lvl7pPr marL="29718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7pPr>
      <a:lvl8pPr marL="34290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8pPr>
      <a:lvl9pPr marL="3886200" indent="-228600" algn="ctr" defTabSz="449263">
        <a:spcBef>
          <a:spcPct val="0"/>
        </a:spcBef>
        <a:spcAft>
          <a:spcPct val="0"/>
        </a:spcAft>
        <a:buClr>
          <a:srgbClr val="000000"/>
        </a:buClr>
        <a:buSzPct val="100000"/>
        <a:buFont typeface="Times New Roman"/>
        <a:buNone/>
        <a:defRPr sz="2400" b="1">
          <a:solidFill>
            <a:srgbClr val="000000"/>
          </a:solidFill>
          <a:latin typeface="Arial"/>
          <a:ea typeface="Arial"/>
          <a:cs typeface="Arial"/>
        </a:defRPr>
      </a:lvl9pPr>
    </p:titleStyle>
    <p:bodyStyle>
      <a:lvl1pPr marL="342900" indent="-342900" algn="l" defTabSz="449263">
        <a:spcBef>
          <a:spcPts val="500"/>
        </a:spcBef>
        <a:spcAft>
          <a:spcPct val="0"/>
        </a:spcAft>
        <a:buClr>
          <a:srgbClr val="000000"/>
        </a:buClr>
        <a:buSzPct val="100000"/>
        <a:buFont typeface="Times New Roman"/>
        <a:buNone/>
        <a:defRPr sz="2000">
          <a:solidFill>
            <a:srgbClr val="C00000"/>
          </a:solidFill>
          <a:latin typeface="+mn-lt"/>
          <a:ea typeface="+mn-lt"/>
          <a:cs typeface="+mn-lt"/>
        </a:defRPr>
      </a:lvl1pPr>
      <a:lvl2pPr marL="742950" indent="-285750" algn="l" defTabSz="449263">
        <a:spcBef>
          <a:spcPts val="700"/>
        </a:spcBef>
        <a:spcAft>
          <a:spcPct val="0"/>
        </a:spcAft>
        <a:buClr>
          <a:srgbClr val="000000"/>
        </a:buClr>
        <a:buSzPct val="100000"/>
        <a:buFont typeface="Times New Roman"/>
        <a:buNone/>
        <a:defRPr sz="2800">
          <a:solidFill>
            <a:srgbClr val="C00000"/>
          </a:solidFill>
          <a:latin typeface="+mn-lt"/>
          <a:ea typeface="+mn-lt"/>
          <a:cs typeface="+mn-lt"/>
        </a:defRPr>
      </a:lvl2pPr>
      <a:lvl3pPr marL="1143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3pPr>
      <a:lvl4pPr marL="1600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4pPr>
      <a:lvl5pPr marL="20574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5pPr>
      <a:lvl6pPr marL="25146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6pPr>
      <a:lvl7pPr marL="29718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7pPr>
      <a:lvl8pPr marL="34290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8pPr>
      <a:lvl9pPr marL="3886200" indent="-228600" algn="l" defTabSz="449263">
        <a:spcBef>
          <a:spcPts val="400"/>
        </a:spcBef>
        <a:spcAft>
          <a:spcPct val="0"/>
        </a:spcAft>
        <a:buClr>
          <a:srgbClr val="000000"/>
        </a:buClr>
        <a:buSzPct val="100000"/>
        <a:buFont typeface="Times New Roman"/>
        <a:buNone/>
        <a:defRPr sz="1600">
          <a:solidFill>
            <a:srgbClr val="C00000"/>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635C5-CF89-76D0-D35E-B5C7CB3C3E1B}"/>
              </a:ext>
            </a:extLst>
          </p:cNvPr>
          <p:cNvSpPr>
            <a:spLocks noGrp="1"/>
          </p:cNvSpPr>
          <p:nvPr>
            <p:ph type="title"/>
          </p:nvPr>
        </p:nvSpPr>
        <p:spPr>
          <a:xfrm>
            <a:off x="628650" y="365126"/>
            <a:ext cx="78867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B9CBDF1-BA1D-B029-0D7E-AC3B1538C356}"/>
              </a:ext>
            </a:extLst>
          </p:cNvPr>
          <p:cNvSpPr>
            <a:spLocks noGrp="1"/>
          </p:cNvSpPr>
          <p:nvPr>
            <p:ph type="body" idx="1"/>
          </p:nvPr>
        </p:nvSpPr>
        <p:spPr>
          <a:xfrm>
            <a:off x="628650" y="1825625"/>
            <a:ext cx="78867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1C13E91-423C-16FC-DDF1-6A508AAB2C32}"/>
              </a:ext>
            </a:extLst>
          </p:cNvPr>
          <p:cNvSpPr>
            <a:spLocks noGrp="1"/>
          </p:cNvSpPr>
          <p:nvPr>
            <p:ph type="dt" idx="2"/>
          </p:nvPr>
        </p:nvSpPr>
        <p:spPr>
          <a:xfrm>
            <a:off x="628650" y="6356351"/>
            <a:ext cx="2057400" cy="365125"/>
          </a:xfrm>
          <a:prstGeom prst="rect">
            <a:avLst/>
          </a:prstGeom>
        </p:spPr>
        <p:txBody>
          <a:bodyPr vert="horz" lIns="91440" tIns="45720" rIns="91440" bIns="45720" anchor="ctr"/>
          <a:lstStyle>
            <a:lvl1pPr algn="l">
              <a:buNone/>
              <a:defRPr sz="900">
                <a:solidFill>
                  <a:schemeClr val="tx1">
                    <a:tint val="75000"/>
                  </a:schemeClr>
                </a:solidFill>
              </a:defRPr>
            </a:lvl1pPr>
          </a:lstStyle>
          <a:p>
            <a:fld id="{B4AEEB7E-6EF2-42C4-B6B1-48CE3646D959}" type="datetimeFigureOut">
              <a:t>8/19/2026</a:t>
            </a:fld>
            <a:endParaRPr/>
          </a:p>
        </p:txBody>
      </p:sp>
      <p:sp>
        <p:nvSpPr>
          <p:cNvPr id="5" name="Footer Placeholder 4">
            <a:extLst>
              <a:ext uri="{FF2B5EF4-FFF2-40B4-BE49-F238E27FC236}">
                <a16:creationId xmlns:a16="http://schemas.microsoft.com/office/drawing/2014/main" id="{09DE0B72-B714-97AB-2840-89F2ABEB99D4}"/>
              </a:ext>
            </a:extLst>
          </p:cNvPr>
          <p:cNvSpPr>
            <a:spLocks noGrp="1"/>
          </p:cNvSpPr>
          <p:nvPr>
            <p:ph type="ftr" idx="3"/>
          </p:nvPr>
        </p:nvSpPr>
        <p:spPr>
          <a:xfrm>
            <a:off x="3028950" y="6356351"/>
            <a:ext cx="3086100" cy="365125"/>
          </a:xfrm>
          <a:prstGeom prst="rect">
            <a:avLst/>
          </a:prstGeom>
        </p:spPr>
        <p:txBody>
          <a:bodyPr vert="horz" lIns="91440" tIns="45720" rIns="91440" bIns="45720" anchor="ctr"/>
          <a:lstStyle>
            <a:lvl1pPr algn="ctr">
              <a:buNone/>
              <a:defRPr sz="9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0D0238E-4F0B-4944-BEDB-741261A3FC4A}"/>
              </a:ext>
            </a:extLst>
          </p:cNvPr>
          <p:cNvSpPr>
            <a:spLocks noGrp="1"/>
          </p:cNvSpPr>
          <p:nvPr>
            <p:ph type="sldNum" idx="4"/>
          </p:nvPr>
        </p:nvSpPr>
        <p:spPr>
          <a:xfrm>
            <a:off x="6457950" y="6356351"/>
            <a:ext cx="2057400" cy="365125"/>
          </a:xfrm>
          <a:prstGeom prst="rect">
            <a:avLst/>
          </a:prstGeom>
        </p:spPr>
        <p:txBody>
          <a:bodyPr vert="horz" lIns="91440" tIns="45720" rIns="91440" bIns="45720" anchor="ctr"/>
          <a:lstStyle>
            <a:lvl1pPr algn="r">
              <a:buNone/>
              <a:defRPr sz="900">
                <a:solidFill>
                  <a:schemeClr val="tx1">
                    <a:tint val="75000"/>
                  </a:schemeClr>
                </a:solidFill>
              </a:defRPr>
            </a:lvl1pPr>
          </a:lstStyle>
          <a:p>
            <a:fld id="{36A9D662-D713-5945-9CA3-C981A7AC5439}" type="slidenum">
              <a:t>‹#›</a:t>
            </a:fld>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685800">
        <a:lnSpc>
          <a:spcPct val="90000"/>
        </a:lnSpc>
        <a:spcBef>
          <a:spcPct val="0"/>
        </a:spcBef>
        <a:buNone/>
        <a:defRPr sz="33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5.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qEja2TpwFGE" TargetMode="External"/><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Lst>
          </p:cNvPr>
          <p:cNvSpPr>
            <a:spLocks noGrp="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Picture 5"/>
          <p:cNvPicPr>
            <a:picLocks noChangeAspect="1"/>
          </p:cNvPicPr>
          <p:nvPr/>
        </p:nvPicPr>
        <p:blipFill rotWithShape="1">
          <a:blip r:embed="rId3"/>
          <a:srcRect t="35989" r="9092" b="1"/>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Lst>
          </p:cNvPr>
          <p:cNvSpPr>
            <a:spLocks noGrp="1"/>
          </p:cNvSpPr>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956057FE-E2F4-413D-B6C7-179FE77B56C1}"/>
              </a:ext>
            </a:extLst>
          </p:cNvPr>
          <p:cNvSpPr>
            <a:spLocks noGrp="1"/>
          </p:cNvSpPr>
          <p:nvPr>
            <p:ph type="ctrTitle"/>
          </p:nvPr>
        </p:nvSpPr>
        <p:spPr>
          <a:xfrm>
            <a:off x="358485" y="1122363"/>
            <a:ext cx="3017520" cy="3204134"/>
          </a:xfrm>
        </p:spPr>
        <p:txBody>
          <a:bodyPr anchor="b">
            <a:normAutofit/>
          </a:bodyPr>
          <a:lstStyle/>
          <a:p>
            <a:pPr algn="l">
              <a:buNone/>
            </a:pPr>
            <a:r>
              <a:rPr lang="en-IE" sz="2600" dirty="0"/>
              <a:t>Future of Work and Organizations</a:t>
            </a:r>
            <a:br>
              <a:rPr dirty="0"/>
            </a:br>
            <a:br>
              <a:rPr dirty="0"/>
            </a:br>
            <a:r>
              <a:rPr sz="2600" i="1" dirty="0"/>
              <a:t>Topic 3: Decision Making in Individuals</a:t>
            </a:r>
            <a:endParaRPr sz="2600" dirty="0"/>
          </a:p>
        </p:txBody>
      </p:sp>
      <p:sp>
        <p:nvSpPr>
          <p:cNvPr id="3" name="Subtitle 2">
            <a:extLst>
              <a:ext uri="{FF2B5EF4-FFF2-40B4-BE49-F238E27FC236}">
                <a16:creationId xmlns:a16="http://schemas.microsoft.com/office/drawing/2014/main" id="{CE71EE01-5D2C-47DD-8479-C83EFE7A9BBF}"/>
              </a:ext>
            </a:extLst>
          </p:cNvPr>
          <p:cNvSpPr>
            <a:spLocks noGrp="1"/>
          </p:cNvSpPr>
          <p:nvPr>
            <p:ph type="subTitle" idx="1"/>
          </p:nvPr>
        </p:nvSpPr>
        <p:spPr>
          <a:xfrm>
            <a:off x="358485" y="4872922"/>
            <a:ext cx="3017519" cy="1208141"/>
          </a:xfrm>
        </p:spPr>
        <p:txBody>
          <a:bodyPr>
            <a:normAutofit/>
          </a:bodyPr>
          <a:lstStyle/>
          <a:p>
            <a:pPr algn="l">
              <a:buNone/>
            </a:pPr>
            <a:r>
              <a:rPr sz="1700"/>
              <a:t>Dr. Mary Parkinson </a:t>
            </a:r>
          </a:p>
        </p:txBody>
      </p:sp>
      <p:sp>
        <p:nvSpPr>
          <p:cNvPr id="15" name="Rectangle 14">
            <a:extLst>
              <a:ext uri="{FF2B5EF4-FFF2-40B4-BE49-F238E27FC236}">
                <a16:creationId xmlns:a16="http://schemas.microsoft.com/office/drawing/2014/main" id="{AF2F604E-43BE-4DC3-B983-E071523364F8}"/>
              </a:ext>
            </a:extLst>
          </p:cNvPr>
          <p:cNvSpPr>
            <a:spLocks noGrp="1"/>
          </p:cNvSpPr>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prstClr val="white"/>
              </a:solidFill>
              <a:latin typeface="Calibri"/>
              <a:ea typeface="Calibri"/>
              <a:cs typeface="Calibri"/>
            </a:endParaRPr>
          </a:p>
        </p:txBody>
      </p:sp>
      <p:sp>
        <p:nvSpPr>
          <p:cNvPr id="8" name="Rectangle 16">
            <a:extLst>
              <a:ext uri="{FF2B5EF4-FFF2-40B4-BE49-F238E27FC236}">
                <a16:creationId xmlns:a16="http://schemas.microsoft.com/office/drawing/2014/main" id="{08C9B587-E65E-4B52-B37C-ABEBB6E87928}"/>
              </a:ext>
            </a:extLst>
          </p:cNvPr>
          <p:cNvSpPr>
            <a:spLocks noGrp="1"/>
          </p:cNvSpPr>
          <p:nvPr/>
        </p:nvSpPr>
        <p:spPr>
          <a:xfrm>
            <a:off x="360771" y="4546920"/>
            <a:ext cx="2983230" cy="18288"/>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Calibri"/>
              <a:ea typeface="Calibri"/>
              <a:cs typeface="Calibri"/>
            </a:endParaRPr>
          </a:p>
        </p:txBody>
      </p:sp>
      <p:sp>
        <p:nvSpPr>
          <p:cNvPr id="4" name="Slide Number Placeholder 3">
            <a:extLst>
              <a:ext uri="{FF2B5EF4-FFF2-40B4-BE49-F238E27FC236}">
                <a16:creationId xmlns:a16="http://schemas.microsoft.com/office/drawing/2014/main" id="{52FC9C76-6AC8-44A9-AB35-71F00824A4F9}"/>
              </a:ext>
            </a:extLst>
          </p:cNvPr>
          <p:cNvSpPr>
            <a:spLocks noGrp="1"/>
          </p:cNvSpPr>
          <p:nvPr>
            <p:ph type="sldNum" idx="12"/>
          </p:nvPr>
        </p:nvSpPr>
        <p:spPr>
          <a:xfrm>
            <a:off x="6728114" y="6356350"/>
            <a:ext cx="2057400" cy="365125"/>
          </a:xfrm>
        </p:spPr>
        <p:txBody>
          <a:bodyPr>
            <a:normAutofit/>
          </a:bodyPr>
          <a:lstStyle/>
          <a:p>
            <a:pPr>
              <a:spcAft>
                <a:spcPts val="600"/>
              </a:spcAft>
              <a:buNone/>
            </a:pPr>
            <a:fld id="{36A9D662-D713-5945-9CA3-C981A7AC5439}" type="slidenum">
              <a:rPr sz="1000">
                <a:solidFill>
                  <a:schemeClr val="tx1"/>
                </a:solidFill>
              </a:rPr>
              <a:t>1</a:t>
            </a:fld>
            <a:endParaRPr sz="1000">
              <a:solidFill>
                <a:schemeClr val="tx1"/>
              </a:solidFill>
            </a:endParaRPr>
          </a:p>
        </p:txBody>
      </p:sp>
    </p:spTree>
    <p:extLst>
      <p:ext uri="{BB962C8B-B14F-4D97-AF65-F5344CB8AC3E}">
        <p14:creationId xmlns:p14="http://schemas.microsoft.com/office/powerpoint/2010/main" val="2220816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78DB-E416-4A4D-AC4D-97A6D8318728}"/>
              </a:ext>
            </a:extLst>
          </p:cNvPr>
          <p:cNvSpPr>
            <a:spLocks noGrp="1"/>
          </p:cNvSpPr>
          <p:nvPr>
            <p:ph type="title"/>
          </p:nvPr>
        </p:nvSpPr>
        <p:spPr/>
        <p:txBody>
          <a:bodyPr/>
          <a:lstStyle/>
          <a:p>
            <a:r>
              <a:rPr b="1"/>
              <a:t>Problem 1</a:t>
            </a:r>
          </a:p>
        </p:txBody>
      </p:sp>
      <p:sp>
        <p:nvSpPr>
          <p:cNvPr id="3" name="Text Placeholder 2">
            <a:extLst>
              <a:ext uri="{FF2B5EF4-FFF2-40B4-BE49-F238E27FC236}">
                <a16:creationId xmlns:a16="http://schemas.microsoft.com/office/drawing/2014/main" id="{BBD37AB9-21F0-4964-B897-5076F78843C5}"/>
              </a:ext>
            </a:extLst>
          </p:cNvPr>
          <p:cNvSpPr>
            <a:spLocks noGrp="1"/>
          </p:cNvSpPr>
          <p:nvPr>
            <p:ph idx="1"/>
          </p:nvPr>
        </p:nvSpPr>
        <p:spPr/>
        <p:txBody>
          <a:bodyPr/>
          <a:lstStyle/>
          <a:p>
            <a:pPr marL="85725" indent="0">
              <a:buNone/>
            </a:pPr>
            <a:r>
              <a:rPr b="0" i="0"/>
              <a:t>A bat and a ball cost 1.10 in total. The bat costs 1.00 more than the ball. How much does the ball cost?</a:t>
            </a:r>
          </a:p>
          <a:p>
            <a:pPr marL="85725" indent="0">
              <a:buNone/>
            </a:pPr>
            <a:endParaRPr sz="1500"/>
          </a:p>
          <a:p>
            <a:pPr marL="85725" indent="0">
              <a:buNone/>
            </a:pPr>
            <a:endParaRPr sz="1500"/>
          </a:p>
          <a:p>
            <a:pPr marL="85725" indent="0">
              <a:buNone/>
            </a:pPr>
            <a:r>
              <a:rPr sz="1500"/>
              <a:t>(Bourgeois-Gironde and Van Der Henst, 2009; Frederick, 2005)</a:t>
            </a:r>
          </a:p>
          <a:p>
            <a:pPr marL="85725" indent="0">
              <a:buNone/>
            </a:pPr>
            <a:endParaRPr b="0" i="0">
              <a:solidFill>
                <a:srgbClr val="000000"/>
              </a:solidFill>
              <a:latin typeface="+mj-lt"/>
              <a:ea typeface="+mj-lt"/>
              <a:cs typeface="+mj-lt"/>
            </a:endParaRPr>
          </a:p>
          <a:p>
            <a:pPr marL="85725" indent="0">
              <a:buNone/>
            </a:pPr>
            <a:endParaRPr>
              <a:solidFill>
                <a:srgbClr val="000000"/>
              </a:solidFill>
              <a:latin typeface="+mj-lt"/>
              <a:ea typeface="+mj-lt"/>
              <a:cs typeface="+mj-lt"/>
            </a:endParaRPr>
          </a:p>
          <a:p>
            <a:pPr marL="85725" indent="0">
              <a:buNone/>
            </a:pPr>
            <a:endParaRPr>
              <a:latin typeface="+mj-lt"/>
              <a:ea typeface="+mj-lt"/>
              <a:cs typeface="+mj-lt"/>
            </a:endParaRPr>
          </a:p>
        </p:txBody>
      </p:sp>
    </p:spTree>
    <p:extLst>
      <p:ext uri="{BB962C8B-B14F-4D97-AF65-F5344CB8AC3E}">
        <p14:creationId xmlns:p14="http://schemas.microsoft.com/office/powerpoint/2010/main" val="3209654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p:cNvPicPr>
            <a:picLocks noChangeAspect="1"/>
          </p:cNvPicPr>
          <p:nvPr/>
        </p:nvPicPr>
        <p:blipFill>
          <a:blip r:embed="rId3"/>
          <a:stretch>
            <a:fillRect/>
          </a:stretch>
        </p:blipFill>
        <p:spPr>
          <a:xfrm>
            <a:off x="5110059" y="857250"/>
            <a:ext cx="3966702" cy="6000750"/>
          </a:xfrm>
          <a:prstGeom prst="rect">
            <a:avLst/>
          </a:prstGeom>
        </p:spPr>
      </p:pic>
      <p:sp>
        <p:nvSpPr>
          <p:cNvPr id="2" name="Title 1">
            <a:extLst>
              <a:ext uri="{FF2B5EF4-FFF2-40B4-BE49-F238E27FC236}">
                <a16:creationId xmlns:a16="http://schemas.microsoft.com/office/drawing/2014/main" id="{D873EFE5-0450-4E3F-90A1-8ABB7D62DF31}"/>
              </a:ext>
            </a:extLst>
          </p:cNvPr>
          <p:cNvSpPr>
            <a:spLocks noGrp="1"/>
          </p:cNvSpPr>
          <p:nvPr>
            <p:ph type="title"/>
          </p:nvPr>
        </p:nvSpPr>
        <p:spPr>
          <a:xfrm>
            <a:off x="535781" y="523142"/>
            <a:ext cx="8062913" cy="3114126"/>
          </a:xfrm>
        </p:spPr>
        <p:txBody>
          <a:bodyPr/>
          <a:lstStyle/>
          <a:p>
            <a:r>
              <a:t>“A machine for jumping to conclusions” </a:t>
            </a:r>
            <a:br/>
            <a:r>
              <a:rPr sz="1500"/>
              <a:t>(Kahneman, 2011)</a:t>
            </a:r>
          </a:p>
        </p:txBody>
      </p:sp>
    </p:spTree>
    <p:extLst>
      <p:ext uri="{BB962C8B-B14F-4D97-AF65-F5344CB8AC3E}">
        <p14:creationId xmlns:p14="http://schemas.microsoft.com/office/powerpoint/2010/main" val="2636258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35C-F4C9-44C5-A382-62B3516ADE6D}"/>
              </a:ext>
            </a:extLst>
          </p:cNvPr>
          <p:cNvSpPr>
            <a:spLocks noGrp="1"/>
          </p:cNvSpPr>
          <p:nvPr>
            <p:ph type="title"/>
          </p:nvPr>
        </p:nvSpPr>
        <p:spPr/>
        <p:txBody>
          <a:bodyPr/>
          <a:lstStyle/>
          <a:p>
            <a:r>
              <a:t>Rational decision-making model</a:t>
            </a:r>
          </a:p>
        </p:txBody>
      </p:sp>
      <p:sp>
        <p:nvSpPr>
          <p:cNvPr id="3" name="Content Placeholder 2">
            <a:extLst>
              <a:ext uri="{FF2B5EF4-FFF2-40B4-BE49-F238E27FC236}">
                <a16:creationId xmlns:a16="http://schemas.microsoft.com/office/drawing/2014/main" id="{5C71DFCC-681C-4758-B611-BC60FE2D5824}"/>
              </a:ext>
            </a:extLst>
          </p:cNvPr>
          <p:cNvSpPr>
            <a:spLocks noGrp="1"/>
          </p:cNvSpPr>
          <p:nvPr>
            <p:ph idx="1"/>
          </p:nvPr>
        </p:nvSpPr>
        <p:spPr/>
        <p:txBody>
          <a:bodyPr/>
          <a:lstStyle/>
          <a:p>
            <a:pPr>
              <a:spcAft>
                <a:spcPts val="12"/>
              </a:spcAft>
              <a:buNone/>
            </a:pPr>
            <a:r>
              <a:t>A model of how individuals should behave to maximize an outcome.</a:t>
            </a:r>
          </a:p>
          <a:p>
            <a:pPr>
              <a:spcAft>
                <a:spcPts val="4"/>
              </a:spcAft>
              <a:buNone/>
            </a:pPr>
            <a:r>
              <a:rPr b="1"/>
              <a:t>Key assumptions</a:t>
            </a:r>
          </a:p>
          <a:p>
            <a:pPr marL="22" indent="-12">
              <a:buChar char="•"/>
            </a:pPr>
            <a:r>
              <a:t>Complete information is available.</a:t>
            </a:r>
          </a:p>
          <a:p>
            <a:pPr marL="22" indent="-12">
              <a:buChar char="•"/>
            </a:pPr>
            <a:r>
              <a:t>All relevant options can be identified without bias.</a:t>
            </a:r>
          </a:p>
          <a:p>
            <a:pPr marL="22" indent="-12">
              <a:spcAft>
                <a:spcPts val="12"/>
              </a:spcAft>
              <a:buChar char="•"/>
            </a:pPr>
            <a:r>
              <a:t>The option with the highest utility is chosen.</a:t>
            </a:r>
          </a:p>
          <a:p>
            <a:pPr>
              <a:buNone/>
            </a:pPr>
            <a:r>
              <a:rPr b="1"/>
              <a:t>Example: </a:t>
            </a:r>
            <a:r>
              <a:t>A procurement team compares every eligible AI platform against agreed cost, accuracy, security and service criteria, then selects the highest-scoring option.</a:t>
            </a:r>
          </a:p>
        </p:txBody>
      </p:sp>
      <p:sp>
        <p:nvSpPr>
          <p:cNvPr id="4" name="Slide Number Placeholder 3">
            <a:extLst>
              <a:ext uri="{FF2B5EF4-FFF2-40B4-BE49-F238E27FC236}">
                <a16:creationId xmlns:a16="http://schemas.microsoft.com/office/drawing/2014/main" id="{311E78A5-7F5F-4213-B2CA-602A20B1D70E}"/>
              </a:ext>
            </a:extLst>
          </p:cNvPr>
          <p:cNvSpPr>
            <a:spLocks noGrp="1"/>
          </p:cNvSpPr>
          <p:nvPr>
            <p:ph type="sldNum" idx="12"/>
          </p:nvPr>
        </p:nvSpPr>
        <p:spPr/>
        <p:txBody>
          <a:bodyPr/>
          <a:lstStyle/>
          <a:p>
            <a:fld id="{36A9D662-D713-5945-9CA3-C981A7AC5439}" type="slidenum">
              <a:rPr/>
              <a:t>4</a:t>
            </a:fld>
            <a:endParaRPr/>
          </a:p>
        </p:txBody>
      </p:sp>
    </p:spTree>
    <p:extLst>
      <p:ext uri="{BB962C8B-B14F-4D97-AF65-F5344CB8AC3E}">
        <p14:creationId xmlns:p14="http://schemas.microsoft.com/office/powerpoint/2010/main" val="159184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35C-F4C9-44C5-A382-62B3516ADE6D}"/>
              </a:ext>
            </a:extLst>
          </p:cNvPr>
          <p:cNvSpPr>
            <a:spLocks noGrp="1"/>
          </p:cNvSpPr>
          <p:nvPr>
            <p:ph type="title"/>
          </p:nvPr>
        </p:nvSpPr>
        <p:spPr/>
        <p:txBody>
          <a:bodyPr/>
          <a:lstStyle/>
          <a:p>
            <a:r>
              <a:t>Bounded rationality</a:t>
            </a:r>
          </a:p>
        </p:txBody>
      </p:sp>
      <p:sp>
        <p:nvSpPr>
          <p:cNvPr id="3" name="Content Placeholder 2">
            <a:extLst>
              <a:ext uri="{FF2B5EF4-FFF2-40B4-BE49-F238E27FC236}">
                <a16:creationId xmlns:a16="http://schemas.microsoft.com/office/drawing/2014/main" id="{5C71DFCC-681C-4758-B611-BC60FE2D5824}"/>
              </a:ext>
            </a:extLst>
          </p:cNvPr>
          <p:cNvSpPr>
            <a:spLocks noGrp="1"/>
          </p:cNvSpPr>
          <p:nvPr>
            <p:ph idx="1"/>
          </p:nvPr>
        </p:nvSpPr>
        <p:spPr/>
        <p:txBody>
          <a:bodyPr/>
          <a:lstStyle/>
          <a:p>
            <a:pPr>
              <a:spcAft>
                <a:spcPts val="12"/>
              </a:spcAft>
              <a:buNone/>
            </a:pPr>
            <a:r>
              <a:t>A simplified process that captures essential features without representing full complexity.</a:t>
            </a:r>
          </a:p>
          <a:p>
            <a:pPr>
              <a:spcAft>
                <a:spcPts val="4"/>
              </a:spcAft>
              <a:buNone/>
            </a:pPr>
            <a:r>
              <a:rPr b="1"/>
              <a:t>Key assumptions</a:t>
            </a:r>
          </a:p>
          <a:p>
            <a:pPr marL="22" indent="-12">
              <a:buChar char="•"/>
            </a:pPr>
            <a:r>
              <a:t>Information-processing capacity is limited—even when information is available.</a:t>
            </a:r>
          </a:p>
          <a:p>
            <a:pPr marL="22" indent="-12">
              <a:buChar char="•"/>
            </a:pPr>
            <a:r>
              <a:t>Complex problems cannot be solved with full rationality.</a:t>
            </a:r>
          </a:p>
          <a:p>
            <a:pPr marL="22" indent="-12">
              <a:spcAft>
                <a:spcPts val="12"/>
              </a:spcAft>
              <a:buChar char="•"/>
            </a:pPr>
            <a:r>
              <a:t>Decision makers simplify, search sequentially and often satisfice.</a:t>
            </a:r>
          </a:p>
          <a:p>
            <a:pPr>
              <a:buNone/>
            </a:pPr>
            <a:r>
              <a:rPr b="1"/>
              <a:t>Example: </a:t>
            </a:r>
            <a:r>
              <a:t>Under time pressure, a manager reviews applicants in order and appoints the first person who meets an acceptable skills threshold.</a:t>
            </a:r>
          </a:p>
        </p:txBody>
      </p:sp>
      <p:sp>
        <p:nvSpPr>
          <p:cNvPr id="4" name="Slide Number Placeholder 3">
            <a:extLst>
              <a:ext uri="{FF2B5EF4-FFF2-40B4-BE49-F238E27FC236}">
                <a16:creationId xmlns:a16="http://schemas.microsoft.com/office/drawing/2014/main" id="{311E78A5-7F5F-4213-B2CA-602A20B1D70E}"/>
              </a:ext>
            </a:extLst>
          </p:cNvPr>
          <p:cNvSpPr>
            <a:spLocks noGrp="1"/>
          </p:cNvSpPr>
          <p:nvPr>
            <p:ph type="sldNum" idx="12"/>
          </p:nvPr>
        </p:nvSpPr>
        <p:spPr/>
        <p:txBody>
          <a:bodyPr/>
          <a:lstStyle/>
          <a:p>
            <a:fld id="{36A9D662-D713-5945-9CA3-C981A7AC5439}" type="slidenum">
              <a:rPr/>
              <a:t>5</a:t>
            </a:fld>
            <a:endParaRPr/>
          </a:p>
        </p:txBody>
      </p:sp>
    </p:spTree>
    <p:extLst>
      <p:ext uri="{BB962C8B-B14F-4D97-AF65-F5344CB8AC3E}">
        <p14:creationId xmlns:p14="http://schemas.microsoft.com/office/powerpoint/2010/main" val="1591841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35C-F4C9-44C5-A382-62B3516ADE6D}"/>
              </a:ext>
            </a:extLst>
          </p:cNvPr>
          <p:cNvSpPr>
            <a:spLocks noGrp="1"/>
          </p:cNvSpPr>
          <p:nvPr>
            <p:ph type="title"/>
          </p:nvPr>
        </p:nvSpPr>
        <p:spPr/>
        <p:txBody>
          <a:bodyPr/>
          <a:lstStyle/>
          <a:p>
            <a:r>
              <a:t>Intuitive decision making</a:t>
            </a:r>
          </a:p>
        </p:txBody>
      </p:sp>
      <p:sp>
        <p:nvSpPr>
          <p:cNvPr id="3" name="Content Placeholder 2">
            <a:extLst>
              <a:ext uri="{FF2B5EF4-FFF2-40B4-BE49-F238E27FC236}">
                <a16:creationId xmlns:a16="http://schemas.microsoft.com/office/drawing/2014/main" id="{5C71DFCC-681C-4758-B611-BC60FE2D5824}"/>
              </a:ext>
            </a:extLst>
          </p:cNvPr>
          <p:cNvSpPr>
            <a:spLocks noGrp="1"/>
          </p:cNvSpPr>
          <p:nvPr>
            <p:ph idx="1"/>
          </p:nvPr>
        </p:nvSpPr>
        <p:spPr/>
        <p:txBody>
          <a:bodyPr/>
          <a:lstStyle/>
          <a:p>
            <a:pPr>
              <a:spcAft>
                <a:spcPts val="12"/>
              </a:spcAft>
              <a:buNone/>
            </a:pPr>
            <a:r>
              <a:rPr dirty="0"/>
              <a:t>An unconscious process created from distilled experience.</a:t>
            </a:r>
            <a:r>
              <a:rPr lang="en-IE" dirty="0"/>
              <a:t> This can lead to unconscious bias and be expressed in heuristics. </a:t>
            </a:r>
            <a:endParaRPr dirty="0"/>
          </a:p>
          <a:p>
            <a:pPr>
              <a:spcAft>
                <a:spcPts val="4"/>
              </a:spcAft>
              <a:buNone/>
            </a:pPr>
            <a:r>
              <a:rPr b="1" dirty="0"/>
              <a:t>Key features</a:t>
            </a:r>
          </a:p>
          <a:p>
            <a:pPr marL="22" indent="-12">
              <a:buChar char="•"/>
            </a:pPr>
            <a:r>
              <a:rPr dirty="0"/>
              <a:t>Occurs outside conscious thought.</a:t>
            </a:r>
          </a:p>
          <a:p>
            <a:pPr marL="22" indent="-12">
              <a:buChar char="•"/>
            </a:pPr>
            <a:r>
              <a:rPr dirty="0"/>
              <a:t>Uses holistic associations between pieces of information.</a:t>
            </a:r>
          </a:p>
          <a:p>
            <a:pPr marL="22" indent="-12">
              <a:buChar char="•"/>
            </a:pPr>
            <a:r>
              <a:rPr dirty="0"/>
              <a:t>Is fast and affectively charged.</a:t>
            </a:r>
          </a:p>
          <a:p>
            <a:pPr marL="22" indent="-12">
              <a:spcAft>
                <a:spcPts val="12"/>
              </a:spcAft>
              <a:buChar char="•"/>
            </a:pPr>
            <a:r>
              <a:rPr dirty="0"/>
              <a:t>Works best when experience is relevant and patterns are learnable.</a:t>
            </a:r>
          </a:p>
          <a:p>
            <a:pPr>
              <a:buNone/>
            </a:pPr>
            <a:r>
              <a:rPr b="1" dirty="0"/>
              <a:t>Example: </a:t>
            </a:r>
            <a:r>
              <a:rPr dirty="0"/>
              <a:t>An experienced cybersecurity analyst senses danger in an unusual activity pattern and escalates before formal indicators are conclusive.</a:t>
            </a:r>
          </a:p>
        </p:txBody>
      </p:sp>
      <p:sp>
        <p:nvSpPr>
          <p:cNvPr id="4" name="Slide Number Placeholder 3">
            <a:extLst>
              <a:ext uri="{FF2B5EF4-FFF2-40B4-BE49-F238E27FC236}">
                <a16:creationId xmlns:a16="http://schemas.microsoft.com/office/drawing/2014/main" id="{311E78A5-7F5F-4213-B2CA-602A20B1D70E}"/>
              </a:ext>
            </a:extLst>
          </p:cNvPr>
          <p:cNvSpPr>
            <a:spLocks noGrp="1"/>
          </p:cNvSpPr>
          <p:nvPr>
            <p:ph type="sldNum" idx="12"/>
          </p:nvPr>
        </p:nvSpPr>
        <p:spPr/>
        <p:txBody>
          <a:bodyPr/>
          <a:lstStyle/>
          <a:p>
            <a:fld id="{36A9D662-D713-5945-9CA3-C981A7AC5439}" type="slidenum">
              <a:rPr/>
              <a:t>6</a:t>
            </a:fld>
            <a:endParaRPr/>
          </a:p>
        </p:txBody>
      </p:sp>
    </p:spTree>
    <p:extLst>
      <p:ext uri="{BB962C8B-B14F-4D97-AF65-F5344CB8AC3E}">
        <p14:creationId xmlns:p14="http://schemas.microsoft.com/office/powerpoint/2010/main" val="159184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8208CB4-1E7E-4E7C-9697-9770904E93A5}"/>
              </a:ext>
            </a:extLst>
          </p:cNvPr>
          <p:cNvSpPr>
            <a:spLocks noGrp="1"/>
          </p:cNvSpPr>
          <p:nvPr/>
        </p:nvSpPr>
        <p:spPr>
          <a:xfrm>
            <a:off x="538480" y="1"/>
            <a:ext cx="8605520"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4" name="Title 3">
            <a:extLst>
              <a:ext uri="{FF2B5EF4-FFF2-40B4-BE49-F238E27FC236}">
                <a16:creationId xmlns:a16="http://schemas.microsoft.com/office/drawing/2014/main" id="{9A422D42-29B5-407A-A984-C4C9F766B396}"/>
              </a:ext>
            </a:extLst>
          </p:cNvPr>
          <p:cNvSpPr>
            <a:spLocks noGrp="1"/>
          </p:cNvSpPr>
          <p:nvPr>
            <p:ph type="title"/>
          </p:nvPr>
        </p:nvSpPr>
        <p:spPr/>
        <p:txBody>
          <a:bodyPr/>
          <a:lstStyle/>
          <a:p>
            <a:r>
              <a:t>System 1 and System 2</a:t>
            </a:r>
          </a:p>
        </p:txBody>
      </p:sp>
      <p:sp>
        <p:nvSpPr>
          <p:cNvPr id="5" name="Content Placeholder 4">
            <a:extLst>
              <a:ext uri="{FF2B5EF4-FFF2-40B4-BE49-F238E27FC236}">
                <a16:creationId xmlns:a16="http://schemas.microsoft.com/office/drawing/2014/main" id="{9A1A2569-E516-48D0-85FB-FF8D8887F29B}"/>
              </a:ext>
            </a:extLst>
          </p:cNvPr>
          <p:cNvSpPr>
            <a:spLocks noGrp="1"/>
          </p:cNvSpPr>
          <p:nvPr>
            <p:ph idx="1"/>
          </p:nvPr>
        </p:nvSpPr>
        <p:spPr>
          <a:xfrm>
            <a:off x="785813" y="1341438"/>
            <a:ext cx="3786187" cy="3943350"/>
          </a:xfrm>
        </p:spPr>
        <p:txBody>
          <a:bodyPr/>
          <a:lstStyle/>
          <a:p>
            <a:pPr>
              <a:buFont typeface="Arial"/>
              <a:buChar char="•"/>
            </a:pPr>
            <a:r>
              <a:t>System 1: automatic, quick, effortless, no sense of voluntary control. </a:t>
            </a:r>
          </a:p>
          <a:p>
            <a:pPr>
              <a:buFont typeface="Arial"/>
              <a:buChar char="•"/>
            </a:pPr>
            <a:endParaRPr/>
          </a:p>
          <a:p>
            <a:pPr>
              <a:buFont typeface="Arial"/>
              <a:buChar char="•"/>
            </a:pPr>
            <a:endParaRPr/>
          </a:p>
          <a:p>
            <a:pPr>
              <a:buFont typeface="Arial"/>
              <a:buChar char="•"/>
            </a:pPr>
            <a:r>
              <a:t>System 2 allocates attention to the effortful mental activities that demand it.</a:t>
            </a:r>
          </a:p>
          <a:p>
            <a:endParaRPr/>
          </a:p>
        </p:txBody>
      </p:sp>
      <p:sp>
        <p:nvSpPr>
          <p:cNvPr id="6" name="TextBox 5">
            <a:extLst>
              <a:ext uri="{FF2B5EF4-FFF2-40B4-BE49-F238E27FC236}">
                <a16:creationId xmlns:a16="http://schemas.microsoft.com/office/drawing/2014/main" id="{E0F735CE-5CCB-44E3-93CC-99C2FBD30DBD}"/>
              </a:ext>
            </a:extLst>
          </p:cNvPr>
          <p:cNvSpPr>
            <a:spLocks noGrp="1"/>
          </p:cNvSpPr>
          <p:nvPr/>
        </p:nvSpPr>
        <p:spPr>
          <a:xfrm>
            <a:off x="5772426" y="6222486"/>
            <a:ext cx="2833094" cy="369332"/>
          </a:xfrm>
          <a:prstGeom prst="rect">
            <a:avLst/>
          </a:prstGeom>
          <a:noFill/>
        </p:spPr>
        <p:txBody>
          <a:bodyPr wrap="square">
            <a:spAutoFit/>
          </a:bodyPr>
          <a:lstStyle/>
          <a:p>
            <a:r>
              <a:rPr>
                <a:solidFill>
                  <a:schemeClr val="tx1"/>
                </a:solidFill>
              </a:rPr>
              <a:t>(Stanovich &amp; West, 2000)</a:t>
            </a:r>
          </a:p>
        </p:txBody>
      </p:sp>
      <p:pic>
        <p:nvPicPr>
          <p:cNvPr id="13" name="Picture 6"/>
          <p:cNvPicPr>
            <a:picLocks noChangeAspect="1"/>
          </p:cNvPicPr>
          <p:nvPr/>
        </p:nvPicPr>
        <p:blipFill>
          <a:blip r:embed="rId3"/>
          <a:stretch>
            <a:fillRect/>
          </a:stretch>
        </p:blipFill>
        <p:spPr>
          <a:xfrm>
            <a:off x="4958080" y="1104180"/>
            <a:ext cx="3544277" cy="2208933"/>
          </a:xfrm>
          <a:prstGeom prst="rect">
            <a:avLst/>
          </a:prstGeom>
        </p:spPr>
      </p:pic>
      <p:pic>
        <p:nvPicPr>
          <p:cNvPr id="14" name="Picture 4"/>
          <p:cNvPicPr>
            <a:picLocks noChangeAspect="1"/>
          </p:cNvPicPr>
          <p:nvPr/>
        </p:nvPicPr>
        <p:blipFill rotWithShape="1">
          <a:blip r:embed="rId4"/>
          <a:srcRect r="11461"/>
          <a:stretch/>
        </p:blipFill>
        <p:spPr>
          <a:xfrm>
            <a:off x="4958080" y="3502110"/>
            <a:ext cx="3544277" cy="2251710"/>
          </a:xfrm>
          <a:prstGeom prst="rect">
            <a:avLst/>
          </a:prstGeom>
        </p:spPr>
      </p:pic>
    </p:spTree>
    <p:extLst>
      <p:ext uri="{BB962C8B-B14F-4D97-AF65-F5344CB8AC3E}">
        <p14:creationId xmlns:p14="http://schemas.microsoft.com/office/powerpoint/2010/main" val="3227736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35C-F4C9-44C5-A382-62B3516ADE6D}"/>
              </a:ext>
            </a:extLst>
          </p:cNvPr>
          <p:cNvSpPr>
            <a:spLocks noGrp="1"/>
          </p:cNvSpPr>
          <p:nvPr>
            <p:ph type="title"/>
          </p:nvPr>
        </p:nvSpPr>
        <p:spPr/>
        <p:txBody>
          <a:bodyPr/>
          <a:lstStyle/>
          <a:p>
            <a:r>
              <a:t>Decision making when AI joins the team</a:t>
            </a:r>
          </a:p>
        </p:txBody>
      </p:sp>
      <p:sp>
        <p:nvSpPr>
          <p:cNvPr id="3" name="Content Placeholder 2">
            <a:extLst>
              <a:ext uri="{FF2B5EF4-FFF2-40B4-BE49-F238E27FC236}">
                <a16:creationId xmlns:a16="http://schemas.microsoft.com/office/drawing/2014/main" id="{5C71DFCC-681C-4758-B611-BC60FE2D5824}"/>
              </a:ext>
            </a:extLst>
          </p:cNvPr>
          <p:cNvSpPr>
            <a:spLocks noGrp="1"/>
          </p:cNvSpPr>
          <p:nvPr>
            <p:ph idx="1"/>
          </p:nvPr>
        </p:nvSpPr>
        <p:spPr/>
        <p:txBody>
          <a:bodyPr/>
          <a:lstStyle/>
          <a:p>
            <a:pPr>
              <a:spcAft>
                <a:spcPts val="12"/>
              </a:spcAft>
              <a:buNone/>
            </a:pPr>
            <a:r>
              <a:rPr dirty="0"/>
              <a:t>AI can expand the information and options considered—but it does not remove bounded rationality or bias.</a:t>
            </a:r>
          </a:p>
          <a:p>
            <a:pPr>
              <a:spcAft>
                <a:spcPts val="4"/>
              </a:spcAft>
              <a:buNone/>
            </a:pPr>
            <a:r>
              <a:rPr b="1" dirty="0"/>
              <a:t>New risks</a:t>
            </a:r>
          </a:p>
          <a:p>
            <a:pPr marL="22" indent="-12">
              <a:buChar char="•"/>
            </a:pPr>
            <a:r>
              <a:rPr lang="en-IE" b="1" dirty="0"/>
              <a:t>Defaults- </a:t>
            </a:r>
            <a:r>
              <a:rPr lang="en-IE" dirty="0"/>
              <a:t>if we are cognitively lazy, are we really evaluating the quality of recommendations effectively?</a:t>
            </a:r>
          </a:p>
          <a:p>
            <a:pPr marL="22" indent="-12">
              <a:buChar char="•"/>
            </a:pPr>
            <a:r>
              <a:rPr lang="en-IE" b="1" dirty="0"/>
              <a:t>Confirmation</a:t>
            </a:r>
            <a:r>
              <a:rPr b="1" dirty="0"/>
              <a:t> bias: </a:t>
            </a:r>
            <a:r>
              <a:rPr lang="en-IE" dirty="0"/>
              <a:t>if AI recommendations are consistent with what we already think, do we question them?</a:t>
            </a:r>
            <a:endParaRPr lang="en-IE" b="1" dirty="0"/>
          </a:p>
          <a:p>
            <a:pPr marL="22" indent="-12">
              <a:buChar char="•"/>
            </a:pPr>
            <a:r>
              <a:rPr b="1" dirty="0"/>
              <a:t>Anchoring</a:t>
            </a:r>
            <a:r>
              <a:rPr dirty="0"/>
              <a:t> on an algorithmic score or forecast.</a:t>
            </a:r>
          </a:p>
          <a:p>
            <a:pPr marL="22" indent="-12">
              <a:spcAft>
                <a:spcPts val="12"/>
              </a:spcAft>
              <a:buChar char="•"/>
            </a:pPr>
            <a:r>
              <a:rPr dirty="0"/>
              <a:t>Scaling biased assumptions, data or criteria.</a:t>
            </a:r>
          </a:p>
          <a:p>
            <a:pPr>
              <a:buNone/>
            </a:pPr>
            <a:r>
              <a:rPr b="1" dirty="0"/>
              <a:t>Better human–AI decisions: </a:t>
            </a:r>
            <a:r>
              <a:rPr dirty="0"/>
              <a:t>Use AI to generate and test options; require people to challenge assumptions, inspect contrary evidence and retain accountability.</a:t>
            </a:r>
          </a:p>
        </p:txBody>
      </p:sp>
      <p:sp>
        <p:nvSpPr>
          <p:cNvPr id="4" name="Slide Number Placeholder 3">
            <a:extLst>
              <a:ext uri="{FF2B5EF4-FFF2-40B4-BE49-F238E27FC236}">
                <a16:creationId xmlns:a16="http://schemas.microsoft.com/office/drawing/2014/main" id="{311E78A5-7F5F-4213-B2CA-602A20B1D70E}"/>
              </a:ext>
            </a:extLst>
          </p:cNvPr>
          <p:cNvSpPr>
            <a:spLocks noGrp="1"/>
          </p:cNvSpPr>
          <p:nvPr>
            <p:ph type="sldNum" idx="12"/>
          </p:nvPr>
        </p:nvSpPr>
        <p:spPr/>
        <p:txBody>
          <a:bodyPr/>
          <a:lstStyle/>
          <a:p>
            <a:fld id="{36A9D662-D713-5945-9CA3-C981A7AC5439}" type="slidenum">
              <a:rPr/>
              <a:t>8</a:t>
            </a:fld>
            <a:endParaRPr/>
          </a:p>
        </p:txBody>
      </p:sp>
    </p:spTree>
    <p:extLst>
      <p:ext uri="{BB962C8B-B14F-4D97-AF65-F5344CB8AC3E}">
        <p14:creationId xmlns:p14="http://schemas.microsoft.com/office/powerpoint/2010/main" val="1591841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BC067-D68F-4390-9E4D-E9E686E07269}"/>
              </a:ext>
            </a:extLst>
          </p:cNvPr>
          <p:cNvSpPr>
            <a:spLocks noGrp="1"/>
          </p:cNvSpPr>
          <p:nvPr>
            <p:ph type="title"/>
          </p:nvPr>
        </p:nvSpPr>
        <p:spPr>
          <a:xfrm>
            <a:off x="3724072" y="629268"/>
            <a:ext cx="4939868" cy="1286160"/>
          </a:xfrm>
        </p:spPr>
        <p:txBody>
          <a:bodyPr anchor="b">
            <a:normAutofit/>
          </a:bodyPr>
          <a:lstStyle/>
          <a:p>
            <a:r>
              <a:t>Common Cognitive Biases</a:t>
            </a:r>
          </a:p>
        </p:txBody>
      </p:sp>
      <p:sp>
        <p:nvSpPr>
          <p:cNvPr id="3" name="Content Placeholder 2">
            <a:extLst>
              <a:ext uri="{FF2B5EF4-FFF2-40B4-BE49-F238E27FC236}">
                <a16:creationId xmlns:a16="http://schemas.microsoft.com/office/drawing/2014/main" id="{476508AE-77C0-494B-B726-098C8BD7B02A}"/>
              </a:ext>
            </a:extLst>
          </p:cNvPr>
          <p:cNvSpPr>
            <a:spLocks noGrp="1"/>
          </p:cNvSpPr>
          <p:nvPr>
            <p:ph idx="1"/>
          </p:nvPr>
        </p:nvSpPr>
        <p:spPr>
          <a:xfrm>
            <a:off x="3724073" y="2438400"/>
            <a:ext cx="4939867" cy="3785419"/>
          </a:xfrm>
        </p:spPr>
        <p:txBody>
          <a:bodyPr>
            <a:normAutofit/>
          </a:bodyPr>
          <a:lstStyle/>
          <a:p>
            <a:endParaRPr sz="1700" dirty="0"/>
          </a:p>
          <a:p>
            <a:pPr marL="514350" indent="-457200">
              <a:buFont typeface="+mj-lt"/>
              <a:buAutoNum type="arabicPeriod"/>
            </a:pPr>
            <a:r>
              <a:rPr lang="en-IE" sz="1700" dirty="0"/>
              <a:t>Framing effects</a:t>
            </a:r>
          </a:p>
          <a:p>
            <a:pPr marL="514350" indent="-457200">
              <a:buFont typeface="+mj-lt"/>
              <a:buAutoNum type="arabicPeriod"/>
            </a:pPr>
            <a:r>
              <a:rPr sz="1700" dirty="0"/>
              <a:t>Anchoring effect</a:t>
            </a:r>
          </a:p>
          <a:p>
            <a:pPr marL="514350" indent="-457200">
              <a:buFont typeface="+mj-lt"/>
              <a:buAutoNum type="arabicPeriod"/>
            </a:pPr>
            <a:r>
              <a:rPr sz="1700" dirty="0"/>
              <a:t>The Availability Heuristic</a:t>
            </a:r>
          </a:p>
          <a:p>
            <a:pPr marL="514350" indent="-457200">
              <a:buFont typeface="+mj-lt"/>
              <a:buAutoNum type="arabicPeriod"/>
            </a:pPr>
            <a:r>
              <a:rPr sz="1700" dirty="0"/>
              <a:t>Confirmation bias</a:t>
            </a:r>
          </a:p>
          <a:p>
            <a:pPr marL="514350" indent="-457200">
              <a:buFont typeface="+mj-lt"/>
              <a:buAutoNum type="arabicPeriod"/>
            </a:pPr>
            <a:r>
              <a:rPr sz="1700" dirty="0"/>
              <a:t>Sunk-cost effect</a:t>
            </a:r>
          </a:p>
          <a:p>
            <a:pPr lvl="1">
              <a:buNone/>
            </a:pPr>
            <a:endParaRPr sz="1700" dirty="0"/>
          </a:p>
          <a:p>
            <a:endParaRPr sz="1700" dirty="0"/>
          </a:p>
        </p:txBody>
      </p:sp>
      <p:pic>
        <p:nvPicPr>
          <p:cNvPr id="2059" name="Picture 2"/>
          <p:cNvPicPr>
            <a:picLocks noChangeAspect="1"/>
          </p:cNvPicPr>
          <p:nvPr/>
        </p:nvPicPr>
        <p:blipFill rotWithShape="1">
          <a:blip r:embed="rId3"/>
          <a:srcRect l="11236" r="12582" b="-1"/>
          <a:stretch/>
        </p:blipFill>
        <p:spPr>
          <a:xfrm>
            <a:off x="480060" y="804046"/>
            <a:ext cx="2066523" cy="4076367"/>
          </a:xfrm>
          <a:prstGeom prst="rect">
            <a:avLst/>
          </a:prstGeom>
        </p:spPr>
      </p:pic>
      <p:sp>
        <p:nvSpPr>
          <p:cNvPr id="2055" name="Straight Connector 2054">
            <a:extLst>
              <a:ext uri="{FF2B5EF4-FFF2-40B4-BE49-F238E27FC236}">
                <a16:creationId xmlns:a16="http://schemas.microsoft.com/office/drawing/2014/main" id="{6497EBA6-C4DA-4FE0-8BBA-285E52070DDB}"/>
              </a:ext>
            </a:extLst>
          </p:cNvPr>
          <p:cNvSpPr>
            <a:spLocks noGrp="1"/>
          </p:cNvSpPr>
          <p:nvPr/>
        </p:nvSpPr>
        <p:spPr>
          <a:xfrm>
            <a:off x="3810700" y="2115117"/>
            <a:ext cx="4732020" cy="0"/>
          </a:xfrm>
          <a:prstGeom prst="line">
            <a:avLst/>
          </a:prstGeom>
          <a:ln w="19050">
            <a:solidFill>
              <a:srgbClr val="FFAE2E"/>
            </a:solidFill>
          </a:ln>
        </p:spPr>
        <p:style>
          <a:lnRef idx="1">
            <a:schemeClr val="accent1"/>
          </a:lnRef>
          <a:fillRef idx="0">
            <a:schemeClr val="accent1"/>
          </a:fillRef>
          <a:effectRef idx="0">
            <a:schemeClr val="accent1"/>
          </a:effectRef>
          <a:fontRef idx="minor">
            <a:schemeClr val="tx1"/>
          </a:fontRef>
        </p:style>
        <p:txBody>
          <a:bodyPr/>
          <a:lstStyle/>
          <a:p>
            <a:endParaRPr lang="en-IE"/>
          </a:p>
        </p:txBody>
      </p:sp>
      <p:sp>
        <p:nvSpPr>
          <p:cNvPr id="5" name="Slide Number Placeholder 4">
            <a:extLst>
              <a:ext uri="{FF2B5EF4-FFF2-40B4-BE49-F238E27FC236}">
                <a16:creationId xmlns:a16="http://schemas.microsoft.com/office/drawing/2014/main" id="{670E8F1D-A4EC-4024-8AD0-364FDD6BAAD2}"/>
              </a:ext>
            </a:extLst>
          </p:cNvPr>
          <p:cNvSpPr>
            <a:spLocks noGrp="1"/>
          </p:cNvSpPr>
          <p:nvPr>
            <p:ph type="sldNum" idx="12"/>
          </p:nvPr>
        </p:nvSpPr>
        <p:spPr>
          <a:xfrm>
            <a:off x="7625281" y="6356350"/>
            <a:ext cx="890069" cy="365125"/>
          </a:xfrm>
          <a:prstGeom prst="rect">
            <a:avLst/>
          </a:prstGeom>
        </p:spPr>
        <p:txBody>
          <a:bodyPr vert="horz" lIns="91440" tIns="45720" rIns="91440" bIns="45720">
            <a:normAutofit/>
          </a:bodyP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spcAft>
                <a:spcPts val="600"/>
              </a:spcAft>
              <a:buNone/>
            </a:pPr>
            <a:fld id="{F99A269D-BEC2-4821-A6FB-2BC5BDF69232}" type="slidenum">
              <a:rPr/>
              <a:t>9</a:t>
            </a:fld>
            <a:endParaRPr/>
          </a:p>
        </p:txBody>
      </p:sp>
    </p:spTree>
    <p:extLst>
      <p:ext uri="{BB962C8B-B14F-4D97-AF65-F5344CB8AC3E}">
        <p14:creationId xmlns:p14="http://schemas.microsoft.com/office/powerpoint/2010/main" val="267532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8304-1B13-4457-A420-611B60802C3B}"/>
              </a:ext>
            </a:extLst>
          </p:cNvPr>
          <p:cNvSpPr>
            <a:spLocks noGrp="1"/>
          </p:cNvSpPr>
          <p:nvPr>
            <p:ph type="title"/>
          </p:nvPr>
        </p:nvSpPr>
        <p:spPr/>
        <p:txBody>
          <a:bodyPr/>
          <a:lstStyle/>
          <a:p>
            <a:r>
              <a:t>Framing</a:t>
            </a:r>
          </a:p>
        </p:txBody>
      </p:sp>
      <p:sp>
        <p:nvSpPr>
          <p:cNvPr id="3" name="Content Placeholder 2">
            <a:extLst>
              <a:ext uri="{FF2B5EF4-FFF2-40B4-BE49-F238E27FC236}">
                <a16:creationId xmlns:a16="http://schemas.microsoft.com/office/drawing/2014/main" id="{06178348-CAB0-4E42-B962-3D7E14E36663}"/>
              </a:ext>
            </a:extLst>
          </p:cNvPr>
          <p:cNvSpPr>
            <a:spLocks noGrp="1"/>
          </p:cNvSpPr>
          <p:nvPr>
            <p:ph idx="1"/>
          </p:nvPr>
        </p:nvSpPr>
        <p:spPr/>
        <p:txBody>
          <a:bodyPr>
            <a:normAutofit/>
          </a:bodyPr>
          <a:lstStyle/>
          <a:p>
            <a:r>
              <a:rPr lang="en-IE" dirty="0"/>
              <a:t>Singapore </a:t>
            </a:r>
            <a:r>
              <a:rPr dirty="0"/>
              <a:t>is preparing for the outbreak of an unusual flu epidemic that is expected to kill 600 people. Two alternative programs are being considered. Which would you favor? </a:t>
            </a:r>
          </a:p>
        </p:txBody>
      </p:sp>
    </p:spTree>
    <p:extLst>
      <p:ext uri="{BB962C8B-B14F-4D97-AF65-F5344CB8AC3E}">
        <p14:creationId xmlns:p14="http://schemas.microsoft.com/office/powerpoint/2010/main" val="13063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561BA-2E19-4FA8-89DF-AF5076CD26B8}"/>
              </a:ext>
            </a:extLst>
          </p:cNvPr>
          <p:cNvSpPr>
            <a:spLocks noGrp="1"/>
          </p:cNvSpPr>
          <p:nvPr>
            <p:ph type="title"/>
          </p:nvPr>
        </p:nvSpPr>
        <p:spPr/>
        <p:txBody>
          <a:bodyPr/>
          <a:lstStyle/>
          <a:p>
            <a:r>
              <a:t>Gain/Loss Framing</a:t>
            </a:r>
          </a:p>
        </p:txBody>
      </p:sp>
      <p:sp>
        <p:nvSpPr>
          <p:cNvPr id="3" name="Content Placeholder 2">
            <a:extLst>
              <a:ext uri="{FF2B5EF4-FFF2-40B4-BE49-F238E27FC236}">
                <a16:creationId xmlns:a16="http://schemas.microsoft.com/office/drawing/2014/main" id="{4CD34ED3-9888-429C-9CBB-A44CA4A3E45F}"/>
              </a:ext>
            </a:extLst>
          </p:cNvPr>
          <p:cNvSpPr>
            <a:spLocks noGrp="1"/>
          </p:cNvSpPr>
          <p:nvPr>
            <p:ph idx="1"/>
          </p:nvPr>
        </p:nvSpPr>
        <p:spPr>
          <a:xfrm>
            <a:off x="741680" y="1195388"/>
            <a:ext cx="6642100" cy="3943350"/>
          </a:xfrm>
        </p:spPr>
        <p:txBody>
          <a:bodyPr/>
          <a:lstStyle/>
          <a:p>
            <a:pPr marL="57150" indent="0">
              <a:buNone/>
            </a:pPr>
            <a:endParaRPr sz="1800"/>
          </a:p>
          <a:p>
            <a:pPr marL="57150" indent="0">
              <a:buNone/>
            </a:pPr>
            <a:r>
              <a:rPr sz="1800"/>
              <a:t>If Alternative A is adopted, 400 people will </a:t>
            </a:r>
            <a:r>
              <a:rPr sz="1800" b="1"/>
              <a:t>die. </a:t>
            </a:r>
          </a:p>
          <a:p>
            <a:pPr marL="57150" indent="0">
              <a:buNone/>
            </a:pPr>
            <a:r>
              <a:rPr sz="1800"/>
              <a:t>If Alternative B is adopted, there is a 1/3 chance that no one will die and a 2/3 chance that all 600 will </a:t>
            </a:r>
            <a:r>
              <a:rPr sz="1800" b="1"/>
              <a:t>die. </a:t>
            </a:r>
          </a:p>
          <a:p>
            <a:pPr marL="57150" indent="0">
              <a:buNone/>
            </a:pPr>
            <a:endParaRPr sz="1800"/>
          </a:p>
          <a:p>
            <a:pPr marL="57150" indent="0">
              <a:buNone/>
            </a:pPr>
            <a:r>
              <a:rPr sz="1800"/>
              <a:t>If Alternative A is adopted, 200 people will be </a:t>
            </a:r>
            <a:r>
              <a:rPr sz="1800" b="1"/>
              <a:t>saved.</a:t>
            </a:r>
          </a:p>
          <a:p>
            <a:pPr marL="57150" indent="0">
              <a:buNone/>
            </a:pPr>
            <a:r>
              <a:rPr sz="1800"/>
              <a:t>If Alternative B is adopted, there is a 1/3 chance that all 600 will be saved and a 2/3 chance that no one will be </a:t>
            </a:r>
            <a:r>
              <a:rPr sz="1800" b="1"/>
              <a:t>saved.</a:t>
            </a:r>
          </a:p>
          <a:p>
            <a:pPr marL="914400" lvl="1" indent="-457200">
              <a:buFont typeface="Arial"/>
              <a:buChar char="•"/>
            </a:pPr>
            <a:endParaRPr sz="1800"/>
          </a:p>
          <a:p>
            <a:endParaRPr/>
          </a:p>
        </p:txBody>
      </p:sp>
      <p:sp>
        <p:nvSpPr>
          <p:cNvPr id="4" name="Slide Number Placeholder 3">
            <a:extLst>
              <a:ext uri="{FF2B5EF4-FFF2-40B4-BE49-F238E27FC236}">
                <a16:creationId xmlns:a16="http://schemas.microsoft.com/office/drawing/2014/main" id="{14126463-24AF-4CCE-BAD0-86DC2957EA4A}"/>
              </a:ext>
            </a:extLst>
          </p:cNvPr>
          <p:cNvSpPr>
            <a:spLocks noGrp="1"/>
          </p:cNvSpPr>
          <p:nvPr>
            <p:ph type="sldNum" idx="12"/>
          </p:nvPr>
        </p:nvSpPr>
        <p:spPr/>
        <p:txBody>
          <a:bodyPr/>
          <a:lstStyle/>
          <a:p>
            <a:fld id="{36A9D662-D713-5945-9CA3-C981A7AC5439}" type="slidenum">
              <a:rPr/>
              <a:t>11</a:t>
            </a:fld>
            <a:endParaRPr/>
          </a:p>
        </p:txBody>
      </p:sp>
      <p:sp>
        <p:nvSpPr>
          <p:cNvPr id="7" name="TextBox 6">
            <a:extLst>
              <a:ext uri="{FF2B5EF4-FFF2-40B4-BE49-F238E27FC236}">
                <a16:creationId xmlns:a16="http://schemas.microsoft.com/office/drawing/2014/main" id="{DB0BFA99-1FC7-FCBB-15CE-A1AC1BE43B13}"/>
              </a:ext>
            </a:extLst>
          </p:cNvPr>
          <p:cNvSpPr>
            <a:spLocks noGrp="1"/>
          </p:cNvSpPr>
          <p:nvPr/>
        </p:nvSpPr>
        <p:spPr>
          <a:xfrm>
            <a:off x="5916168" y="2726794"/>
            <a:ext cx="4572000" cy="523220"/>
          </a:xfrm>
          <a:prstGeom prst="rect">
            <a:avLst/>
          </a:prstGeom>
          <a:noFill/>
        </p:spPr>
        <p:txBody>
          <a:bodyPr wrap="square">
            <a:spAutoFit/>
          </a:bodyPr>
          <a:lstStyle/>
          <a:p>
            <a:r>
              <a:rPr sz="2800" b="1" i="0" u="none">
                <a:solidFill>
                  <a:srgbClr val="FF0000"/>
                </a:solidFill>
                <a:latin typeface="Calibri"/>
                <a:ea typeface="Calibri"/>
                <a:cs typeface="Calibri"/>
              </a:rPr>
              <a:t>60%</a:t>
            </a:r>
            <a:endParaRPr sz="2800" b="1">
              <a:solidFill>
                <a:srgbClr val="FF0000"/>
              </a:solidFill>
            </a:endParaRPr>
          </a:p>
        </p:txBody>
      </p:sp>
      <p:sp>
        <p:nvSpPr>
          <p:cNvPr id="9" name="TextBox 8">
            <a:extLst>
              <a:ext uri="{FF2B5EF4-FFF2-40B4-BE49-F238E27FC236}">
                <a16:creationId xmlns:a16="http://schemas.microsoft.com/office/drawing/2014/main" id="{45BC29C1-D8E6-3026-9A99-0854B2FCD3E8}"/>
              </a:ext>
            </a:extLst>
          </p:cNvPr>
          <p:cNvSpPr>
            <a:spLocks noGrp="1"/>
          </p:cNvSpPr>
          <p:nvPr/>
        </p:nvSpPr>
        <p:spPr>
          <a:xfrm>
            <a:off x="4431792" y="2045863"/>
            <a:ext cx="4572000" cy="523220"/>
          </a:xfrm>
          <a:prstGeom prst="rect">
            <a:avLst/>
          </a:prstGeom>
          <a:noFill/>
        </p:spPr>
        <p:txBody>
          <a:bodyPr wrap="square">
            <a:spAutoFit/>
          </a:bodyPr>
          <a:lstStyle/>
          <a:p>
            <a:r>
              <a:rPr sz="2800" b="1" i="0" u="none">
                <a:solidFill>
                  <a:srgbClr val="FF0000"/>
                </a:solidFill>
                <a:latin typeface="Calibri"/>
                <a:ea typeface="Calibri"/>
                <a:cs typeface="Calibri"/>
              </a:rPr>
              <a:t>60%</a:t>
            </a:r>
            <a:endParaRPr sz="2800" b="1">
              <a:solidFill>
                <a:srgbClr val="FF0000"/>
              </a:solidFill>
            </a:endParaRPr>
          </a:p>
        </p:txBody>
      </p:sp>
    </p:spTree>
    <p:extLst>
      <p:ext uri="{BB962C8B-B14F-4D97-AF65-F5344CB8AC3E}">
        <p14:creationId xmlns:p14="http://schemas.microsoft.com/office/powerpoint/2010/main" val="2235125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oss aversion">
            <a:extLst>
              <a:ext uri="{FF2B5EF4-FFF2-40B4-BE49-F238E27FC236}">
                <a16:creationId xmlns:a16="http://schemas.microsoft.com/office/drawing/2014/main" id="{2803B12C-0A24-04BF-8925-A40A3CF1099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830" b="8540"/>
          <a:stretch/>
        </p:blipFill>
        <p:spPr bwMode="auto">
          <a:xfrm>
            <a:off x="15" y="858211"/>
            <a:ext cx="9143985" cy="5142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338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7C9A4-5A3C-4302-B720-2BA0A8535F81}"/>
              </a:ext>
            </a:extLst>
          </p:cNvPr>
          <p:cNvSpPr>
            <a:spLocks noGrp="1"/>
          </p:cNvSpPr>
          <p:nvPr>
            <p:ph type="title"/>
          </p:nvPr>
        </p:nvSpPr>
        <p:spPr/>
        <p:txBody>
          <a:bodyPr/>
          <a:lstStyle/>
          <a:p>
            <a:r>
              <a:t>Framing Bias</a:t>
            </a:r>
          </a:p>
        </p:txBody>
      </p:sp>
      <p:sp>
        <p:nvSpPr>
          <p:cNvPr id="3" name="Content Placeholder 2">
            <a:extLst>
              <a:ext uri="{FF2B5EF4-FFF2-40B4-BE49-F238E27FC236}">
                <a16:creationId xmlns:a16="http://schemas.microsoft.com/office/drawing/2014/main" id="{273585AC-D19C-4A6F-B1D9-07D86597DF77}"/>
              </a:ext>
            </a:extLst>
          </p:cNvPr>
          <p:cNvSpPr>
            <a:spLocks noGrp="1"/>
          </p:cNvSpPr>
          <p:nvPr>
            <p:ph idx="1"/>
          </p:nvPr>
        </p:nvSpPr>
        <p:spPr/>
        <p:txBody>
          <a:bodyPr>
            <a:normAutofit/>
          </a:bodyPr>
          <a:lstStyle/>
          <a:p>
            <a:r>
              <a:rPr sz="2100" b="1"/>
              <a:t>Framing effects: </a:t>
            </a:r>
            <a:r>
              <a:rPr sz="2100"/>
              <a:t>Tendency to react to a particular choice based on how it is presented.</a:t>
            </a:r>
          </a:p>
          <a:p>
            <a:endParaRPr sz="825"/>
          </a:p>
          <a:p>
            <a:r>
              <a:rPr sz="2100"/>
              <a:t>Loss-risk seeking</a:t>
            </a:r>
          </a:p>
          <a:p>
            <a:r>
              <a:rPr sz="2100"/>
              <a:t>Gain- risk averse</a:t>
            </a:r>
          </a:p>
          <a:p>
            <a:endParaRPr sz="2100"/>
          </a:p>
          <a:p>
            <a:r>
              <a:rPr sz="2100">
                <a:hlinkClick r:id="rId3"/>
              </a:rPr>
              <a:t>Deal or no deal! </a:t>
            </a:r>
            <a:r>
              <a:rPr sz="2100"/>
              <a:t>– Loss aversion and prospect theory</a:t>
            </a:r>
          </a:p>
          <a:p>
            <a:endParaRPr sz="2100"/>
          </a:p>
          <a:p>
            <a:r>
              <a:rPr sz="2100" b="1"/>
              <a:t>TIP: look at it from both perspectives. </a:t>
            </a:r>
          </a:p>
        </p:txBody>
      </p:sp>
      <p:sp>
        <p:nvSpPr>
          <p:cNvPr id="5" name="Slide Number Placeholder 4">
            <a:extLst>
              <a:ext uri="{FF2B5EF4-FFF2-40B4-BE49-F238E27FC236}">
                <a16:creationId xmlns:a16="http://schemas.microsoft.com/office/drawing/2014/main" id="{24129F5B-5131-468C-9309-A1A9822D1D4F}"/>
              </a:ext>
            </a:extLst>
          </p:cNvPr>
          <p:cNvSpPr>
            <a:spLocks noGrp="1"/>
          </p:cNvSpPr>
          <p:nvPr>
            <p:ph type="sldNum" idx="12"/>
          </p:nvPr>
        </p:nvSpPr>
        <p:spPr>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F99A269D-BEC2-4821-A6FB-2BC5BDF69232}" type="slidenum">
              <a:rPr/>
              <a:t>13</a:t>
            </a:fld>
            <a:endParaRPr/>
          </a:p>
        </p:txBody>
      </p:sp>
    </p:spTree>
    <p:extLst>
      <p:ext uri="{BB962C8B-B14F-4D97-AF65-F5344CB8AC3E}">
        <p14:creationId xmlns:p14="http://schemas.microsoft.com/office/powerpoint/2010/main" val="2355163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53E1-CE90-461D-83AB-9657E2AD2797}"/>
              </a:ext>
            </a:extLst>
          </p:cNvPr>
          <p:cNvSpPr>
            <a:spLocks noGrp="1"/>
          </p:cNvSpPr>
          <p:nvPr>
            <p:ph type="title"/>
          </p:nvPr>
        </p:nvSpPr>
        <p:spPr/>
        <p:txBody>
          <a:bodyPr/>
          <a:lstStyle/>
          <a:p>
            <a:r>
              <a:t>Anchors</a:t>
            </a:r>
          </a:p>
        </p:txBody>
      </p:sp>
      <p:sp>
        <p:nvSpPr>
          <p:cNvPr id="3" name="Content Placeholder 2">
            <a:extLst>
              <a:ext uri="{FF2B5EF4-FFF2-40B4-BE49-F238E27FC236}">
                <a16:creationId xmlns:a16="http://schemas.microsoft.com/office/drawing/2014/main" id="{D1135FFC-321D-4C5F-9C47-A61F6E4A4CA4}"/>
              </a:ext>
            </a:extLst>
          </p:cNvPr>
          <p:cNvSpPr>
            <a:spLocks noGrp="1"/>
          </p:cNvSpPr>
          <p:nvPr>
            <p:ph idx="1"/>
          </p:nvPr>
        </p:nvSpPr>
        <p:spPr/>
        <p:txBody>
          <a:bodyPr/>
          <a:lstStyle/>
          <a:p>
            <a:pPr>
              <a:lnSpc>
                <a:spcPct val="107000"/>
              </a:lnSpc>
              <a:spcAft>
                <a:spcPts val="800"/>
              </a:spcAft>
              <a:buNone/>
            </a:pPr>
            <a:r>
              <a:rPr sz="1800"/>
              <a:t>This two-part question has to do with the number of cattle in Ireland. </a:t>
            </a:r>
          </a:p>
          <a:p>
            <a:r>
              <a:rPr sz="1800" b="1"/>
              <a:t>a.</a:t>
            </a:r>
            <a:r>
              <a:rPr sz="1800"/>
              <a:t> Do you estimate the number of cattle in Ireland to be over 1,000,000?</a:t>
            </a:r>
          </a:p>
          <a:p>
            <a:pPr>
              <a:lnSpc>
                <a:spcPct val="107000"/>
              </a:lnSpc>
              <a:spcAft>
                <a:spcPts val="800"/>
              </a:spcAft>
              <a:buNone/>
            </a:pPr>
            <a:r>
              <a:rPr sz="1800" b="1"/>
              <a:t>b.</a:t>
            </a:r>
            <a:r>
              <a:rPr sz="1800"/>
              <a:t> What is your estimate of the number of cattle in Ireland?</a:t>
            </a:r>
          </a:p>
          <a:p>
            <a:endParaRPr sz="1800"/>
          </a:p>
          <a:p>
            <a:pPr marL="0" indent="0">
              <a:buNone/>
            </a:pPr>
            <a:r>
              <a:rPr sz="1800"/>
              <a:t>(there are really </a:t>
            </a:r>
            <a:r>
              <a:rPr sz="1800" b="1">
                <a:solidFill>
                  <a:srgbClr val="FF0000"/>
                </a:solidFill>
              </a:rPr>
              <a:t>7.5 million</a:t>
            </a:r>
            <a:r>
              <a:rPr sz="1800"/>
              <a:t>!)</a:t>
            </a:r>
          </a:p>
          <a:p>
            <a:endParaRPr/>
          </a:p>
          <a:p>
            <a:r>
              <a:rPr sz="2000" b="1"/>
              <a:t>Anchoring effects: </a:t>
            </a:r>
            <a:r>
              <a:rPr sz="2000"/>
              <a:t>Tendency to rely too heavily on the first piece of information offered (the "anchor").</a:t>
            </a:r>
          </a:p>
          <a:p>
            <a:endParaRPr/>
          </a:p>
        </p:txBody>
      </p:sp>
      <p:sp>
        <p:nvSpPr>
          <p:cNvPr id="4" name="Slide Number Placeholder 3">
            <a:extLst>
              <a:ext uri="{FF2B5EF4-FFF2-40B4-BE49-F238E27FC236}">
                <a16:creationId xmlns:a16="http://schemas.microsoft.com/office/drawing/2014/main" id="{19CD9F6A-05BC-433D-92FA-D09C0E09A95B}"/>
              </a:ext>
            </a:extLst>
          </p:cNvPr>
          <p:cNvSpPr>
            <a:spLocks noGrp="1"/>
          </p:cNvSpPr>
          <p:nvPr>
            <p:ph type="sldNum" idx="12"/>
          </p:nvPr>
        </p:nvSpPr>
        <p:spPr/>
        <p:txBody>
          <a:bodyPr/>
          <a:lstStyle/>
          <a:p>
            <a:fld id="{36A9D662-D713-5945-9CA3-C981A7AC5439}" type="slidenum">
              <a:rPr/>
              <a:t>14</a:t>
            </a:fld>
            <a:endParaRPr/>
          </a:p>
        </p:txBody>
      </p:sp>
      <p:sp>
        <p:nvSpPr>
          <p:cNvPr id="6" name="TextBox 5">
            <a:extLst>
              <a:ext uri="{FF2B5EF4-FFF2-40B4-BE49-F238E27FC236}">
                <a16:creationId xmlns:a16="http://schemas.microsoft.com/office/drawing/2014/main" id="{86D2C62D-51CE-47F1-9BEE-E1CC0AD06E12}"/>
              </a:ext>
            </a:extLst>
          </p:cNvPr>
          <p:cNvSpPr>
            <a:spLocks noGrp="1"/>
          </p:cNvSpPr>
          <p:nvPr/>
        </p:nvSpPr>
        <p:spPr>
          <a:xfrm>
            <a:off x="1035679" y="5321537"/>
            <a:ext cx="5304473" cy="369332"/>
          </a:xfrm>
          <a:prstGeom prst="rect">
            <a:avLst/>
          </a:prstGeom>
          <a:noFill/>
        </p:spPr>
        <p:txBody>
          <a:bodyPr wrap="square">
            <a:spAutoFit/>
          </a:bodyPr>
          <a:lstStyle/>
          <a:p>
            <a:r>
              <a:rPr sz="1800" b="1">
                <a:solidFill>
                  <a:schemeClr val="tx1"/>
                </a:solidFill>
                <a:latin typeface="+mn-lt"/>
                <a:ea typeface="+mn-lt"/>
                <a:cs typeface="+mn-lt"/>
              </a:rPr>
              <a:t>TIP: ignore irrelevant and biased data. </a:t>
            </a:r>
          </a:p>
        </p:txBody>
      </p:sp>
    </p:spTree>
    <p:extLst>
      <p:ext uri="{BB962C8B-B14F-4D97-AF65-F5344CB8AC3E}">
        <p14:creationId xmlns:p14="http://schemas.microsoft.com/office/powerpoint/2010/main" val="3943595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70C2DD-8E3D-4AB9-8E62-06112131B286}"/>
              </a:ext>
            </a:extLst>
          </p:cNvPr>
          <p:cNvSpPr>
            <a:spLocks noGrp="1"/>
          </p:cNvSpPr>
          <p:nvPr/>
        </p:nvSpPr>
        <p:spPr>
          <a:xfrm>
            <a:off x="596348" y="0"/>
            <a:ext cx="8547652"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2" name="Title 1">
            <a:extLst>
              <a:ext uri="{FF2B5EF4-FFF2-40B4-BE49-F238E27FC236}">
                <a16:creationId xmlns:a16="http://schemas.microsoft.com/office/drawing/2014/main" id="{6DCEC119-DBFB-4CF5-AECA-81451BC7F09D}"/>
              </a:ext>
            </a:extLst>
          </p:cNvPr>
          <p:cNvSpPr>
            <a:spLocks noGrp="1"/>
          </p:cNvSpPr>
          <p:nvPr>
            <p:ph type="title"/>
          </p:nvPr>
        </p:nvSpPr>
        <p:spPr/>
        <p:txBody>
          <a:bodyPr/>
          <a:lstStyle/>
          <a:p>
            <a:r>
              <a:t>Availability Heuristic</a:t>
            </a:r>
          </a:p>
        </p:txBody>
      </p:sp>
      <p:sp>
        <p:nvSpPr>
          <p:cNvPr id="3" name="Content Placeholder 2">
            <a:extLst>
              <a:ext uri="{FF2B5EF4-FFF2-40B4-BE49-F238E27FC236}">
                <a16:creationId xmlns:a16="http://schemas.microsoft.com/office/drawing/2014/main" id="{D4D55968-4226-408C-A10F-E4911DED9CAB}"/>
              </a:ext>
            </a:extLst>
          </p:cNvPr>
          <p:cNvSpPr>
            <a:spLocks noGrp="1"/>
          </p:cNvSpPr>
          <p:nvPr>
            <p:ph idx="1"/>
          </p:nvPr>
        </p:nvSpPr>
        <p:spPr>
          <a:xfrm>
            <a:off x="785813" y="1341438"/>
            <a:ext cx="7899400" cy="3943350"/>
          </a:xfrm>
        </p:spPr>
        <p:txBody>
          <a:bodyPr>
            <a:normAutofit fontScale="92500" lnSpcReduction="10000"/>
          </a:bodyPr>
          <a:lstStyle/>
          <a:p>
            <a:pPr>
              <a:lnSpc>
                <a:spcPct val="107000"/>
              </a:lnSpc>
              <a:spcAft>
                <a:spcPts val="800"/>
              </a:spcAft>
              <a:buNone/>
            </a:pPr>
            <a:r>
              <a:rPr sz="2400"/>
              <a:t>Which is true? There are more words in the English language that: </a:t>
            </a:r>
          </a:p>
          <a:p>
            <a:pPr marL="342900" lvl="0" indent="-342900">
              <a:lnSpc>
                <a:spcPct val="107000"/>
              </a:lnSpc>
              <a:buFont typeface="Symbol"/>
              <a:buChar char=""/>
            </a:pPr>
            <a:r>
              <a:rPr sz="2400"/>
              <a:t>start with the letter K</a:t>
            </a:r>
          </a:p>
          <a:p>
            <a:pPr marL="342900" lvl="0" indent="-342900">
              <a:lnSpc>
                <a:spcPct val="107000"/>
              </a:lnSpc>
              <a:spcAft>
                <a:spcPts val="800"/>
              </a:spcAft>
              <a:buFont typeface="Symbol"/>
              <a:buChar char=""/>
            </a:pPr>
            <a:r>
              <a:rPr sz="2400"/>
              <a:t>have K as the third letter</a:t>
            </a:r>
          </a:p>
          <a:p>
            <a:pPr marL="0" indent="0">
              <a:lnSpc>
                <a:spcPct val="107000"/>
              </a:lnSpc>
              <a:spcAft>
                <a:spcPts val="800"/>
              </a:spcAft>
              <a:buNone/>
            </a:pPr>
            <a:endParaRPr sz="2400" b="1"/>
          </a:p>
          <a:p>
            <a:pPr marL="0" indent="0">
              <a:lnSpc>
                <a:spcPct val="107000"/>
              </a:lnSpc>
              <a:spcAft>
                <a:spcPts val="800"/>
              </a:spcAft>
              <a:buNone/>
            </a:pPr>
            <a:endParaRPr sz="2400" b="1"/>
          </a:p>
          <a:p>
            <a:pPr marL="0" indent="0">
              <a:lnSpc>
                <a:spcPct val="107000"/>
              </a:lnSpc>
              <a:spcAft>
                <a:spcPts val="800"/>
              </a:spcAft>
              <a:buNone/>
            </a:pPr>
            <a:r>
              <a:rPr sz="2400" b="1"/>
              <a:t>Availability heuristic- </a:t>
            </a:r>
            <a:r>
              <a:rPr sz="2400"/>
              <a:t>the tendency to form judgments about the commonness of an event based on ease of recall.  </a:t>
            </a:r>
          </a:p>
          <a:p>
            <a:pPr marL="0" indent="0">
              <a:lnSpc>
                <a:spcPct val="107000"/>
              </a:lnSpc>
              <a:spcAft>
                <a:spcPts val="800"/>
              </a:spcAft>
              <a:buNone/>
            </a:pPr>
            <a:r>
              <a:rPr sz="2400" b="1"/>
              <a:t>TIP: hunt for less flashy information. </a:t>
            </a:r>
          </a:p>
          <a:p>
            <a:pPr marL="342900" lvl="0" indent="-342900">
              <a:lnSpc>
                <a:spcPct val="107000"/>
              </a:lnSpc>
              <a:spcAft>
                <a:spcPts val="800"/>
              </a:spcAft>
              <a:buFont typeface="Symbol"/>
              <a:buChar char=""/>
            </a:pPr>
            <a:endParaRPr sz="2400"/>
          </a:p>
          <a:p>
            <a:pPr marL="342900" lvl="0" indent="-342900">
              <a:lnSpc>
                <a:spcPct val="107000"/>
              </a:lnSpc>
              <a:spcAft>
                <a:spcPts val="800"/>
              </a:spcAft>
              <a:buFont typeface="Symbol"/>
              <a:buChar char=""/>
            </a:pPr>
            <a:endParaRPr sz="2400"/>
          </a:p>
          <a:p>
            <a:pPr marL="342900" lvl="0" indent="-342900">
              <a:lnSpc>
                <a:spcPct val="107000"/>
              </a:lnSpc>
              <a:spcAft>
                <a:spcPts val="800"/>
              </a:spcAft>
              <a:buFont typeface="Symbol"/>
              <a:buChar char=""/>
            </a:pPr>
            <a:endParaRPr sz="2400"/>
          </a:p>
          <a:p>
            <a:endParaRPr/>
          </a:p>
        </p:txBody>
      </p:sp>
      <p:sp>
        <p:nvSpPr>
          <p:cNvPr id="4" name="Slide Number Placeholder 3">
            <a:extLst>
              <a:ext uri="{FF2B5EF4-FFF2-40B4-BE49-F238E27FC236}">
                <a16:creationId xmlns:a16="http://schemas.microsoft.com/office/drawing/2014/main" id="{70A84D09-7139-4750-8D69-B741D8890400}"/>
              </a:ext>
            </a:extLst>
          </p:cNvPr>
          <p:cNvSpPr>
            <a:spLocks noGrp="1"/>
          </p:cNvSpPr>
          <p:nvPr>
            <p:ph type="sldNum" idx="10"/>
          </p:nvPr>
        </p:nvSpPr>
        <p:spPr/>
        <p:txBody>
          <a:bodyPr/>
          <a:lstStyle/>
          <a:p>
            <a:fld id="{36A9D662-D713-5945-9CA3-C981A7AC5439}" type="slidenum">
              <a:rPr/>
              <a:t>15</a:t>
            </a:fld>
            <a:endParaRPr/>
          </a:p>
        </p:txBody>
      </p:sp>
      <p:pic>
        <p:nvPicPr>
          <p:cNvPr id="11" name="Picture 4"/>
          <p:cNvPicPr>
            <a:picLocks noChangeAspect="1"/>
          </p:cNvPicPr>
          <p:nvPr/>
        </p:nvPicPr>
        <p:blipFill>
          <a:blip r:embed="rId3"/>
          <a:srcRect/>
          <a:stretch>
            <a:fillRect/>
          </a:stretch>
        </p:blipFill>
        <p:spPr>
          <a:xfrm>
            <a:off x="5538969" y="2055815"/>
            <a:ext cx="2819218" cy="1578762"/>
          </a:xfrm>
          <a:prstGeom prst="rect">
            <a:avLst/>
          </a:prstGeom>
        </p:spPr>
      </p:pic>
    </p:spTree>
    <p:extLst>
      <p:ext uri="{BB962C8B-B14F-4D97-AF65-F5344CB8AC3E}">
        <p14:creationId xmlns:p14="http://schemas.microsoft.com/office/powerpoint/2010/main" val="71594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12B195-5CD5-464D-8DC1-CC67E58259A3}"/>
              </a:ext>
            </a:extLst>
          </p:cNvPr>
          <p:cNvSpPr>
            <a:spLocks noGrp="1"/>
          </p:cNvSpPr>
          <p:nvPr/>
        </p:nvSpPr>
        <p:spPr>
          <a:xfrm>
            <a:off x="558800" y="0"/>
            <a:ext cx="8585200"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2" name="Title 1">
            <a:extLst>
              <a:ext uri="{FF2B5EF4-FFF2-40B4-BE49-F238E27FC236}">
                <a16:creationId xmlns:a16="http://schemas.microsoft.com/office/drawing/2014/main" id="{DD9DEA78-31F0-4694-87AC-81A83AA87842}"/>
              </a:ext>
            </a:extLst>
          </p:cNvPr>
          <p:cNvSpPr>
            <a:spLocks noGrp="1"/>
          </p:cNvSpPr>
          <p:nvPr>
            <p:ph type="title"/>
          </p:nvPr>
        </p:nvSpPr>
        <p:spPr/>
        <p:txBody>
          <a:bodyPr/>
          <a:lstStyle/>
          <a:p>
            <a:r>
              <a:t>Escalation of Commitment (Sunk Cost Effect)</a:t>
            </a:r>
          </a:p>
        </p:txBody>
      </p:sp>
      <p:sp>
        <p:nvSpPr>
          <p:cNvPr id="3" name="Content Placeholder 2">
            <a:extLst>
              <a:ext uri="{FF2B5EF4-FFF2-40B4-BE49-F238E27FC236}">
                <a16:creationId xmlns:a16="http://schemas.microsoft.com/office/drawing/2014/main" id="{A035CF68-937C-449E-94D4-21C86E10FC6A}"/>
              </a:ext>
            </a:extLst>
          </p:cNvPr>
          <p:cNvSpPr>
            <a:spLocks noGrp="1"/>
          </p:cNvSpPr>
          <p:nvPr>
            <p:ph idx="1"/>
          </p:nvPr>
        </p:nvSpPr>
        <p:spPr>
          <a:xfrm>
            <a:off x="785813" y="1341438"/>
            <a:ext cx="3349307" cy="3943350"/>
          </a:xfrm>
        </p:spPr>
        <p:txBody>
          <a:bodyPr>
            <a:normAutofit/>
          </a:bodyPr>
          <a:lstStyle/>
          <a:p>
            <a:r>
              <a:rPr sz="2100"/>
              <a:t>Tendency for people to escalate commitment to a course of action in which they have made substantial prior investments of time, money, or other resources (investments that are irreversible).  </a:t>
            </a:r>
          </a:p>
          <a:p>
            <a:endParaRPr sz="750"/>
          </a:p>
        </p:txBody>
      </p:sp>
      <p:sp>
        <p:nvSpPr>
          <p:cNvPr id="5" name="Slide Number Placeholder 4">
            <a:extLst>
              <a:ext uri="{FF2B5EF4-FFF2-40B4-BE49-F238E27FC236}">
                <a16:creationId xmlns:a16="http://schemas.microsoft.com/office/drawing/2014/main" id="{8010442B-9EB4-4DA5-8BCC-3B1866306F2B}"/>
              </a:ext>
            </a:extLst>
          </p:cNvPr>
          <p:cNvSpPr>
            <a:spLocks noGrp="1"/>
          </p:cNvSpPr>
          <p:nvPr>
            <p:ph type="sldNum" idx="12"/>
          </p:nvPr>
        </p:nvSpPr>
        <p:spPr>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F99A269D-BEC2-4821-A6FB-2BC5BDF69232}" type="slidenum">
              <a:rPr/>
              <a:t>16</a:t>
            </a:fld>
            <a:endParaRPr/>
          </a:p>
        </p:txBody>
      </p:sp>
      <p:pic>
        <p:nvPicPr>
          <p:cNvPr id="16" name="Picture 7"/>
          <p:cNvPicPr>
            <a:picLocks noChangeAspect="1"/>
          </p:cNvPicPr>
          <p:nvPr/>
        </p:nvPicPr>
        <p:blipFill>
          <a:blip r:embed="rId3"/>
          <a:stretch>
            <a:fillRect/>
          </a:stretch>
        </p:blipFill>
        <p:spPr>
          <a:xfrm>
            <a:off x="5098811" y="1471296"/>
            <a:ext cx="3259376" cy="3153092"/>
          </a:xfrm>
          <a:prstGeom prst="rect">
            <a:avLst/>
          </a:prstGeom>
        </p:spPr>
      </p:pic>
      <p:sp>
        <p:nvSpPr>
          <p:cNvPr id="9" name="TextBox 8">
            <a:extLst>
              <a:ext uri="{FF2B5EF4-FFF2-40B4-BE49-F238E27FC236}">
                <a16:creationId xmlns:a16="http://schemas.microsoft.com/office/drawing/2014/main" id="{02BA6973-63F4-4BE9-B502-81BE309FF545}"/>
              </a:ext>
            </a:extLst>
          </p:cNvPr>
          <p:cNvSpPr>
            <a:spLocks noGrp="1"/>
          </p:cNvSpPr>
          <p:nvPr/>
        </p:nvSpPr>
        <p:spPr>
          <a:xfrm>
            <a:off x="1095057" y="5478264"/>
            <a:ext cx="7464743" cy="923330"/>
          </a:xfrm>
          <a:prstGeom prst="rect">
            <a:avLst/>
          </a:prstGeom>
          <a:noFill/>
        </p:spPr>
        <p:txBody>
          <a:bodyPr wrap="square">
            <a:spAutoFit/>
          </a:bodyPr>
          <a:lstStyle/>
          <a:p>
            <a:r>
              <a:rPr sz="1800" b="1">
                <a:solidFill>
                  <a:schemeClr val="tx1"/>
                </a:solidFill>
              </a:rPr>
              <a:t>TIP: Look for signs that you are overly committed to a failing venture. </a:t>
            </a:r>
            <a:r>
              <a:rPr b="1">
                <a:solidFill>
                  <a:schemeClr val="tx1"/>
                </a:solidFill>
              </a:rPr>
              <a:t>Remind yourself that sunk costs shouldn’t influence your decisions. </a:t>
            </a:r>
            <a:endParaRPr sz="1800" b="1">
              <a:solidFill>
                <a:schemeClr val="tx1"/>
              </a:solidFill>
            </a:endParaRPr>
          </a:p>
        </p:txBody>
      </p:sp>
    </p:spTree>
    <p:extLst>
      <p:ext uri="{BB962C8B-B14F-4D97-AF65-F5344CB8AC3E}">
        <p14:creationId xmlns:p14="http://schemas.microsoft.com/office/powerpoint/2010/main" val="633592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F31E-44F2-48A0-A024-6086D592A7FA}"/>
              </a:ext>
            </a:extLst>
          </p:cNvPr>
          <p:cNvSpPr>
            <a:spLocks noGrp="1"/>
          </p:cNvSpPr>
          <p:nvPr/>
        </p:nvSpPr>
        <p:spPr>
          <a:xfrm>
            <a:off x="599440" y="0"/>
            <a:ext cx="8544560"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2" name="Title 1">
            <a:extLst>
              <a:ext uri="{FF2B5EF4-FFF2-40B4-BE49-F238E27FC236}">
                <a16:creationId xmlns:a16="http://schemas.microsoft.com/office/drawing/2014/main" id="{F148C6C2-6FB7-4C9D-88E3-3F1FAC9BAD2A}"/>
              </a:ext>
            </a:extLst>
          </p:cNvPr>
          <p:cNvSpPr>
            <a:spLocks noGrp="1"/>
          </p:cNvSpPr>
          <p:nvPr>
            <p:ph type="title"/>
          </p:nvPr>
        </p:nvSpPr>
        <p:spPr/>
        <p:txBody>
          <a:bodyPr/>
          <a:lstStyle/>
          <a:p>
            <a:r>
              <a:t>Confirmation Bias</a:t>
            </a:r>
          </a:p>
        </p:txBody>
      </p:sp>
      <p:sp>
        <p:nvSpPr>
          <p:cNvPr id="3" name="Content Placeholder 2">
            <a:extLst>
              <a:ext uri="{FF2B5EF4-FFF2-40B4-BE49-F238E27FC236}">
                <a16:creationId xmlns:a16="http://schemas.microsoft.com/office/drawing/2014/main" id="{12203E2E-D4FF-458E-B082-FC81C197E457}"/>
              </a:ext>
            </a:extLst>
          </p:cNvPr>
          <p:cNvSpPr>
            <a:spLocks noGrp="1"/>
          </p:cNvSpPr>
          <p:nvPr>
            <p:ph idx="1"/>
          </p:nvPr>
        </p:nvSpPr>
        <p:spPr/>
        <p:txBody>
          <a:bodyPr/>
          <a:lstStyle/>
          <a:p>
            <a:r>
              <a:rPr b="1"/>
              <a:t>Confirmation bias: </a:t>
            </a:r>
            <a:r>
              <a:t>The tendency to seek information which confirms our theories or hypotheses, even when disconfirming evidence would be helpful. </a:t>
            </a:r>
          </a:p>
        </p:txBody>
      </p:sp>
      <p:sp>
        <p:nvSpPr>
          <p:cNvPr id="4" name="Slide Number Placeholder 3">
            <a:extLst>
              <a:ext uri="{FF2B5EF4-FFF2-40B4-BE49-F238E27FC236}">
                <a16:creationId xmlns:a16="http://schemas.microsoft.com/office/drawing/2014/main" id="{73881F15-3D48-46F8-9044-B9615A3914E0}"/>
              </a:ext>
            </a:extLst>
          </p:cNvPr>
          <p:cNvSpPr>
            <a:spLocks noGrp="1"/>
          </p:cNvSpPr>
          <p:nvPr>
            <p:ph type="sldNum" idx="12"/>
          </p:nvPr>
        </p:nvSpPr>
        <p:spPr/>
        <p:txBody>
          <a:bodyPr/>
          <a:lstStyle/>
          <a:p>
            <a:fld id="{36A9D662-D713-5945-9CA3-C981A7AC5439}" type="slidenum">
              <a:rPr/>
              <a:t>17</a:t>
            </a:fld>
            <a:endParaRPr/>
          </a:p>
        </p:txBody>
      </p:sp>
      <p:pic>
        <p:nvPicPr>
          <p:cNvPr id="15" name="Picture 4"/>
          <p:cNvPicPr>
            <a:picLocks noChangeAspect="1"/>
          </p:cNvPicPr>
          <p:nvPr/>
        </p:nvPicPr>
        <p:blipFill>
          <a:blip r:embed="rId3"/>
          <a:srcRect/>
          <a:stretch>
            <a:fillRect/>
          </a:stretch>
        </p:blipFill>
        <p:spPr>
          <a:xfrm>
            <a:off x="4029075" y="2764473"/>
            <a:ext cx="2847975" cy="1609725"/>
          </a:xfrm>
          <a:prstGeom prst="rect">
            <a:avLst/>
          </a:prstGeom>
        </p:spPr>
      </p:pic>
      <p:sp>
        <p:nvSpPr>
          <p:cNvPr id="7" name="TextBox 6">
            <a:extLst>
              <a:ext uri="{FF2B5EF4-FFF2-40B4-BE49-F238E27FC236}">
                <a16:creationId xmlns:a16="http://schemas.microsoft.com/office/drawing/2014/main" id="{A7B9CFB8-E05A-4559-89D9-349E5471832A}"/>
              </a:ext>
            </a:extLst>
          </p:cNvPr>
          <p:cNvSpPr>
            <a:spLocks noGrp="1"/>
          </p:cNvSpPr>
          <p:nvPr/>
        </p:nvSpPr>
        <p:spPr>
          <a:xfrm>
            <a:off x="1341120" y="5508506"/>
            <a:ext cx="7051040" cy="369332"/>
          </a:xfrm>
          <a:prstGeom prst="rect">
            <a:avLst/>
          </a:prstGeom>
          <a:noFill/>
        </p:spPr>
        <p:txBody>
          <a:bodyPr wrap="square">
            <a:spAutoFit/>
          </a:bodyPr>
          <a:lstStyle/>
          <a:p>
            <a:r>
              <a:rPr sz="1800" b="1">
                <a:solidFill>
                  <a:schemeClr val="tx1"/>
                </a:solidFill>
                <a:latin typeface="+mn-lt"/>
                <a:ea typeface="+mn-lt"/>
                <a:cs typeface="+mn-lt"/>
              </a:rPr>
              <a:t>TIP: seek disconfirming information. </a:t>
            </a:r>
          </a:p>
        </p:txBody>
      </p:sp>
      <p:sp>
        <p:nvSpPr>
          <p:cNvPr id="9" name="TextBox 8">
            <a:extLst>
              <a:ext uri="{FF2B5EF4-FFF2-40B4-BE49-F238E27FC236}">
                <a16:creationId xmlns:a16="http://schemas.microsoft.com/office/drawing/2014/main" id="{0ED401BC-A684-4733-B689-FB1815A2D338}"/>
              </a:ext>
            </a:extLst>
          </p:cNvPr>
          <p:cNvSpPr>
            <a:spLocks noGrp="1"/>
          </p:cNvSpPr>
          <p:nvPr/>
        </p:nvSpPr>
        <p:spPr>
          <a:xfrm>
            <a:off x="4323080" y="4485084"/>
            <a:ext cx="4572000" cy="369332"/>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b="0" i="0">
                <a:solidFill>
                  <a:srgbClr val="C00000"/>
                </a:solidFill>
                <a:latin typeface="Roboto"/>
                <a:ea typeface="Roboto"/>
                <a:cs typeface="Roboto"/>
              </a:rPr>
              <a:t>Luca Parmitano- ESA</a:t>
            </a:r>
          </a:p>
        </p:txBody>
      </p:sp>
    </p:spTree>
    <p:extLst>
      <p:ext uri="{BB962C8B-B14F-4D97-AF65-F5344CB8AC3E}">
        <p14:creationId xmlns:p14="http://schemas.microsoft.com/office/powerpoint/2010/main" val="3421223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1297-5221-9B1B-C353-0F44E4BF5386}"/>
              </a:ext>
            </a:extLst>
          </p:cNvPr>
          <p:cNvSpPr>
            <a:spLocks noGrp="1"/>
          </p:cNvSpPr>
          <p:nvPr>
            <p:ph type="title"/>
          </p:nvPr>
        </p:nvSpPr>
        <p:spPr/>
        <p:txBody>
          <a:bodyPr/>
          <a:lstStyle/>
          <a:p>
            <a:r>
              <a:t>BioPasteur</a:t>
            </a:r>
          </a:p>
        </p:txBody>
      </p:sp>
      <p:sp>
        <p:nvSpPr>
          <p:cNvPr id="3" name="Content Placeholder 2">
            <a:extLst>
              <a:ext uri="{FF2B5EF4-FFF2-40B4-BE49-F238E27FC236}">
                <a16:creationId xmlns:a16="http://schemas.microsoft.com/office/drawing/2014/main" id="{DCB16CAB-B54E-026F-8886-E99133CB2801}"/>
              </a:ext>
            </a:extLst>
          </p:cNvPr>
          <p:cNvSpPr>
            <a:spLocks noGrp="1"/>
          </p:cNvSpPr>
          <p:nvPr>
            <p:ph idx="1"/>
          </p:nvPr>
        </p:nvSpPr>
        <p:spPr/>
        <p:txBody>
          <a:bodyPr/>
          <a:lstStyle/>
          <a:p>
            <a:r>
              <a:t>Discuss the case (including the Wes Anderson’s sampling procedure). </a:t>
            </a:r>
          </a:p>
          <a:p>
            <a:r>
              <a:t>Decide as a group- Would you recommend that Thompson &amp; Co. introduce Diastop? </a:t>
            </a:r>
          </a:p>
          <a:p>
            <a:pPr lvl="1">
              <a:buNone/>
            </a:pPr>
            <a:r>
              <a:t>Why or why not? </a:t>
            </a:r>
          </a:p>
          <a:p>
            <a:r>
              <a:t>Do you think you see any decision-making biases in there? </a:t>
            </a:r>
          </a:p>
        </p:txBody>
      </p:sp>
      <p:sp>
        <p:nvSpPr>
          <p:cNvPr id="4" name="Slide Number Placeholder 3">
            <a:extLst>
              <a:ext uri="{FF2B5EF4-FFF2-40B4-BE49-F238E27FC236}">
                <a16:creationId xmlns:a16="http://schemas.microsoft.com/office/drawing/2014/main" id="{28FF4B47-5863-D2F5-6005-F551FCE09B90}"/>
              </a:ext>
            </a:extLst>
          </p:cNvPr>
          <p:cNvSpPr>
            <a:spLocks noGrp="1"/>
          </p:cNvSpPr>
          <p:nvPr>
            <p:ph type="sldNum" idx="12"/>
          </p:nvPr>
        </p:nvSpPr>
        <p:spPr/>
        <p:txBody>
          <a:bodyPr/>
          <a:lstStyle/>
          <a:p>
            <a:fld id="{36A9D662-D713-5945-9CA3-C981A7AC5439}" type="slidenum">
              <a:rPr/>
              <a:t>18</a:t>
            </a:fld>
            <a:endParaRPr/>
          </a:p>
        </p:txBody>
      </p:sp>
    </p:spTree>
    <p:extLst>
      <p:ext uri="{BB962C8B-B14F-4D97-AF65-F5344CB8AC3E}">
        <p14:creationId xmlns:p14="http://schemas.microsoft.com/office/powerpoint/2010/main" val="4131904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D39D-322F-4A8E-8B0E-DDC0312D3ED7}"/>
              </a:ext>
            </a:extLst>
          </p:cNvPr>
          <p:cNvSpPr>
            <a:spLocks noGrp="1"/>
          </p:cNvSpPr>
          <p:nvPr>
            <p:ph type="title"/>
          </p:nvPr>
        </p:nvSpPr>
        <p:spPr/>
        <p:txBody>
          <a:bodyPr/>
          <a:lstStyle/>
          <a:p>
            <a:r>
              <a:t>BREAK</a:t>
            </a:r>
          </a:p>
        </p:txBody>
      </p:sp>
      <p:sp>
        <p:nvSpPr>
          <p:cNvPr id="3" name="Content Placeholder 2">
            <a:extLst>
              <a:ext uri="{FF2B5EF4-FFF2-40B4-BE49-F238E27FC236}">
                <a16:creationId xmlns:a16="http://schemas.microsoft.com/office/drawing/2014/main" id="{2F4F1D89-E9F0-4CCC-935A-33E8CC3DB7E7}"/>
              </a:ext>
            </a:extLst>
          </p:cNvPr>
          <p:cNvSpPr>
            <a:spLocks noGrp="1"/>
          </p:cNvSpPr>
          <p:nvPr>
            <p:ph idx="1"/>
          </p:nvPr>
        </p:nvSpPr>
        <p:spPr/>
        <p:txBody>
          <a:bodyPr/>
          <a:lstStyle/>
          <a:p>
            <a:endParaRPr/>
          </a:p>
        </p:txBody>
      </p:sp>
      <p:sp>
        <p:nvSpPr>
          <p:cNvPr id="4" name="Slide Number Placeholder 3">
            <a:extLst>
              <a:ext uri="{FF2B5EF4-FFF2-40B4-BE49-F238E27FC236}">
                <a16:creationId xmlns:a16="http://schemas.microsoft.com/office/drawing/2014/main" id="{26BBF939-5757-43D5-BC97-F77C0C59D4A9}"/>
              </a:ext>
            </a:extLst>
          </p:cNvPr>
          <p:cNvSpPr>
            <a:spLocks noGrp="1"/>
          </p:cNvSpPr>
          <p:nvPr>
            <p:ph type="sldNum" idx="12"/>
          </p:nvPr>
        </p:nvSpPr>
        <p:spPr/>
        <p:txBody>
          <a:bodyPr/>
          <a:lstStyle/>
          <a:p>
            <a:fld id="{36A9D662-D713-5945-9CA3-C981A7AC5439}" type="slidenum">
              <a:t>19</a:t>
            </a:fld>
            <a:endParaRPr/>
          </a:p>
        </p:txBody>
      </p:sp>
    </p:spTree>
    <p:extLst>
      <p:ext uri="{BB962C8B-B14F-4D97-AF65-F5344CB8AC3E}">
        <p14:creationId xmlns:p14="http://schemas.microsoft.com/office/powerpoint/2010/main" val="1073344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1297-5221-9B1B-C353-0F44E4BF5386}"/>
              </a:ext>
            </a:extLst>
          </p:cNvPr>
          <p:cNvSpPr>
            <a:spLocks noGrp="1"/>
          </p:cNvSpPr>
          <p:nvPr>
            <p:ph type="title"/>
          </p:nvPr>
        </p:nvSpPr>
        <p:spPr/>
        <p:txBody>
          <a:bodyPr/>
          <a:lstStyle/>
          <a:p>
            <a:r>
              <a:t>BioPasteur Debrief</a:t>
            </a:r>
          </a:p>
        </p:txBody>
      </p:sp>
      <p:sp>
        <p:nvSpPr>
          <p:cNvPr id="3" name="Content Placeholder 2">
            <a:extLst>
              <a:ext uri="{FF2B5EF4-FFF2-40B4-BE49-F238E27FC236}">
                <a16:creationId xmlns:a16="http://schemas.microsoft.com/office/drawing/2014/main" id="{DCB16CAB-B54E-026F-8886-E99133CB2801}"/>
              </a:ext>
            </a:extLst>
          </p:cNvPr>
          <p:cNvSpPr>
            <a:spLocks noGrp="1"/>
          </p:cNvSpPr>
          <p:nvPr>
            <p:ph idx="1"/>
          </p:nvPr>
        </p:nvSpPr>
        <p:spPr/>
        <p:txBody>
          <a:bodyPr>
            <a:normAutofit/>
          </a:bodyPr>
          <a:lstStyle/>
          <a:p>
            <a:r>
              <a:t>Diastop is probably not worth the risk. </a:t>
            </a:r>
          </a:p>
          <a:p>
            <a:pPr lvl="1">
              <a:buNone/>
            </a:pPr>
            <a:r>
              <a:t>It may be risky for older patients- data is unclear and suggests risk. </a:t>
            </a:r>
          </a:p>
          <a:p>
            <a:pPr lvl="2">
              <a:buNone/>
            </a:pPr>
            <a:r>
              <a:t>None of the tests give us good data on the interactions between age and dosage. </a:t>
            </a:r>
          </a:p>
          <a:p>
            <a:pPr lvl="2">
              <a:buNone/>
            </a:pPr>
            <a:r>
              <a:t>FDA’s test request (100 30 years with moderate diabetes)- does not assess the most high-risk groups. With varied dosage, sample would be small and unreliable. What we need are interactions between age, pre-existing conditions, and dosage in a larger sample. </a:t>
            </a:r>
          </a:p>
          <a:p>
            <a:pPr lvl="2">
              <a:buNone/>
            </a:pPr>
            <a:r>
              <a:t> Long-term effects? </a:t>
            </a:r>
          </a:p>
          <a:p>
            <a:pPr lvl="1">
              <a:buNone/>
            </a:pPr>
            <a:r>
              <a:t>An FDA recall would seriously negatively affect BioPasteur’s reputation. And FDA have previously recalled drugs for 1% hospitalization. Base rate of hospitalizations on initial trials is 3/1000, but risks for older people could be </a:t>
            </a:r>
            <a:r>
              <a:rPr b="1"/>
              <a:t>much </a:t>
            </a:r>
            <a:r>
              <a:t>higher.</a:t>
            </a:r>
          </a:p>
          <a:p>
            <a:pPr lvl="1">
              <a:buNone/>
            </a:pPr>
            <a:endParaRPr/>
          </a:p>
        </p:txBody>
      </p:sp>
      <p:sp>
        <p:nvSpPr>
          <p:cNvPr id="4" name="Slide Number Placeholder 3">
            <a:extLst>
              <a:ext uri="{FF2B5EF4-FFF2-40B4-BE49-F238E27FC236}">
                <a16:creationId xmlns:a16="http://schemas.microsoft.com/office/drawing/2014/main" id="{28FF4B47-5863-D2F5-6005-F551FCE09B90}"/>
              </a:ext>
            </a:extLst>
          </p:cNvPr>
          <p:cNvSpPr>
            <a:spLocks noGrp="1"/>
          </p:cNvSpPr>
          <p:nvPr>
            <p:ph type="sldNum" idx="12"/>
          </p:nvPr>
        </p:nvSpPr>
        <p:spPr/>
        <p:txBody>
          <a:bodyPr/>
          <a:lstStyle/>
          <a:p>
            <a:fld id="{36A9D662-D713-5945-9CA3-C981A7AC5439}" type="slidenum">
              <a:rPr/>
              <a:t>20</a:t>
            </a:fld>
            <a:endParaRPr/>
          </a:p>
        </p:txBody>
      </p:sp>
    </p:spTree>
    <p:extLst>
      <p:ext uri="{BB962C8B-B14F-4D97-AF65-F5344CB8AC3E}">
        <p14:creationId xmlns:p14="http://schemas.microsoft.com/office/powerpoint/2010/main" val="565128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1297-5221-9B1B-C353-0F44E4BF5386}"/>
              </a:ext>
            </a:extLst>
          </p:cNvPr>
          <p:cNvSpPr>
            <a:spLocks noGrp="1"/>
          </p:cNvSpPr>
          <p:nvPr>
            <p:ph type="title"/>
          </p:nvPr>
        </p:nvSpPr>
        <p:spPr/>
        <p:txBody>
          <a:bodyPr/>
          <a:lstStyle/>
          <a:p>
            <a:r>
              <a:t>BioPasteur Debrief- Biases Present</a:t>
            </a:r>
          </a:p>
        </p:txBody>
      </p:sp>
      <p:sp>
        <p:nvSpPr>
          <p:cNvPr id="3" name="Content Placeholder 2">
            <a:extLst>
              <a:ext uri="{FF2B5EF4-FFF2-40B4-BE49-F238E27FC236}">
                <a16:creationId xmlns:a16="http://schemas.microsoft.com/office/drawing/2014/main" id="{DCB16CAB-B54E-026F-8886-E99133CB2801}"/>
              </a:ext>
            </a:extLst>
          </p:cNvPr>
          <p:cNvSpPr>
            <a:spLocks noGrp="1"/>
          </p:cNvSpPr>
          <p:nvPr>
            <p:ph idx="1"/>
          </p:nvPr>
        </p:nvSpPr>
        <p:spPr/>
        <p:txBody>
          <a:bodyPr>
            <a:normAutofit/>
          </a:bodyPr>
          <a:lstStyle/>
          <a:p>
            <a:pPr marL="0" indent="0">
              <a:buNone/>
            </a:pPr>
            <a:endParaRPr/>
          </a:p>
          <a:p>
            <a:r>
              <a:rPr b="1"/>
              <a:t>Confirmation bias- </a:t>
            </a:r>
            <a:r>
              <a:t>FDA request for a second trial follows findings of initial trial (and is basically confirmatory), approval follows initial trials on a general population, Waitz and Hand follow FDA. </a:t>
            </a:r>
          </a:p>
          <a:p>
            <a:r>
              <a:rPr b="1"/>
              <a:t>Sunk costs/escalation of commitment- </a:t>
            </a:r>
            <a:r>
              <a:t>R&amp;D investment, marketing campaign has begun, already paid for initial operational costs. </a:t>
            </a:r>
          </a:p>
          <a:p>
            <a:r>
              <a:rPr b="1"/>
              <a:t>Anchoring effects- </a:t>
            </a:r>
            <a:r>
              <a:t>an expected $70 million profit…</a:t>
            </a:r>
          </a:p>
        </p:txBody>
      </p:sp>
      <p:sp>
        <p:nvSpPr>
          <p:cNvPr id="4" name="Slide Number Placeholder 3">
            <a:extLst>
              <a:ext uri="{FF2B5EF4-FFF2-40B4-BE49-F238E27FC236}">
                <a16:creationId xmlns:a16="http://schemas.microsoft.com/office/drawing/2014/main" id="{28FF4B47-5863-D2F5-6005-F551FCE09B90}"/>
              </a:ext>
            </a:extLst>
          </p:cNvPr>
          <p:cNvSpPr>
            <a:spLocks noGrp="1"/>
          </p:cNvSpPr>
          <p:nvPr>
            <p:ph type="sldNum" idx="12"/>
          </p:nvPr>
        </p:nvSpPr>
        <p:spPr/>
        <p:txBody>
          <a:bodyPr/>
          <a:lstStyle/>
          <a:p>
            <a:fld id="{36A9D662-D713-5945-9CA3-C981A7AC5439}" type="slidenum">
              <a:t>21</a:t>
            </a:fld>
            <a:endParaRPr/>
          </a:p>
        </p:txBody>
      </p:sp>
    </p:spTree>
    <p:extLst>
      <p:ext uri="{BB962C8B-B14F-4D97-AF65-F5344CB8AC3E}">
        <p14:creationId xmlns:p14="http://schemas.microsoft.com/office/powerpoint/2010/main" val="809710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BE337-748E-3B59-18FB-9063AB5894EE}"/>
              </a:ext>
            </a:extLst>
          </p:cNvPr>
          <p:cNvSpPr>
            <a:spLocks noGrp="1"/>
          </p:cNvSpPr>
          <p:nvPr>
            <p:ph type="title"/>
          </p:nvPr>
        </p:nvSpPr>
        <p:spPr/>
        <p:txBody>
          <a:bodyPr/>
          <a:lstStyle/>
          <a:p>
            <a:r>
              <a:t>Wes Anderson Sampling Procedure. </a:t>
            </a:r>
          </a:p>
        </p:txBody>
      </p:sp>
      <p:sp>
        <p:nvSpPr>
          <p:cNvPr id="4" name="Slide Number Placeholder 3">
            <a:extLst>
              <a:ext uri="{FF2B5EF4-FFF2-40B4-BE49-F238E27FC236}">
                <a16:creationId xmlns:a16="http://schemas.microsoft.com/office/drawing/2014/main" id="{AEAC0F2A-56FE-617F-9BB0-533AE4EB56D4}"/>
              </a:ext>
            </a:extLst>
          </p:cNvPr>
          <p:cNvSpPr>
            <a:spLocks noGrp="1"/>
          </p:cNvSpPr>
          <p:nvPr>
            <p:ph type="sldNum" idx="12"/>
          </p:nvPr>
        </p:nvSpPr>
        <p:spPr/>
        <p:txBody>
          <a:bodyPr/>
          <a:lstStyle/>
          <a:p>
            <a:fld id="{36A9D662-D713-5945-9CA3-C981A7AC5439}" type="slidenum">
              <a:t>22</a:t>
            </a:fld>
            <a:endParaRPr/>
          </a:p>
        </p:txBody>
      </p:sp>
      <p:graphicFrame>
        <p:nvGraphicFramePr>
          <p:cNvPr id="8" name="Content Placeholder 9"/>
          <p:cNvGraphicFramePr/>
          <p:nvPr/>
        </p:nvGraphicFramePr>
        <p:xfrm>
          <a:off x="628650" y="2249424"/>
          <a:ext cx="7418071" cy="4046220"/>
        </p:xfrm>
        <a:graphic>
          <a:graphicData uri="http://schemas.openxmlformats.org/drawingml/2006/table">
            <a:tbl>
              <a:tblPr firstRow="1" firstCol="1" bandRow="1"/>
              <a:tblGrid>
                <a:gridCol w="1864189">
                  <a:extLst>
                    <a:ext uri="{9D8B030D-6E8A-4147-A177-3AD203B41FA5}">
                      <a16:colId xmlns:a16="http://schemas.microsoft.com/office/drawing/2014/main" val="20000"/>
                    </a:ext>
                  </a:extLst>
                </a:gridCol>
                <a:gridCol w="1955546">
                  <a:extLst>
                    <a:ext uri="{9D8B030D-6E8A-4147-A177-3AD203B41FA5}">
                      <a16:colId xmlns:a16="http://schemas.microsoft.com/office/drawing/2014/main" val="20001"/>
                    </a:ext>
                  </a:extLst>
                </a:gridCol>
                <a:gridCol w="1821390">
                  <a:extLst>
                    <a:ext uri="{9D8B030D-6E8A-4147-A177-3AD203B41FA5}">
                      <a16:colId xmlns:a16="http://schemas.microsoft.com/office/drawing/2014/main" val="20002"/>
                    </a:ext>
                  </a:extLst>
                </a:gridCol>
                <a:gridCol w="1776946">
                  <a:extLst>
                    <a:ext uri="{9D8B030D-6E8A-4147-A177-3AD203B41FA5}">
                      <a16:colId xmlns:a16="http://schemas.microsoft.com/office/drawing/2014/main" val="20003"/>
                    </a:ext>
                  </a:extLst>
                </a:gridCol>
              </a:tblGrid>
              <a:tr h="305562">
                <a:tc>
                  <a:txBody>
                    <a:bodyPr/>
                    <a:lstStyle/>
                    <a:p>
                      <a:pPr>
                        <a:lnSpc>
                          <a:spcPct val="107000"/>
                        </a:lnSpc>
                        <a:spcAft>
                          <a:spcPts val="800"/>
                        </a:spcAft>
                        <a:buNone/>
                      </a:pPr>
                      <a:r>
                        <a:rPr sz="2000" b="0">
                          <a:latin typeface="Times New Roman"/>
                          <a:ea typeface="Times New Roman"/>
                          <a:cs typeface="Times New Roman"/>
                        </a:rPr>
                        <a:t>Age</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Number of subjects</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N Complications</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 Complications</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0"/>
                  </a:ext>
                </a:extLst>
              </a:tr>
              <a:tr h="305562">
                <a:tc>
                  <a:txBody>
                    <a:bodyPr/>
                    <a:lstStyle/>
                    <a:p>
                      <a:pPr>
                        <a:lnSpc>
                          <a:spcPct val="107000"/>
                        </a:lnSpc>
                        <a:spcAft>
                          <a:spcPts val="800"/>
                        </a:spcAft>
                        <a:buNone/>
                      </a:pPr>
                      <a:r>
                        <a:rPr sz="2000" b="0">
                          <a:latin typeface="Times New Roman"/>
                          <a:ea typeface="Times New Roman"/>
                          <a:cs typeface="Times New Roman"/>
                        </a:rPr>
                        <a:t>20-25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6</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3</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1"/>
                  </a:ext>
                </a:extLst>
              </a:tr>
              <a:tr h="305562">
                <a:tc>
                  <a:txBody>
                    <a:bodyPr/>
                    <a:lstStyle/>
                    <a:p>
                      <a:pPr>
                        <a:lnSpc>
                          <a:spcPct val="107000"/>
                        </a:lnSpc>
                        <a:spcAft>
                          <a:spcPts val="800"/>
                        </a:spcAft>
                        <a:buNone/>
                      </a:pPr>
                      <a:r>
                        <a:rPr sz="2000" b="0">
                          <a:latin typeface="Times New Roman"/>
                          <a:ea typeface="Times New Roman"/>
                          <a:cs typeface="Times New Roman"/>
                        </a:rPr>
                        <a:t>25-30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2"/>
                  </a:ext>
                </a:extLst>
              </a:tr>
              <a:tr h="305562">
                <a:tc>
                  <a:txBody>
                    <a:bodyPr/>
                    <a:lstStyle/>
                    <a:p>
                      <a:pPr>
                        <a:lnSpc>
                          <a:spcPct val="107000"/>
                        </a:lnSpc>
                        <a:spcAft>
                          <a:spcPts val="800"/>
                        </a:spcAft>
                        <a:buNone/>
                      </a:pPr>
                      <a:r>
                        <a:rPr sz="2000" b="0">
                          <a:latin typeface="Times New Roman"/>
                          <a:ea typeface="Times New Roman"/>
                          <a:cs typeface="Times New Roman"/>
                        </a:rPr>
                        <a:t>30-35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3"/>
                  </a:ext>
                </a:extLst>
              </a:tr>
              <a:tr h="305562">
                <a:tc>
                  <a:txBody>
                    <a:bodyPr/>
                    <a:lstStyle/>
                    <a:p>
                      <a:pPr>
                        <a:lnSpc>
                          <a:spcPct val="107000"/>
                        </a:lnSpc>
                        <a:spcAft>
                          <a:spcPts val="800"/>
                        </a:spcAft>
                        <a:buNone/>
                      </a:pPr>
                      <a:r>
                        <a:rPr sz="2000" b="0">
                          <a:latin typeface="Times New Roman"/>
                          <a:ea typeface="Times New Roman"/>
                          <a:cs typeface="Times New Roman"/>
                        </a:rPr>
                        <a:t>35-40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3</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1.5</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4"/>
                  </a:ext>
                </a:extLst>
              </a:tr>
              <a:tr h="305562">
                <a:tc>
                  <a:txBody>
                    <a:bodyPr/>
                    <a:lstStyle/>
                    <a:p>
                      <a:pPr>
                        <a:lnSpc>
                          <a:spcPct val="107000"/>
                        </a:lnSpc>
                        <a:spcAft>
                          <a:spcPts val="800"/>
                        </a:spcAft>
                        <a:buNone/>
                      </a:pPr>
                      <a:r>
                        <a:rPr sz="2000" b="0">
                          <a:latin typeface="Times New Roman"/>
                          <a:ea typeface="Times New Roman"/>
                          <a:cs typeface="Times New Roman"/>
                        </a:rPr>
                        <a:t>40-45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70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3</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4.3</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5"/>
                  </a:ext>
                </a:extLst>
              </a:tr>
              <a:tr h="305562">
                <a:tc>
                  <a:txBody>
                    <a:bodyPr/>
                    <a:lstStyle/>
                    <a:p>
                      <a:pPr>
                        <a:lnSpc>
                          <a:spcPct val="107000"/>
                        </a:lnSpc>
                        <a:spcAft>
                          <a:spcPts val="800"/>
                        </a:spcAft>
                        <a:buNone/>
                      </a:pPr>
                      <a:r>
                        <a:rPr sz="2000" b="0">
                          <a:latin typeface="Times New Roman"/>
                          <a:ea typeface="Times New Roman"/>
                          <a:cs typeface="Times New Roman"/>
                        </a:rPr>
                        <a:t>45-50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30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3</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10</a:t>
                      </a:r>
                      <a:endParaRPr sz="2000" b="0" kern="100">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6"/>
                  </a:ext>
                </a:extLst>
              </a:tr>
              <a:tr h="305562">
                <a:tc>
                  <a:txBody>
                    <a:bodyPr/>
                    <a:lstStyle/>
                    <a:p>
                      <a:pPr>
                        <a:lnSpc>
                          <a:spcPct val="107000"/>
                        </a:lnSpc>
                        <a:spcAft>
                          <a:spcPts val="800"/>
                        </a:spcAft>
                        <a:buNone/>
                      </a:pPr>
                      <a:r>
                        <a:rPr sz="2000" b="0">
                          <a:latin typeface="Times New Roman"/>
                          <a:ea typeface="Times New Roman"/>
                          <a:cs typeface="Times New Roman"/>
                        </a:rPr>
                        <a:t>50-55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1">
                          <a:highlight>
                            <a:srgbClr val="FFFF00"/>
                          </a:highlight>
                          <a:latin typeface="Times New Roman"/>
                          <a:ea typeface="Times New Roman"/>
                          <a:cs typeface="Times New Roman"/>
                        </a:rPr>
                        <a:t>20</a:t>
                      </a:r>
                      <a:endParaRPr sz="2000" b="1" kern="100">
                        <a:highlight>
                          <a:srgbClr val="FFFF00"/>
                        </a:highlight>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7"/>
                  </a:ext>
                </a:extLst>
              </a:tr>
              <a:tr h="305562">
                <a:tc>
                  <a:txBody>
                    <a:bodyPr/>
                    <a:lstStyle/>
                    <a:p>
                      <a:pPr>
                        <a:lnSpc>
                          <a:spcPct val="107000"/>
                        </a:lnSpc>
                        <a:spcAft>
                          <a:spcPts val="800"/>
                        </a:spcAft>
                        <a:buNone/>
                      </a:pPr>
                      <a:r>
                        <a:rPr sz="2000" b="0">
                          <a:latin typeface="Times New Roman"/>
                          <a:ea typeface="Times New Roman"/>
                          <a:cs typeface="Times New Roman"/>
                        </a:rPr>
                        <a:t>55-60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1">
                          <a:highlight>
                            <a:srgbClr val="FFFF00"/>
                          </a:highlight>
                          <a:latin typeface="Times New Roman"/>
                          <a:ea typeface="Times New Roman"/>
                          <a:cs typeface="Times New Roman"/>
                        </a:rPr>
                        <a:t>20</a:t>
                      </a:r>
                      <a:endParaRPr sz="2000" b="1" kern="100">
                        <a:highlight>
                          <a:srgbClr val="FFFF00"/>
                        </a:highlight>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8"/>
                  </a:ext>
                </a:extLst>
              </a:tr>
              <a:tr h="305562">
                <a:tc>
                  <a:txBody>
                    <a:bodyPr/>
                    <a:lstStyle/>
                    <a:p>
                      <a:pPr>
                        <a:lnSpc>
                          <a:spcPct val="107000"/>
                        </a:lnSpc>
                        <a:spcAft>
                          <a:spcPts val="800"/>
                        </a:spcAft>
                        <a:buNone/>
                      </a:pPr>
                      <a:r>
                        <a:rPr sz="2000" b="0">
                          <a:latin typeface="Times New Roman"/>
                          <a:ea typeface="Times New Roman"/>
                          <a:cs typeface="Times New Roman"/>
                        </a:rPr>
                        <a:t>60-65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1">
                          <a:highlight>
                            <a:srgbClr val="FFFF00"/>
                          </a:highlight>
                          <a:latin typeface="Times New Roman"/>
                          <a:ea typeface="Times New Roman"/>
                          <a:cs typeface="Times New Roman"/>
                        </a:rPr>
                        <a:t>25</a:t>
                      </a:r>
                      <a:endParaRPr sz="2000" b="1" kern="100">
                        <a:highlight>
                          <a:srgbClr val="FFFF00"/>
                        </a:highlight>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9"/>
                  </a:ext>
                </a:extLst>
              </a:tr>
              <a:tr h="305562">
                <a:tc>
                  <a:txBody>
                    <a:bodyPr/>
                    <a:lstStyle/>
                    <a:p>
                      <a:pPr>
                        <a:lnSpc>
                          <a:spcPct val="107000"/>
                        </a:lnSpc>
                        <a:spcAft>
                          <a:spcPts val="800"/>
                        </a:spcAft>
                        <a:buNone/>
                      </a:pPr>
                      <a:r>
                        <a:rPr sz="2000" b="0">
                          <a:latin typeface="Times New Roman"/>
                          <a:ea typeface="Times New Roman"/>
                          <a:cs typeface="Times New Roman"/>
                        </a:rPr>
                        <a:t>65-70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4</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1">
                          <a:highlight>
                            <a:srgbClr val="FFFF00"/>
                          </a:highlight>
                          <a:latin typeface="Times New Roman"/>
                          <a:ea typeface="Times New Roman"/>
                          <a:cs typeface="Times New Roman"/>
                        </a:rPr>
                        <a:t>20</a:t>
                      </a:r>
                      <a:endParaRPr sz="2000" b="1" kern="100">
                        <a:highlight>
                          <a:srgbClr val="FFFF00"/>
                        </a:highlight>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10"/>
                  </a:ext>
                </a:extLst>
              </a:tr>
              <a:tr h="305562">
                <a:tc>
                  <a:txBody>
                    <a:bodyPr/>
                    <a:lstStyle/>
                    <a:p>
                      <a:pPr>
                        <a:lnSpc>
                          <a:spcPct val="107000"/>
                        </a:lnSpc>
                        <a:spcAft>
                          <a:spcPts val="800"/>
                        </a:spcAft>
                        <a:buNone/>
                      </a:pPr>
                      <a:r>
                        <a:rPr sz="2000" b="0">
                          <a:latin typeface="Times New Roman"/>
                          <a:ea typeface="Times New Roman"/>
                          <a:cs typeface="Times New Roman"/>
                        </a:rPr>
                        <a:t>70-75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20</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0">
                          <a:latin typeface="Times New Roman"/>
                          <a:ea typeface="Times New Roman"/>
                          <a:cs typeface="Times New Roman"/>
                        </a:rPr>
                        <a:t>5</a:t>
                      </a:r>
                      <a:endParaRPr sz="2000" b="0" kern="100">
                        <a:latin typeface="Calibri"/>
                        <a:ea typeface="Calibri"/>
                        <a:cs typeface="Calibri"/>
                      </a:endParaRPr>
                    </a:p>
                  </a:txBody>
                  <a:tcPr marL="68580" marR="6858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800"/>
                        </a:spcAft>
                        <a:buNone/>
                      </a:pPr>
                      <a:r>
                        <a:rPr sz="2000" b="1">
                          <a:highlight>
                            <a:srgbClr val="FFFF00"/>
                          </a:highlight>
                          <a:latin typeface="Times New Roman"/>
                          <a:ea typeface="Times New Roman"/>
                          <a:cs typeface="Times New Roman"/>
                        </a:rPr>
                        <a:t>25</a:t>
                      </a:r>
                      <a:endParaRPr sz="2000" b="1" kern="100">
                        <a:highlight>
                          <a:srgbClr val="FFFF00"/>
                        </a:highlight>
                        <a:latin typeface="Calibri"/>
                        <a:ea typeface="Calibri"/>
                        <a:cs typeface="Calibri"/>
                      </a:endParaRPr>
                    </a:p>
                  </a:txBody>
                  <a:tcPr marL="68580" marR="68580" marT="0" marB="0" anchor="b">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737810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35C-F4C9-44C5-A382-62B3516ADE6D}"/>
              </a:ext>
            </a:extLst>
          </p:cNvPr>
          <p:cNvSpPr>
            <a:spLocks noGrp="1"/>
          </p:cNvSpPr>
          <p:nvPr>
            <p:ph type="title"/>
          </p:nvPr>
        </p:nvSpPr>
        <p:spPr/>
        <p:txBody>
          <a:bodyPr/>
          <a:lstStyle/>
          <a:p>
            <a:r>
              <a:t>Making Better Decisions</a:t>
            </a:r>
          </a:p>
        </p:txBody>
      </p:sp>
      <p:sp>
        <p:nvSpPr>
          <p:cNvPr id="3" name="Content Placeholder 2">
            <a:extLst>
              <a:ext uri="{FF2B5EF4-FFF2-40B4-BE49-F238E27FC236}">
                <a16:creationId xmlns:a16="http://schemas.microsoft.com/office/drawing/2014/main" id="{5C71DFCC-681C-4758-B611-BC60FE2D5824}"/>
              </a:ext>
            </a:extLst>
          </p:cNvPr>
          <p:cNvSpPr>
            <a:spLocks noGrp="1"/>
          </p:cNvSpPr>
          <p:nvPr>
            <p:ph idx="1"/>
          </p:nvPr>
        </p:nvSpPr>
        <p:spPr/>
        <p:txBody>
          <a:bodyPr/>
          <a:lstStyle/>
          <a:p>
            <a:pPr marL="457200" indent="-457200">
              <a:buAutoNum type="arabicPeriod"/>
            </a:pPr>
            <a:r>
              <a:t>Harness System 1</a:t>
            </a:r>
          </a:p>
          <a:p>
            <a:pPr marL="857250" lvl="1" indent="-457200">
              <a:buAutoNum type="arabicPeriod"/>
            </a:pPr>
            <a:r>
              <a:rPr sz="2000"/>
              <a:t>Nudges (Thaler &amp; Sunstein, 2008)</a:t>
            </a:r>
          </a:p>
          <a:p>
            <a:pPr marL="1257300" lvl="2" indent="-457200">
              <a:buAutoNum type="arabicPeriod"/>
            </a:pPr>
            <a:r>
              <a:rPr sz="2000"/>
              <a:t>Use emotions to improve motivation and decisions</a:t>
            </a:r>
          </a:p>
          <a:p>
            <a:pPr marL="1257300" lvl="2" indent="-457200">
              <a:buAutoNum type="arabicPeriod"/>
            </a:pPr>
            <a:r>
              <a:rPr sz="2000"/>
              <a:t>Harness cognitive bias to improve decisions</a:t>
            </a:r>
          </a:p>
        </p:txBody>
      </p:sp>
      <p:sp>
        <p:nvSpPr>
          <p:cNvPr id="4" name="Slide Number Placeholder 3">
            <a:extLst>
              <a:ext uri="{FF2B5EF4-FFF2-40B4-BE49-F238E27FC236}">
                <a16:creationId xmlns:a16="http://schemas.microsoft.com/office/drawing/2014/main" id="{311E78A5-7F5F-4213-B2CA-602A20B1D70E}"/>
              </a:ext>
            </a:extLst>
          </p:cNvPr>
          <p:cNvSpPr>
            <a:spLocks noGrp="1"/>
          </p:cNvSpPr>
          <p:nvPr>
            <p:ph type="sldNum" idx="12"/>
          </p:nvPr>
        </p:nvSpPr>
        <p:spPr/>
        <p:txBody>
          <a:bodyPr/>
          <a:lstStyle/>
          <a:p>
            <a:fld id="{36A9D662-D713-5945-9CA3-C981A7AC5439}" type="slidenum">
              <a:rPr/>
              <a:t>23</a:t>
            </a:fld>
            <a:endParaRPr/>
          </a:p>
        </p:txBody>
      </p:sp>
    </p:spTree>
    <p:extLst>
      <p:ext uri="{BB962C8B-B14F-4D97-AF65-F5344CB8AC3E}">
        <p14:creationId xmlns:p14="http://schemas.microsoft.com/office/powerpoint/2010/main" val="1591841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DA924-32B5-477B-8FE8-C4F9531BF0BE}"/>
              </a:ext>
            </a:extLst>
          </p:cNvPr>
          <p:cNvSpPr>
            <a:spLocks noGrp="1"/>
          </p:cNvSpPr>
          <p:nvPr>
            <p:ph type="title"/>
          </p:nvPr>
        </p:nvSpPr>
        <p:spPr/>
        <p:txBody>
          <a:bodyPr/>
          <a:lstStyle/>
          <a:p>
            <a:r>
              <a:t>Making Better Decisions</a:t>
            </a:r>
          </a:p>
        </p:txBody>
      </p:sp>
      <p:sp>
        <p:nvSpPr>
          <p:cNvPr id="3" name="Content Placeholder 2">
            <a:extLst>
              <a:ext uri="{FF2B5EF4-FFF2-40B4-BE49-F238E27FC236}">
                <a16:creationId xmlns:a16="http://schemas.microsoft.com/office/drawing/2014/main" id="{42BD8797-21DD-46D2-99F6-4B24C057D37C}"/>
              </a:ext>
            </a:extLst>
          </p:cNvPr>
          <p:cNvSpPr>
            <a:spLocks noGrp="1"/>
          </p:cNvSpPr>
          <p:nvPr>
            <p:ph idx="1"/>
          </p:nvPr>
        </p:nvSpPr>
        <p:spPr/>
        <p:txBody>
          <a:bodyPr/>
          <a:lstStyle/>
          <a:p>
            <a:pPr marL="457200" indent="-457200">
              <a:buAutoNum type="arabicPeriod"/>
            </a:pPr>
            <a:r>
              <a:t>Leverage System 2 thinking</a:t>
            </a:r>
          </a:p>
          <a:p>
            <a:pPr marL="857250" lvl="1" indent="-457200">
              <a:buAutoNum type="arabicPeriod"/>
            </a:pPr>
            <a:r>
              <a:rPr sz="2000"/>
              <a:t>Use joint evaluation (this also works in combatting hiring discrimination)</a:t>
            </a:r>
          </a:p>
          <a:p>
            <a:pPr marL="857250" lvl="1" indent="-457200">
              <a:buAutoNum type="arabicPeriod"/>
            </a:pPr>
            <a:r>
              <a:rPr sz="2000"/>
              <a:t>Reflect</a:t>
            </a:r>
          </a:p>
          <a:p>
            <a:pPr marL="857250" lvl="1" indent="-457200">
              <a:buAutoNum type="arabicPeriod"/>
            </a:pPr>
            <a:r>
              <a:rPr sz="2000"/>
              <a:t>Get feedback</a:t>
            </a:r>
          </a:p>
          <a:p>
            <a:pPr marL="857250" lvl="1" indent="-457200">
              <a:buAutoNum type="arabicPeriod"/>
            </a:pPr>
            <a:r>
              <a:rPr sz="2000"/>
              <a:t>Increase accountability</a:t>
            </a:r>
          </a:p>
          <a:p>
            <a:pPr marL="857250" lvl="1" indent="-457200">
              <a:buAutoNum type="arabicPeriod"/>
            </a:pPr>
            <a:endParaRPr/>
          </a:p>
          <a:p>
            <a:pPr marL="457200" indent="-457200">
              <a:buAutoNum type="arabicPeriod"/>
            </a:pPr>
            <a:endParaRPr/>
          </a:p>
        </p:txBody>
      </p:sp>
      <p:sp>
        <p:nvSpPr>
          <p:cNvPr id="4" name="Slide Number Placeholder 3">
            <a:extLst>
              <a:ext uri="{FF2B5EF4-FFF2-40B4-BE49-F238E27FC236}">
                <a16:creationId xmlns:a16="http://schemas.microsoft.com/office/drawing/2014/main" id="{A5E13DBD-AA07-43A9-A3FC-2CCE9FCCBD48}"/>
              </a:ext>
            </a:extLst>
          </p:cNvPr>
          <p:cNvSpPr>
            <a:spLocks noGrp="1"/>
          </p:cNvSpPr>
          <p:nvPr>
            <p:ph type="sldNum" idx="12"/>
          </p:nvPr>
        </p:nvSpPr>
        <p:spPr/>
        <p:txBody>
          <a:bodyPr/>
          <a:lstStyle/>
          <a:p>
            <a:fld id="{36A9D662-D713-5945-9CA3-C981A7AC5439}" type="slidenum">
              <a:rPr/>
              <a:t>24</a:t>
            </a:fld>
            <a:endParaRPr/>
          </a:p>
        </p:txBody>
      </p:sp>
    </p:spTree>
    <p:extLst>
      <p:ext uri="{BB962C8B-B14F-4D97-AF65-F5344CB8AC3E}">
        <p14:creationId xmlns:p14="http://schemas.microsoft.com/office/powerpoint/2010/main" val="2875271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DA924-32B5-477B-8FE8-C4F9531BF0BE}"/>
              </a:ext>
            </a:extLst>
          </p:cNvPr>
          <p:cNvSpPr>
            <a:spLocks noGrp="1"/>
          </p:cNvSpPr>
          <p:nvPr>
            <p:ph type="title"/>
          </p:nvPr>
        </p:nvSpPr>
        <p:spPr/>
        <p:txBody>
          <a:bodyPr/>
          <a:lstStyle/>
          <a:p>
            <a:r>
              <a:t>Making Better Decisions</a:t>
            </a:r>
          </a:p>
        </p:txBody>
      </p:sp>
      <p:sp>
        <p:nvSpPr>
          <p:cNvPr id="3" name="Content Placeholder 2">
            <a:extLst>
              <a:ext uri="{FF2B5EF4-FFF2-40B4-BE49-F238E27FC236}">
                <a16:creationId xmlns:a16="http://schemas.microsoft.com/office/drawing/2014/main" id="{42BD8797-21DD-46D2-99F6-4B24C057D37C}"/>
              </a:ext>
            </a:extLst>
          </p:cNvPr>
          <p:cNvSpPr>
            <a:spLocks noGrp="1"/>
          </p:cNvSpPr>
          <p:nvPr>
            <p:ph idx="1"/>
          </p:nvPr>
        </p:nvSpPr>
        <p:spPr/>
        <p:txBody>
          <a:bodyPr/>
          <a:lstStyle/>
          <a:p>
            <a:pPr marL="457200" indent="-457200">
              <a:buAutoNum type="arabicPeriod"/>
            </a:pPr>
            <a:r>
              <a:t>Bypass System 1 and System 2 </a:t>
            </a:r>
          </a:p>
          <a:p>
            <a:pPr marL="857250" lvl="1" indent="-457200">
              <a:buAutoNum type="arabicPeriod"/>
            </a:pPr>
            <a:r>
              <a:rPr sz="2000"/>
              <a:t>Create defaults that are more effective</a:t>
            </a:r>
          </a:p>
          <a:p>
            <a:pPr marL="857250" lvl="1" indent="-457200">
              <a:buAutoNum type="arabicPeriod"/>
            </a:pPr>
            <a:r>
              <a:rPr sz="2000"/>
              <a:t>Create choice architecture systems to combat bias</a:t>
            </a:r>
          </a:p>
          <a:p>
            <a:pPr marL="857250" lvl="1" indent="-457200">
              <a:buAutoNum type="arabicPeriod"/>
            </a:pPr>
            <a:endParaRPr sz="2000"/>
          </a:p>
          <a:p>
            <a:pPr marL="857250" lvl="1" indent="-457200">
              <a:buAutoNum type="arabicPeriod"/>
            </a:pPr>
            <a:endParaRPr sz="2000"/>
          </a:p>
          <a:p>
            <a:pPr marL="57150" indent="0">
              <a:buNone/>
            </a:pPr>
            <a:endParaRPr sz="2300"/>
          </a:p>
          <a:p>
            <a:pPr marL="857250" lvl="1" indent="-457200">
              <a:buAutoNum type="arabicPeriod"/>
            </a:pPr>
            <a:endParaRPr/>
          </a:p>
          <a:p>
            <a:pPr marL="457200" indent="-457200">
              <a:buAutoNum type="arabicPeriod"/>
            </a:pPr>
            <a:endParaRPr/>
          </a:p>
        </p:txBody>
      </p:sp>
      <p:sp>
        <p:nvSpPr>
          <p:cNvPr id="4" name="Slide Number Placeholder 3">
            <a:extLst>
              <a:ext uri="{FF2B5EF4-FFF2-40B4-BE49-F238E27FC236}">
                <a16:creationId xmlns:a16="http://schemas.microsoft.com/office/drawing/2014/main" id="{A5E13DBD-AA07-43A9-A3FC-2CCE9FCCBD48}"/>
              </a:ext>
            </a:extLst>
          </p:cNvPr>
          <p:cNvSpPr>
            <a:spLocks noGrp="1"/>
          </p:cNvSpPr>
          <p:nvPr>
            <p:ph type="sldNum" idx="12"/>
          </p:nvPr>
        </p:nvSpPr>
        <p:spPr/>
        <p:txBody>
          <a:bodyPr/>
          <a:lstStyle/>
          <a:p>
            <a:fld id="{36A9D662-D713-5945-9CA3-C981A7AC5439}" type="slidenum">
              <a:t>25</a:t>
            </a:fld>
            <a:endParaRPr/>
          </a:p>
        </p:txBody>
      </p:sp>
    </p:spTree>
    <p:extLst>
      <p:ext uri="{BB962C8B-B14F-4D97-AF65-F5344CB8AC3E}">
        <p14:creationId xmlns:p14="http://schemas.microsoft.com/office/powerpoint/2010/main" val="2079826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A0EB3C5-DB91-4113-9392-33B1F0101C71}"/>
              </a:ext>
            </a:extLst>
          </p:cNvPr>
          <p:cNvSpPr>
            <a:spLocks noGrp="1"/>
          </p:cNvSpPr>
          <p:nvPr/>
        </p:nvSpPr>
        <p:spPr>
          <a:xfrm>
            <a:off x="596348" y="0"/>
            <a:ext cx="8547652"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2" name="Title 1">
            <a:extLst>
              <a:ext uri="{FF2B5EF4-FFF2-40B4-BE49-F238E27FC236}">
                <a16:creationId xmlns:a16="http://schemas.microsoft.com/office/drawing/2014/main" id="{FFAAE013-B4DD-4416-824E-10D391462CA6}"/>
              </a:ext>
            </a:extLst>
          </p:cNvPr>
          <p:cNvSpPr>
            <a:spLocks noGrp="1"/>
          </p:cNvSpPr>
          <p:nvPr>
            <p:ph type="title"/>
          </p:nvPr>
        </p:nvSpPr>
        <p:spPr>
          <a:xfrm>
            <a:off x="557532" y="216285"/>
            <a:ext cx="6756400" cy="920750"/>
          </a:xfrm>
        </p:spPr>
        <p:txBody>
          <a:bodyPr/>
          <a:lstStyle/>
          <a:p>
            <a:r>
              <a:t>Organ Donation</a:t>
            </a:r>
          </a:p>
        </p:txBody>
      </p:sp>
      <p:pic>
        <p:nvPicPr>
          <p:cNvPr id="15" name="Picture 3"/>
          <p:cNvPicPr>
            <a:picLocks noChangeAspect="1"/>
          </p:cNvPicPr>
          <p:nvPr/>
        </p:nvPicPr>
        <p:blipFill rotWithShape="1">
          <a:blip r:embed="rId3"/>
          <a:srcRect l="-1194" t="-15034" r="1194" b="15034"/>
          <a:stretch/>
        </p:blipFill>
        <p:spPr>
          <a:xfrm>
            <a:off x="628650" y="1258287"/>
            <a:ext cx="7886700" cy="3990047"/>
          </a:xfrm>
          <a:prstGeom prst="rect">
            <a:avLst/>
          </a:prstGeom>
        </p:spPr>
      </p:pic>
      <p:sp>
        <p:nvSpPr>
          <p:cNvPr id="6" name="TextBox 5">
            <a:extLst>
              <a:ext uri="{FF2B5EF4-FFF2-40B4-BE49-F238E27FC236}">
                <a16:creationId xmlns:a16="http://schemas.microsoft.com/office/drawing/2014/main" id="{8C60D3A3-696E-4A11-8C2D-3BBB8830E54B}"/>
              </a:ext>
            </a:extLst>
          </p:cNvPr>
          <p:cNvSpPr>
            <a:spLocks noGrp="1"/>
          </p:cNvSpPr>
          <p:nvPr/>
        </p:nvSpPr>
        <p:spPr>
          <a:xfrm>
            <a:off x="4572000" y="5964518"/>
            <a:ext cx="4572000" cy="369332"/>
          </a:xfrm>
          <a:prstGeom prst="rect">
            <a:avLst/>
          </a:prstGeom>
          <a:noFill/>
        </p:spPr>
        <p:txBody>
          <a:bodyPr wrap="square">
            <a:spAutoFit/>
          </a:bodyPr>
          <a:lstStyle/>
          <a:p>
            <a:r>
              <a:rPr b="0" i="0">
                <a:solidFill>
                  <a:srgbClr val="222222"/>
                </a:solidFill>
                <a:latin typeface="Arial"/>
                <a:ea typeface="Arial"/>
                <a:cs typeface="Arial"/>
              </a:rPr>
              <a:t>(Johnson &amp; Goldstein,2003)</a:t>
            </a:r>
            <a:endParaRPr/>
          </a:p>
        </p:txBody>
      </p:sp>
      <p:sp>
        <p:nvSpPr>
          <p:cNvPr id="5" name="Left Brace 4">
            <a:extLst>
              <a:ext uri="{FF2B5EF4-FFF2-40B4-BE49-F238E27FC236}">
                <a16:creationId xmlns:a16="http://schemas.microsoft.com/office/drawing/2014/main" id="{30D7122E-88E6-4992-B10E-8C4522282837}"/>
              </a:ext>
            </a:extLst>
          </p:cNvPr>
          <p:cNvSpPr>
            <a:spLocks noGrp="1"/>
          </p:cNvSpPr>
          <p:nvPr/>
        </p:nvSpPr>
        <p:spPr>
          <a:xfrm rot="5400000">
            <a:off x="2218381" y="528301"/>
            <a:ext cx="545120" cy="2292678"/>
          </a:xfrm>
          <a:prstGeom prst="leftBrace">
            <a:avLst>
              <a:gd name="adj1" fmla="val 8333"/>
              <a:gd name="adj2" fmla="val 49572"/>
            </a:avLst>
          </a:prstGeom>
          <a:solidFill>
            <a:schemeClr val="bg1"/>
          </a:solidFill>
          <a:ln w="9525" cmpd="sng">
            <a:solidFill>
              <a:schemeClr val="tx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7" name="TextBox 6">
            <a:extLst>
              <a:ext uri="{FF2B5EF4-FFF2-40B4-BE49-F238E27FC236}">
                <a16:creationId xmlns:a16="http://schemas.microsoft.com/office/drawing/2014/main" id="{085F0914-478C-47C0-A653-C4ED48867C9A}"/>
              </a:ext>
            </a:extLst>
          </p:cNvPr>
          <p:cNvSpPr>
            <a:spLocks noGrp="1"/>
          </p:cNvSpPr>
          <p:nvPr/>
        </p:nvSpPr>
        <p:spPr>
          <a:xfrm>
            <a:off x="2107414" y="1064463"/>
            <a:ext cx="1960880" cy="369332"/>
          </a:xfrm>
          <a:prstGeom prst="rect">
            <a:avLst/>
          </a:prstGeom>
          <a:noFill/>
        </p:spPr>
        <p:txBody>
          <a:bodyPr wrap="square">
            <a:spAutoFit/>
          </a:bodyPr>
          <a:lstStyle/>
          <a:p>
            <a:r>
              <a:rPr b="1">
                <a:solidFill>
                  <a:schemeClr val="tx1"/>
                </a:solidFill>
              </a:rPr>
              <a:t>Opt-in</a:t>
            </a:r>
          </a:p>
        </p:txBody>
      </p:sp>
      <p:sp>
        <p:nvSpPr>
          <p:cNvPr id="8" name="Left Brace 7">
            <a:extLst>
              <a:ext uri="{FF2B5EF4-FFF2-40B4-BE49-F238E27FC236}">
                <a16:creationId xmlns:a16="http://schemas.microsoft.com/office/drawing/2014/main" id="{D8F5B526-0754-4524-965C-A60C2B2EF2B1}"/>
              </a:ext>
            </a:extLst>
          </p:cNvPr>
          <p:cNvSpPr>
            <a:spLocks noGrp="1"/>
          </p:cNvSpPr>
          <p:nvPr/>
        </p:nvSpPr>
        <p:spPr>
          <a:xfrm rot="5400000">
            <a:off x="5866130" y="-548402"/>
            <a:ext cx="545120" cy="4404035"/>
          </a:xfrm>
          <a:prstGeom prst="leftBrace">
            <a:avLst>
              <a:gd name="adj1" fmla="val 8333"/>
              <a:gd name="adj2" fmla="val 49572"/>
            </a:avLst>
          </a:prstGeom>
          <a:solidFill>
            <a:schemeClr val="bg1"/>
          </a:solidFill>
          <a:ln w="9525" cmpd="sng">
            <a:solidFill>
              <a:schemeClr val="tx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9" name="TextBox 8">
            <a:extLst>
              <a:ext uri="{FF2B5EF4-FFF2-40B4-BE49-F238E27FC236}">
                <a16:creationId xmlns:a16="http://schemas.microsoft.com/office/drawing/2014/main" id="{29EFACBC-B2A6-4BE7-9168-540222CA5724}"/>
              </a:ext>
            </a:extLst>
          </p:cNvPr>
          <p:cNvSpPr>
            <a:spLocks noGrp="1"/>
          </p:cNvSpPr>
          <p:nvPr/>
        </p:nvSpPr>
        <p:spPr>
          <a:xfrm>
            <a:off x="5618176" y="990698"/>
            <a:ext cx="1960880" cy="369332"/>
          </a:xfrm>
          <a:prstGeom prst="rect">
            <a:avLst/>
          </a:prstGeom>
          <a:noFill/>
        </p:spPr>
        <p:txBody>
          <a:bodyPr wrap="square">
            <a:spAutoFit/>
          </a:bodyPr>
          <a:lstStyle/>
          <a:p>
            <a:r>
              <a:rPr b="1">
                <a:solidFill>
                  <a:schemeClr val="tx1"/>
                </a:solidFill>
              </a:rPr>
              <a:t>Opt-out</a:t>
            </a:r>
          </a:p>
        </p:txBody>
      </p:sp>
    </p:spTree>
    <p:extLst>
      <p:ext uri="{BB962C8B-B14F-4D97-AF65-F5344CB8AC3E}">
        <p14:creationId xmlns:p14="http://schemas.microsoft.com/office/powerpoint/2010/main" val="2502747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7575-0888-4644-8A52-3ECB9926BDAB}"/>
              </a:ext>
            </a:extLst>
          </p:cNvPr>
          <p:cNvSpPr>
            <a:spLocks noGrp="1"/>
          </p:cNvSpPr>
          <p:nvPr>
            <p:ph type="title"/>
          </p:nvPr>
        </p:nvSpPr>
        <p:spPr/>
        <p:txBody>
          <a:bodyPr/>
          <a:lstStyle/>
          <a:p>
            <a:r>
              <a:t>References</a:t>
            </a:r>
          </a:p>
        </p:txBody>
      </p:sp>
      <p:sp>
        <p:nvSpPr>
          <p:cNvPr id="3" name="Content Placeholder 2">
            <a:extLst>
              <a:ext uri="{FF2B5EF4-FFF2-40B4-BE49-F238E27FC236}">
                <a16:creationId xmlns:a16="http://schemas.microsoft.com/office/drawing/2014/main" id="{75EE9AAA-FB0A-421D-960A-25B1980FDB65}"/>
              </a:ext>
            </a:extLst>
          </p:cNvPr>
          <p:cNvSpPr>
            <a:spLocks noGrp="1"/>
          </p:cNvSpPr>
          <p:nvPr>
            <p:ph idx="1"/>
          </p:nvPr>
        </p:nvSpPr>
        <p:spPr>
          <a:xfrm>
            <a:off x="785812" y="1341438"/>
            <a:ext cx="8219039" cy="3943350"/>
          </a:xfrm>
        </p:spPr>
        <p:txBody>
          <a:bodyPr>
            <a:normAutofit fontScale="85000" lnSpcReduction="10000"/>
          </a:bodyPr>
          <a:lstStyle/>
          <a:p>
            <a:pPr indent="0">
              <a:lnSpc>
                <a:spcPct val="120000"/>
              </a:lnSpc>
              <a:buNone/>
            </a:pPr>
            <a:r>
              <a:rPr sz="1900"/>
              <a:t>Allport, G. W., Clark, K., &amp; Pettigrew, T. (1954). The nature of prejudice. MA: Addison-Wesley</a:t>
            </a:r>
          </a:p>
          <a:p>
            <a:pPr indent="0">
              <a:lnSpc>
                <a:spcPct val="120000"/>
              </a:lnSpc>
              <a:buNone/>
            </a:pPr>
            <a:r>
              <a:rPr sz="1900"/>
              <a:t>Bourgeois-Gironde, S., &amp; Van Der Henst, J.-B. (2009). How to open the door to System 2: 	Debiasing the bat-and-ball problem. In S. Watanabe, A. P. Blaisdell, L. Huber, &amp; A. Young 	(Eds.), Rational animals, irrational humans (pp. 235–252). Keio University.</a:t>
            </a:r>
          </a:p>
          <a:p>
            <a:pPr indent="0">
              <a:lnSpc>
                <a:spcPct val="120000"/>
              </a:lnSpc>
              <a:buNone/>
            </a:pPr>
            <a:r>
              <a:rPr sz="1900"/>
              <a:t>Bowers, C. A., Pharmer, J. A., &amp; Salas, E. (2000). When member homogeneity is needed in work 	teams: A meta-analysis. </a:t>
            </a:r>
            <a:r>
              <a:rPr sz="1900" i="1"/>
              <a:t>Small group research</a:t>
            </a:r>
            <a:r>
              <a:rPr sz="1900"/>
              <a:t>, </a:t>
            </a:r>
            <a:r>
              <a:rPr sz="1900" i="1"/>
              <a:t>31</a:t>
            </a:r>
            <a:r>
              <a:rPr sz="1900"/>
              <a:t>(3), 305-327.</a:t>
            </a:r>
          </a:p>
          <a:p>
            <a:pPr indent="0">
              <a:lnSpc>
                <a:spcPct val="120000"/>
              </a:lnSpc>
              <a:buNone/>
            </a:pPr>
            <a:r>
              <a:rPr sz="1900"/>
              <a:t>Correll, J., Park, B., Judd, C. M., &amp; Wittenbrink, B. (2007). The influence of stereotypes on 	decisions to shoot. </a:t>
            </a:r>
            <a:r>
              <a:rPr sz="1900" i="1"/>
              <a:t>European Journal of Social Psychology</a:t>
            </a:r>
            <a:r>
              <a:rPr sz="1900"/>
              <a:t>, </a:t>
            </a:r>
            <a:r>
              <a:rPr sz="1900" i="1"/>
              <a:t>37</a:t>
            </a:r>
            <a:r>
              <a:rPr sz="1900"/>
              <a:t>(6), 1102-1117.</a:t>
            </a:r>
          </a:p>
          <a:p>
            <a:pPr indent="0">
              <a:lnSpc>
                <a:spcPct val="120000"/>
              </a:lnSpc>
              <a:buNone/>
            </a:pPr>
            <a:r>
              <a:rPr sz="1900"/>
              <a:t>Fiske, S. T. (1993). Controlling other people: The impact of power on stereotyping. </a:t>
            </a:r>
            <a:r>
              <a:rPr sz="1900" i="1"/>
              <a:t>American 	psychologist</a:t>
            </a:r>
            <a:r>
              <a:rPr sz="1900"/>
              <a:t>, </a:t>
            </a:r>
            <a:r>
              <a:rPr sz="1900" i="1"/>
              <a:t>48</a:t>
            </a:r>
            <a:r>
              <a:rPr sz="1900"/>
              <a:t>(6), 621.</a:t>
            </a:r>
          </a:p>
          <a:p>
            <a:endParaRPr/>
          </a:p>
        </p:txBody>
      </p:sp>
      <p:sp>
        <p:nvSpPr>
          <p:cNvPr id="4" name="Slide Number Placeholder 3">
            <a:extLst>
              <a:ext uri="{FF2B5EF4-FFF2-40B4-BE49-F238E27FC236}">
                <a16:creationId xmlns:a16="http://schemas.microsoft.com/office/drawing/2014/main" id="{D32473C1-B234-46EF-A7D7-30FEF717C664}"/>
              </a:ext>
            </a:extLst>
          </p:cNvPr>
          <p:cNvSpPr>
            <a:spLocks noGrp="1"/>
          </p:cNvSpPr>
          <p:nvPr>
            <p:ph type="sldNum" idx="12"/>
          </p:nvPr>
        </p:nvSpPr>
        <p:spPr/>
        <p:txBody>
          <a:bodyPr/>
          <a:lstStyle/>
          <a:p>
            <a:fld id="{36A9D662-D713-5945-9CA3-C981A7AC5439}" type="slidenum">
              <a:t>27</a:t>
            </a:fld>
            <a:endParaRPr/>
          </a:p>
        </p:txBody>
      </p:sp>
    </p:spTree>
    <p:extLst>
      <p:ext uri="{BB962C8B-B14F-4D97-AF65-F5344CB8AC3E}">
        <p14:creationId xmlns:p14="http://schemas.microsoft.com/office/powerpoint/2010/main" val="2946836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8EB3-29A9-43EC-A11E-E70F2074AB5B}"/>
              </a:ext>
            </a:extLst>
          </p:cNvPr>
          <p:cNvSpPr>
            <a:spLocks noGrp="1"/>
          </p:cNvSpPr>
          <p:nvPr>
            <p:ph type="title"/>
          </p:nvPr>
        </p:nvSpPr>
        <p:spPr/>
        <p:txBody>
          <a:bodyPr/>
          <a:lstStyle/>
          <a:p>
            <a:r>
              <a:t>References</a:t>
            </a:r>
          </a:p>
        </p:txBody>
      </p:sp>
      <p:sp>
        <p:nvSpPr>
          <p:cNvPr id="3" name="Content Placeholder 2">
            <a:extLst>
              <a:ext uri="{FF2B5EF4-FFF2-40B4-BE49-F238E27FC236}">
                <a16:creationId xmlns:a16="http://schemas.microsoft.com/office/drawing/2014/main" id="{E8EBA5D9-9182-4255-9E16-BD4C26D7AFFC}"/>
              </a:ext>
            </a:extLst>
          </p:cNvPr>
          <p:cNvSpPr>
            <a:spLocks noGrp="1"/>
          </p:cNvSpPr>
          <p:nvPr>
            <p:ph idx="1"/>
          </p:nvPr>
        </p:nvSpPr>
        <p:spPr/>
        <p:txBody>
          <a:bodyPr>
            <a:noAutofit/>
          </a:bodyPr>
          <a:lstStyle/>
          <a:p>
            <a:pPr indent="0">
              <a:lnSpc>
                <a:spcPct val="100000"/>
              </a:lnSpc>
              <a:buNone/>
            </a:pPr>
            <a:r>
              <a:rPr sz="1800"/>
              <a:t>Harrison, D. A., Price, K. H., &amp; Bell, M. P. (1998). Beyond relational demography: 	Time and the effects of surface-and deep-level diversity on work group 	cohesion. </a:t>
            </a:r>
            <a:r>
              <a:rPr sz="1800" i="1"/>
              <a:t>Academy of management journal</a:t>
            </a:r>
            <a:r>
              <a:rPr sz="1800"/>
              <a:t>, </a:t>
            </a:r>
            <a:r>
              <a:rPr sz="1800" i="1"/>
              <a:t>41</a:t>
            </a:r>
            <a:r>
              <a:rPr sz="1800"/>
              <a:t>(1), 96-107.</a:t>
            </a:r>
          </a:p>
          <a:p>
            <a:pPr indent="0">
              <a:lnSpc>
                <a:spcPct val="100000"/>
              </a:lnSpc>
              <a:buNone/>
            </a:pPr>
            <a:r>
              <a:rPr sz="1800"/>
              <a:t>Johnson, E. J., &amp; Goldstein, D. (2003). Do defaults save lives?. </a:t>
            </a:r>
            <a:r>
              <a:rPr sz="1800" i="1"/>
              <a:t>Science</a:t>
            </a:r>
            <a:r>
              <a:rPr sz="1800"/>
              <a:t>, </a:t>
            </a:r>
            <a:r>
              <a:rPr sz="1800" i="1"/>
              <a:t>302</a:t>
            </a:r>
            <a:r>
              <a:rPr sz="1800"/>
              <a:t>(5649), 	1338-1339.</a:t>
            </a:r>
          </a:p>
          <a:p>
            <a:pPr indent="0">
              <a:lnSpc>
                <a:spcPct val="100000"/>
              </a:lnSpc>
              <a:buNone/>
            </a:pPr>
            <a:r>
              <a:rPr sz="1800"/>
              <a:t>Kahneman, D., &amp; Tversky, A. (1972). Subjective probability: A judgment of 	representativeness. </a:t>
            </a:r>
            <a:r>
              <a:rPr sz="1800" i="1"/>
              <a:t>Cognitive psychology</a:t>
            </a:r>
            <a:r>
              <a:rPr sz="1800"/>
              <a:t>, </a:t>
            </a:r>
            <a:r>
              <a:rPr sz="1800" i="1"/>
              <a:t>3</a:t>
            </a:r>
            <a:r>
              <a:rPr sz="1800"/>
              <a:t>(3), 430-454.</a:t>
            </a:r>
          </a:p>
          <a:p>
            <a:pPr indent="0">
              <a:lnSpc>
                <a:spcPct val="100000"/>
              </a:lnSpc>
              <a:buNone/>
            </a:pPr>
            <a:r>
              <a:rPr sz="1800"/>
              <a:t>Phillips, K. W., &amp; Loyd, D. L. (2006). When surface and deep-level diversity 	collide: The effects on dissenting group members. </a:t>
            </a:r>
            <a:r>
              <a:rPr sz="1800" i="1"/>
              <a:t>Organizational behavior 	and human decision processes</a:t>
            </a:r>
            <a:r>
              <a:rPr sz="1800"/>
              <a:t>, </a:t>
            </a:r>
            <a:r>
              <a:rPr sz="1800" i="1"/>
              <a:t>99</a:t>
            </a:r>
            <a:r>
              <a:rPr sz="1800"/>
              <a:t>(2), 143-160. </a:t>
            </a:r>
          </a:p>
          <a:p>
            <a:pPr indent="0">
              <a:lnSpc>
                <a:spcPct val="100000"/>
              </a:lnSpc>
              <a:buNone/>
            </a:pPr>
            <a:r>
              <a:rPr sz="1800"/>
              <a:t>Rosenthal, R., &amp; Jacobson, L. (1968). Pygmalion in the classroom. </a:t>
            </a:r>
            <a:r>
              <a:rPr sz="1800" i="1"/>
              <a:t>The urban 	review</a:t>
            </a:r>
            <a:r>
              <a:rPr sz="1800"/>
              <a:t>, </a:t>
            </a:r>
            <a:r>
              <a:rPr sz="1800" i="1"/>
              <a:t>3</a:t>
            </a:r>
            <a:r>
              <a:rPr sz="1800"/>
              <a:t>(1), 16-20.</a:t>
            </a:r>
            <a:endParaRPr sz="1800" kern="100"/>
          </a:p>
          <a:p>
            <a:pPr marL="0" indent="0">
              <a:lnSpc>
                <a:spcPct val="107000"/>
              </a:lnSpc>
              <a:spcAft>
                <a:spcPts val="800"/>
              </a:spcAft>
              <a:buNone/>
              <a:tabLst>
                <a:tab pos="457200" algn="l"/>
              </a:tabLst>
            </a:pPr>
            <a:endParaRPr sz="1800" b="0" i="0"/>
          </a:p>
        </p:txBody>
      </p:sp>
      <p:sp>
        <p:nvSpPr>
          <p:cNvPr id="4" name="Slide Number Placeholder 3">
            <a:extLst>
              <a:ext uri="{FF2B5EF4-FFF2-40B4-BE49-F238E27FC236}">
                <a16:creationId xmlns:a16="http://schemas.microsoft.com/office/drawing/2014/main" id="{C1DA89B6-193A-4434-8B11-FBD49F0AF008}"/>
              </a:ext>
            </a:extLst>
          </p:cNvPr>
          <p:cNvSpPr>
            <a:spLocks noGrp="1"/>
          </p:cNvSpPr>
          <p:nvPr>
            <p:ph type="sldNum" idx="12"/>
          </p:nvPr>
        </p:nvSpPr>
        <p:spPr/>
        <p:txBody>
          <a:bodyPr/>
          <a:lstStyle/>
          <a:p>
            <a:fld id="{36A9D662-D713-5945-9CA3-C981A7AC5439}" type="slidenum">
              <a:t>28</a:t>
            </a:fld>
            <a:endParaRPr/>
          </a:p>
        </p:txBody>
      </p:sp>
    </p:spTree>
    <p:extLst>
      <p:ext uri="{BB962C8B-B14F-4D97-AF65-F5344CB8AC3E}">
        <p14:creationId xmlns:p14="http://schemas.microsoft.com/office/powerpoint/2010/main" val="3838308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8EB3-29A9-43EC-A11E-E70F2074AB5B}"/>
              </a:ext>
            </a:extLst>
          </p:cNvPr>
          <p:cNvSpPr>
            <a:spLocks noGrp="1"/>
          </p:cNvSpPr>
          <p:nvPr>
            <p:ph type="title"/>
          </p:nvPr>
        </p:nvSpPr>
        <p:spPr/>
        <p:txBody>
          <a:bodyPr/>
          <a:lstStyle/>
          <a:p>
            <a:r>
              <a:t>References</a:t>
            </a:r>
          </a:p>
        </p:txBody>
      </p:sp>
      <p:sp>
        <p:nvSpPr>
          <p:cNvPr id="3" name="Content Placeholder 2">
            <a:extLst>
              <a:ext uri="{FF2B5EF4-FFF2-40B4-BE49-F238E27FC236}">
                <a16:creationId xmlns:a16="http://schemas.microsoft.com/office/drawing/2014/main" id="{E8EBA5D9-9182-4255-9E16-BD4C26D7AFFC}"/>
              </a:ext>
            </a:extLst>
          </p:cNvPr>
          <p:cNvSpPr>
            <a:spLocks noGrp="1"/>
          </p:cNvSpPr>
          <p:nvPr>
            <p:ph idx="1"/>
          </p:nvPr>
        </p:nvSpPr>
        <p:spPr/>
        <p:txBody>
          <a:bodyPr>
            <a:noAutofit/>
          </a:bodyPr>
          <a:lstStyle/>
          <a:p>
            <a:pPr indent="0">
              <a:lnSpc>
                <a:spcPct val="100000"/>
              </a:lnSpc>
              <a:buNone/>
            </a:pPr>
            <a:r>
              <a:rPr sz="1800"/>
              <a:t>Simon, H. A. (1956). Rational choice and the structure of the 	environment. </a:t>
            </a:r>
            <a:r>
              <a:rPr sz="1800" i="1"/>
              <a:t>Psychological review</a:t>
            </a:r>
            <a:r>
              <a:rPr sz="1800"/>
              <a:t>, </a:t>
            </a:r>
            <a:r>
              <a:rPr sz="1800" i="1"/>
              <a:t>63</a:t>
            </a:r>
            <a:r>
              <a:rPr sz="1800"/>
              <a:t>(2), 129.</a:t>
            </a:r>
          </a:p>
          <a:p>
            <a:pPr indent="0">
              <a:lnSpc>
                <a:spcPct val="100000"/>
              </a:lnSpc>
              <a:buNone/>
            </a:pPr>
            <a:r>
              <a:rPr sz="1800"/>
              <a:t>Simon, H. A. (1979). Rational decision making in business organizations. </a:t>
            </a:r>
            <a:r>
              <a:rPr sz="1800" i="1"/>
              <a:t>The 	American economic review</a:t>
            </a:r>
            <a:r>
              <a:rPr sz="1800"/>
              <a:t>, </a:t>
            </a:r>
            <a:r>
              <a:rPr sz="1800" i="1"/>
              <a:t>69</a:t>
            </a:r>
            <a:r>
              <a:rPr sz="1800"/>
              <a:t>(4), 493-513.</a:t>
            </a:r>
          </a:p>
          <a:p>
            <a:pPr indent="0">
              <a:lnSpc>
                <a:spcPct val="100000"/>
              </a:lnSpc>
              <a:buNone/>
            </a:pPr>
            <a:r>
              <a:rPr sz="1800"/>
              <a:t>Stanovich, K. E., &amp; West, R. F. (2000). Individual differences in reasoning: 	Implications for the rationality debate?. </a:t>
            </a:r>
            <a:r>
              <a:rPr sz="1800" i="1"/>
              <a:t>Behavioral and brain 	sciences</a:t>
            </a:r>
            <a:r>
              <a:rPr sz="1800"/>
              <a:t>, </a:t>
            </a:r>
            <a:r>
              <a:rPr sz="1800" i="1"/>
              <a:t>23</a:t>
            </a:r>
            <a:r>
              <a:rPr sz="1800"/>
              <a:t>(5), 645-665.</a:t>
            </a:r>
          </a:p>
          <a:p>
            <a:pPr indent="0">
              <a:lnSpc>
                <a:spcPct val="100000"/>
              </a:lnSpc>
              <a:buNone/>
            </a:pPr>
            <a:r>
              <a:rPr sz="1800"/>
              <a:t>Thaler, R. H., &amp; Sunstein, C. R. (2009). </a:t>
            </a:r>
            <a:r>
              <a:rPr sz="1800" i="1"/>
              <a:t>Nudge: Improving decisions about 	health, wealth, and happiness</a:t>
            </a:r>
            <a:r>
              <a:rPr sz="1800"/>
              <a:t>. Penguin.</a:t>
            </a:r>
          </a:p>
          <a:p>
            <a:pPr marL="0" indent="0">
              <a:lnSpc>
                <a:spcPct val="107000"/>
              </a:lnSpc>
              <a:spcAft>
                <a:spcPts val="800"/>
              </a:spcAft>
              <a:buNone/>
              <a:tabLst>
                <a:tab pos="457200" algn="l"/>
              </a:tabLst>
            </a:pPr>
            <a:endParaRPr sz="1800" b="0" i="0"/>
          </a:p>
        </p:txBody>
      </p:sp>
      <p:sp>
        <p:nvSpPr>
          <p:cNvPr id="4" name="Slide Number Placeholder 3">
            <a:extLst>
              <a:ext uri="{FF2B5EF4-FFF2-40B4-BE49-F238E27FC236}">
                <a16:creationId xmlns:a16="http://schemas.microsoft.com/office/drawing/2014/main" id="{C1DA89B6-193A-4434-8B11-FBD49F0AF008}"/>
              </a:ext>
            </a:extLst>
          </p:cNvPr>
          <p:cNvSpPr>
            <a:spLocks noGrp="1"/>
          </p:cNvSpPr>
          <p:nvPr>
            <p:ph type="sldNum" idx="12"/>
          </p:nvPr>
        </p:nvSpPr>
        <p:spPr/>
        <p:txBody>
          <a:bodyPr/>
          <a:lstStyle/>
          <a:p>
            <a:fld id="{36A9D662-D713-5945-9CA3-C981A7AC5439}" type="slidenum">
              <a:t>29</a:t>
            </a:fld>
            <a:endParaRPr/>
          </a:p>
        </p:txBody>
      </p:sp>
    </p:spTree>
    <p:extLst>
      <p:ext uri="{BB962C8B-B14F-4D97-AF65-F5344CB8AC3E}">
        <p14:creationId xmlns:p14="http://schemas.microsoft.com/office/powerpoint/2010/main" val="2594877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8EB3-29A9-43EC-A11E-E70F2074AB5B}"/>
              </a:ext>
            </a:extLst>
          </p:cNvPr>
          <p:cNvSpPr>
            <a:spLocks noGrp="1"/>
          </p:cNvSpPr>
          <p:nvPr>
            <p:ph type="title"/>
          </p:nvPr>
        </p:nvSpPr>
        <p:spPr/>
        <p:txBody>
          <a:bodyPr/>
          <a:lstStyle/>
          <a:p>
            <a:r>
              <a:t>References</a:t>
            </a:r>
          </a:p>
        </p:txBody>
      </p:sp>
      <p:sp>
        <p:nvSpPr>
          <p:cNvPr id="3" name="Content Placeholder 2">
            <a:extLst>
              <a:ext uri="{FF2B5EF4-FFF2-40B4-BE49-F238E27FC236}">
                <a16:creationId xmlns:a16="http://schemas.microsoft.com/office/drawing/2014/main" id="{E8EBA5D9-9182-4255-9E16-BD4C26D7AFFC}"/>
              </a:ext>
            </a:extLst>
          </p:cNvPr>
          <p:cNvSpPr>
            <a:spLocks noGrp="1"/>
          </p:cNvSpPr>
          <p:nvPr>
            <p:ph idx="1"/>
          </p:nvPr>
        </p:nvSpPr>
        <p:spPr/>
        <p:txBody>
          <a:bodyPr>
            <a:noAutofit/>
          </a:bodyPr>
          <a:lstStyle/>
          <a:p>
            <a:pPr indent="0">
              <a:lnSpc>
                <a:spcPct val="100000"/>
              </a:lnSpc>
              <a:buNone/>
            </a:pPr>
            <a:r>
              <a:rPr sz="1800">
                <a:latin typeface="Calibri"/>
                <a:ea typeface="Calibri"/>
                <a:cs typeface="Calibri"/>
              </a:rPr>
              <a:t>Tversky, A., &amp; Kahneman, D. (1981). The framing of decisions and the psychology 	of choice. </a:t>
            </a:r>
            <a:r>
              <a:rPr sz="1800" i="1">
                <a:latin typeface="Calibri"/>
                <a:ea typeface="Calibri"/>
                <a:cs typeface="Calibri"/>
              </a:rPr>
              <a:t>science</a:t>
            </a:r>
            <a:r>
              <a:rPr sz="1800">
                <a:latin typeface="Calibri"/>
                <a:ea typeface="Calibri"/>
                <a:cs typeface="Calibri"/>
              </a:rPr>
              <a:t>, </a:t>
            </a:r>
            <a:r>
              <a:rPr sz="1800" i="1">
                <a:latin typeface="Calibri"/>
                <a:ea typeface="Calibri"/>
                <a:cs typeface="Calibri"/>
              </a:rPr>
              <a:t>211</a:t>
            </a:r>
            <a:r>
              <a:rPr sz="1800">
                <a:latin typeface="Calibri"/>
                <a:ea typeface="Calibri"/>
                <a:cs typeface="Calibri"/>
              </a:rPr>
              <a:t>(4481), 453-458.</a:t>
            </a:r>
          </a:p>
          <a:p>
            <a:pPr indent="0">
              <a:lnSpc>
                <a:spcPct val="100000"/>
              </a:lnSpc>
              <a:buNone/>
            </a:pPr>
            <a:r>
              <a:rPr sz="1800">
                <a:latin typeface="Calibri"/>
                <a:ea typeface="Calibri"/>
                <a:cs typeface="Calibri"/>
              </a:rPr>
              <a:t>Tversky, A., &amp; Kahneman, D. (1991). Loss aversion in riskless choice: A reference-	dependent model. </a:t>
            </a:r>
            <a:r>
              <a:rPr sz="1800" i="1">
                <a:latin typeface="Calibri"/>
                <a:ea typeface="Calibri"/>
                <a:cs typeface="Calibri"/>
              </a:rPr>
              <a:t>The quarterly journal of economics</a:t>
            </a:r>
            <a:r>
              <a:rPr sz="1800">
                <a:latin typeface="Calibri"/>
                <a:ea typeface="Calibri"/>
                <a:cs typeface="Calibri"/>
              </a:rPr>
              <a:t>, </a:t>
            </a:r>
            <a:r>
              <a:rPr sz="1800" i="1">
                <a:latin typeface="Calibri"/>
                <a:ea typeface="Calibri"/>
                <a:cs typeface="Calibri"/>
              </a:rPr>
              <a:t>106</a:t>
            </a:r>
            <a:r>
              <a:rPr sz="1800">
                <a:latin typeface="Calibri"/>
                <a:ea typeface="Calibri"/>
                <a:cs typeface="Calibri"/>
              </a:rPr>
              <a:t>(4), 1039-1061.</a:t>
            </a:r>
          </a:p>
          <a:p>
            <a:pPr indent="0">
              <a:lnSpc>
                <a:spcPct val="100000"/>
              </a:lnSpc>
              <a:buNone/>
            </a:pPr>
            <a:r>
              <a:rPr sz="1800">
                <a:latin typeface="Calibri"/>
                <a:ea typeface="Calibri"/>
                <a:cs typeface="Calibri"/>
              </a:rPr>
              <a:t>Van Dijk, H., Van Engen, M. L., &amp; Van Knippenberg, D. (2012). Defying 	conventional wisdom: A meta-analytical examination of the differences 	between demographic and job-related diversity relationships with 	performance. </a:t>
            </a:r>
            <a:r>
              <a:rPr sz="1800" i="1">
                <a:latin typeface="Calibri"/>
                <a:ea typeface="Calibri"/>
                <a:cs typeface="Calibri"/>
              </a:rPr>
              <a:t>Organizational Behavior and Human Decision 	Processes</a:t>
            </a:r>
            <a:r>
              <a:rPr sz="1800">
                <a:latin typeface="Calibri"/>
                <a:ea typeface="Calibri"/>
                <a:cs typeface="Calibri"/>
              </a:rPr>
              <a:t>, </a:t>
            </a:r>
            <a:r>
              <a:rPr sz="1800" i="1">
                <a:latin typeface="Calibri"/>
                <a:ea typeface="Calibri"/>
                <a:cs typeface="Calibri"/>
              </a:rPr>
              <a:t>119</a:t>
            </a:r>
            <a:r>
              <a:rPr sz="1800">
                <a:latin typeface="Calibri"/>
                <a:ea typeface="Calibri"/>
                <a:cs typeface="Calibri"/>
              </a:rPr>
              <a:t>(1), 38-53.</a:t>
            </a:r>
          </a:p>
          <a:p>
            <a:pPr indent="0">
              <a:lnSpc>
                <a:spcPct val="100000"/>
              </a:lnSpc>
              <a:buNone/>
            </a:pPr>
            <a:r>
              <a:rPr sz="1800">
                <a:latin typeface="Calibri"/>
                <a:ea typeface="Calibri"/>
                <a:cs typeface="Calibri"/>
              </a:rPr>
              <a:t>Wittenbrink, B., Judd, C. M., &amp; Park, B. (2001). Spontaneous prejudice in context: 	Variability in automatically activated attitudes. </a:t>
            </a:r>
            <a:r>
              <a:rPr sz="1800" i="1">
                <a:latin typeface="Calibri"/>
                <a:ea typeface="Calibri"/>
                <a:cs typeface="Calibri"/>
              </a:rPr>
              <a:t>Journal of personality and 	social psychology</a:t>
            </a:r>
            <a:r>
              <a:rPr sz="1800">
                <a:latin typeface="Calibri"/>
                <a:ea typeface="Calibri"/>
                <a:cs typeface="Calibri"/>
              </a:rPr>
              <a:t>, </a:t>
            </a:r>
            <a:r>
              <a:rPr sz="1800" i="1">
                <a:latin typeface="Calibri"/>
                <a:ea typeface="Calibri"/>
                <a:cs typeface="Calibri"/>
              </a:rPr>
              <a:t>81</a:t>
            </a:r>
            <a:r>
              <a:rPr sz="1800">
                <a:latin typeface="Calibri"/>
                <a:ea typeface="Calibri"/>
                <a:cs typeface="Calibri"/>
              </a:rPr>
              <a:t>(5), 815.</a:t>
            </a:r>
          </a:p>
          <a:p>
            <a:pPr marL="0" indent="0">
              <a:lnSpc>
                <a:spcPct val="107000"/>
              </a:lnSpc>
              <a:spcAft>
                <a:spcPts val="800"/>
              </a:spcAft>
              <a:buNone/>
              <a:tabLst>
                <a:tab pos="457200" algn="l"/>
              </a:tabLst>
            </a:pPr>
            <a:r>
              <a:rPr sz="1800" b="0" i="0"/>
              <a:t>	</a:t>
            </a:r>
          </a:p>
        </p:txBody>
      </p:sp>
      <p:sp>
        <p:nvSpPr>
          <p:cNvPr id="4" name="Slide Number Placeholder 3">
            <a:extLst>
              <a:ext uri="{FF2B5EF4-FFF2-40B4-BE49-F238E27FC236}">
                <a16:creationId xmlns:a16="http://schemas.microsoft.com/office/drawing/2014/main" id="{C1DA89B6-193A-4434-8B11-FBD49F0AF008}"/>
              </a:ext>
            </a:extLst>
          </p:cNvPr>
          <p:cNvSpPr>
            <a:spLocks noGrp="1"/>
          </p:cNvSpPr>
          <p:nvPr>
            <p:ph type="sldNum" idx="12"/>
          </p:nvPr>
        </p:nvSpPr>
        <p:spPr/>
        <p:txBody>
          <a:bodyPr/>
          <a:lstStyle/>
          <a:p>
            <a:fld id="{36A9D662-D713-5945-9CA3-C981A7AC5439}" type="slidenum">
              <a:t>30</a:t>
            </a:fld>
            <a:endParaRPr/>
          </a:p>
        </p:txBody>
      </p:sp>
    </p:spTree>
    <p:extLst>
      <p:ext uri="{BB962C8B-B14F-4D97-AF65-F5344CB8AC3E}">
        <p14:creationId xmlns:p14="http://schemas.microsoft.com/office/powerpoint/2010/main" val="2945558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1B2D-A9B3-4EDF-8510-5199FD04F8B5}"/>
              </a:ext>
            </a:extLst>
          </p:cNvPr>
          <p:cNvSpPr>
            <a:spLocks noGrp="1"/>
          </p:cNvSpPr>
          <p:nvPr>
            <p:ph type="title"/>
          </p:nvPr>
        </p:nvSpPr>
        <p:spPr/>
        <p:txBody>
          <a:bodyPr/>
          <a:lstStyle/>
          <a:p>
            <a:r>
              <a:t>END</a:t>
            </a:r>
          </a:p>
        </p:txBody>
      </p:sp>
      <p:sp>
        <p:nvSpPr>
          <p:cNvPr id="3" name="Content Placeholder 2">
            <a:extLst>
              <a:ext uri="{FF2B5EF4-FFF2-40B4-BE49-F238E27FC236}">
                <a16:creationId xmlns:a16="http://schemas.microsoft.com/office/drawing/2014/main" id="{E7D681FF-AB9D-472D-9C6F-DE2173A47CD9}"/>
              </a:ext>
            </a:extLst>
          </p:cNvPr>
          <p:cNvSpPr>
            <a:spLocks noGrp="1"/>
          </p:cNvSpPr>
          <p:nvPr>
            <p:ph idx="1"/>
          </p:nvPr>
        </p:nvSpPr>
        <p:spPr/>
        <p:txBody>
          <a:bodyPr/>
          <a:lstStyle/>
          <a:p>
            <a:endParaRPr/>
          </a:p>
        </p:txBody>
      </p:sp>
      <p:sp>
        <p:nvSpPr>
          <p:cNvPr id="4" name="Slide Number Placeholder 3">
            <a:extLst>
              <a:ext uri="{FF2B5EF4-FFF2-40B4-BE49-F238E27FC236}">
                <a16:creationId xmlns:a16="http://schemas.microsoft.com/office/drawing/2014/main" id="{B6580CC6-638E-4217-BF47-53277D52E03E}"/>
              </a:ext>
            </a:extLst>
          </p:cNvPr>
          <p:cNvSpPr>
            <a:spLocks noGrp="1"/>
          </p:cNvSpPr>
          <p:nvPr>
            <p:ph type="sldNum" idx="12"/>
          </p:nvPr>
        </p:nvSpPr>
        <p:spPr/>
        <p:txBody>
          <a:bodyPr/>
          <a:lstStyle/>
          <a:p>
            <a:fld id="{36A9D662-D713-5945-9CA3-C981A7AC5439}" type="slidenum">
              <a:t>31</a:t>
            </a:fld>
            <a:endParaRPr/>
          </a:p>
        </p:txBody>
      </p:sp>
    </p:spTree>
    <p:extLst>
      <p:ext uri="{BB962C8B-B14F-4D97-AF65-F5344CB8AC3E}">
        <p14:creationId xmlns:p14="http://schemas.microsoft.com/office/powerpoint/2010/main" val="4030179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4D07A-0630-4806-A8BF-560AD784B032}"/>
              </a:ext>
            </a:extLst>
          </p:cNvPr>
          <p:cNvSpPr>
            <a:spLocks noGrp="1"/>
          </p:cNvSpPr>
          <p:nvPr/>
        </p:nvSpPr>
        <p:spPr>
          <a:xfrm>
            <a:off x="548640" y="0"/>
            <a:ext cx="8595360"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r>
              <a:rPr sz="1800" b="1"/>
              <a:t>TIP: look at it from both perspectives. </a:t>
            </a:r>
          </a:p>
        </p:txBody>
      </p:sp>
      <p:sp>
        <p:nvSpPr>
          <p:cNvPr id="2" name="Title 1">
            <a:extLst>
              <a:ext uri="{FF2B5EF4-FFF2-40B4-BE49-F238E27FC236}">
                <a16:creationId xmlns:a16="http://schemas.microsoft.com/office/drawing/2014/main" id="{76D26113-5AAD-4979-B968-C1E609ADAA52}"/>
              </a:ext>
            </a:extLst>
          </p:cNvPr>
          <p:cNvSpPr>
            <a:spLocks noGrp="1"/>
          </p:cNvSpPr>
          <p:nvPr>
            <p:ph type="title"/>
          </p:nvPr>
        </p:nvSpPr>
        <p:spPr/>
        <p:txBody>
          <a:bodyPr/>
          <a:lstStyle/>
          <a:p>
            <a:r>
              <a:t>Question 4. Overconfidence</a:t>
            </a:r>
          </a:p>
        </p:txBody>
      </p:sp>
      <p:sp>
        <p:nvSpPr>
          <p:cNvPr id="3" name="Content Placeholder 2">
            <a:extLst>
              <a:ext uri="{FF2B5EF4-FFF2-40B4-BE49-F238E27FC236}">
                <a16:creationId xmlns:a16="http://schemas.microsoft.com/office/drawing/2014/main" id="{F306B940-2776-45A7-9264-F948FE810AE3}"/>
              </a:ext>
            </a:extLst>
          </p:cNvPr>
          <p:cNvSpPr>
            <a:spLocks noGrp="1"/>
          </p:cNvSpPr>
          <p:nvPr>
            <p:ph idx="1"/>
          </p:nvPr>
        </p:nvSpPr>
        <p:spPr/>
        <p:txBody>
          <a:bodyPr/>
          <a:lstStyle/>
          <a:p>
            <a:endParaRPr/>
          </a:p>
        </p:txBody>
      </p:sp>
      <p:sp>
        <p:nvSpPr>
          <p:cNvPr id="8" name="Content Placeholder 7">
            <a:extLst>
              <a:ext uri="{FF2B5EF4-FFF2-40B4-BE49-F238E27FC236}">
                <a16:creationId xmlns:a16="http://schemas.microsoft.com/office/drawing/2014/main" id="{BD7FED67-8095-4967-9D51-7A51CDE60130}"/>
              </a:ext>
            </a:extLst>
          </p:cNvPr>
          <p:cNvSpPr>
            <a:spLocks noGrp="1"/>
          </p:cNvSpPr>
          <p:nvPr>
            <p:ph idx="2"/>
          </p:nvPr>
        </p:nvSpPr>
        <p:spPr/>
        <p:txBody>
          <a:bodyPr/>
          <a:lstStyle/>
          <a:p>
            <a:endParaRPr/>
          </a:p>
        </p:txBody>
      </p:sp>
      <p:sp>
        <p:nvSpPr>
          <p:cNvPr id="4" name="Slide Number Placeholder 3">
            <a:extLst>
              <a:ext uri="{FF2B5EF4-FFF2-40B4-BE49-F238E27FC236}">
                <a16:creationId xmlns:a16="http://schemas.microsoft.com/office/drawing/2014/main" id="{2B73F1D2-3E91-4DC6-B8E3-E77B2EAD8425}"/>
              </a:ext>
            </a:extLst>
          </p:cNvPr>
          <p:cNvSpPr>
            <a:spLocks noGrp="1"/>
          </p:cNvSpPr>
          <p:nvPr>
            <p:ph type="sldNum" idx="12"/>
          </p:nvPr>
        </p:nvSpPr>
        <p:spPr/>
        <p:txBody>
          <a:bodyPr/>
          <a:lstStyle/>
          <a:p>
            <a:fld id="{36A9D662-D713-5945-9CA3-C981A7AC5439}" type="slidenum">
              <a:t>32</a:t>
            </a:fld>
            <a:endParaRPr/>
          </a:p>
        </p:txBody>
      </p:sp>
      <p:graphicFrame>
        <p:nvGraphicFramePr>
          <p:cNvPr id="17" name="Table 5"/>
          <p:cNvGraphicFramePr/>
          <p:nvPr/>
        </p:nvGraphicFramePr>
        <p:xfrm>
          <a:off x="889636" y="1710770"/>
          <a:ext cx="6756400" cy="4170264"/>
        </p:xfrm>
        <a:graphic>
          <a:graphicData uri="http://schemas.openxmlformats.org/drawingml/2006/table">
            <a:tbl>
              <a:tblPr firstRow="1" firstCol="1" bandRow="1"/>
              <a:tblGrid>
                <a:gridCol w="2058184">
                  <a:extLst>
                    <a:ext uri="{9D8B030D-6E8A-4147-A177-3AD203B41FA5}">
                      <a16:colId xmlns:a16="http://schemas.microsoft.com/office/drawing/2014/main" val="20000"/>
                    </a:ext>
                  </a:extLst>
                </a:gridCol>
                <a:gridCol w="4698216">
                  <a:extLst>
                    <a:ext uri="{9D8B030D-6E8A-4147-A177-3AD203B41FA5}">
                      <a16:colId xmlns:a16="http://schemas.microsoft.com/office/drawing/2014/main" val="20001"/>
                    </a:ext>
                  </a:extLst>
                </a:gridCol>
              </a:tblGrid>
              <a:tr h="215212">
                <a:tc>
                  <a:txBody>
                    <a:bodyPr/>
                    <a:lstStyle/>
                    <a:p>
                      <a:r>
                        <a:rPr sz="1600">
                          <a:solidFill>
                            <a:srgbClr val="000000"/>
                          </a:solidFill>
                          <a:latin typeface="Calibri"/>
                          <a:ea typeface="Calibri"/>
                          <a:cs typeface="Calibri"/>
                        </a:rPr>
                        <a:t>Correct Answer</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r>
                        <a:rPr sz="1600">
                          <a:solidFill>
                            <a:srgbClr val="000000"/>
                          </a:solidFill>
                          <a:latin typeface="Calibri"/>
                          <a:ea typeface="Calibri"/>
                          <a:cs typeface="Calibri"/>
                        </a:rPr>
                        <a:t> </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0"/>
                  </a:ext>
                </a:extLst>
              </a:tr>
              <a:tr h="759498">
                <a:tc>
                  <a:txBody>
                    <a:bodyPr/>
                    <a:lstStyle/>
                    <a:p>
                      <a:r>
                        <a:rPr sz="1600">
                          <a:solidFill>
                            <a:srgbClr val="000000"/>
                          </a:solidFill>
                          <a:latin typeface="Calibri"/>
                          <a:ea typeface="Calibri"/>
                          <a:cs typeface="Calibri"/>
                        </a:rPr>
                        <a:t> 73</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750"/>
                        </a:spcAft>
                        <a:buNone/>
                      </a:pPr>
                      <a:r>
                        <a:rPr sz="1600">
                          <a:solidFill>
                            <a:srgbClr val="000000"/>
                          </a:solidFill>
                          <a:latin typeface="Calibri"/>
                          <a:ea typeface="Calibri"/>
                          <a:cs typeface="Calibri"/>
                        </a:rPr>
                        <a:t>Rank of Kia Motors on the Financial Times 2014 Global 500 list</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1"/>
                  </a:ext>
                </a:extLst>
              </a:tr>
              <a:tr h="949596">
                <a:tc>
                  <a:txBody>
                    <a:bodyPr/>
                    <a:lstStyle/>
                    <a:p>
                      <a:r>
                        <a:rPr sz="1600">
                          <a:solidFill>
                            <a:srgbClr val="000000"/>
                          </a:solidFill>
                          <a:latin typeface="Calibri"/>
                          <a:ea typeface="Calibri"/>
                          <a:cs typeface="Calibri"/>
                        </a:rPr>
                        <a:t> 491</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750"/>
                        </a:spcAft>
                        <a:buNone/>
                      </a:pPr>
                      <a:r>
                        <a:rPr sz="1600">
                          <a:solidFill>
                            <a:srgbClr val="000000"/>
                          </a:solidFill>
                          <a:latin typeface="Calibri"/>
                          <a:ea typeface="Calibri"/>
                          <a:cs typeface="Calibri"/>
                        </a:rPr>
                        <a:t>Rank of the McDonald's corporation on the Financial Times 2014 Global 500 list</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2"/>
                  </a:ext>
                </a:extLst>
              </a:tr>
              <a:tr h="683575">
                <a:tc>
                  <a:txBody>
                    <a:bodyPr/>
                    <a:lstStyle/>
                    <a:p>
                      <a:r>
                        <a:rPr sz="1600">
                          <a:solidFill>
                            <a:srgbClr val="000000"/>
                          </a:solidFill>
                          <a:latin typeface="Calibri"/>
                          <a:ea typeface="Calibri"/>
                          <a:cs typeface="Calibri"/>
                        </a:rPr>
                        <a:t> 4.1 billion</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r>
                        <a:rPr sz="1600">
                          <a:solidFill>
                            <a:srgbClr val="000000"/>
                          </a:solidFill>
                          <a:latin typeface="Calibri"/>
                          <a:ea typeface="Calibri"/>
                          <a:cs typeface="Calibri"/>
                        </a:rPr>
                        <a:t>Market value of BlackBerry Limited as of February 2016 (in USD)</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3"/>
                  </a:ext>
                </a:extLst>
              </a:tr>
              <a:tr h="963997">
                <a:tc>
                  <a:txBody>
                    <a:bodyPr/>
                    <a:lstStyle/>
                    <a:p>
                      <a:r>
                        <a:rPr sz="1600">
                          <a:solidFill>
                            <a:srgbClr val="000000"/>
                          </a:solidFill>
                          <a:latin typeface="Calibri"/>
                          <a:ea typeface="Calibri"/>
                          <a:cs typeface="Calibri"/>
                        </a:rPr>
                        <a:t> 80 million</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750"/>
                        </a:spcAft>
                        <a:buNone/>
                      </a:pPr>
                      <a:r>
                        <a:rPr sz="1600">
                          <a:solidFill>
                            <a:srgbClr val="000000"/>
                          </a:solidFill>
                          <a:latin typeface="Calibri"/>
                          <a:ea typeface="Calibri"/>
                          <a:cs typeface="Calibri"/>
                        </a:rPr>
                        <a:t>Number of grandparents in the United States as of May 2010, according to the 2010 US Census Bureau Report</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4"/>
                  </a:ext>
                </a:extLst>
              </a:tr>
              <a:tr h="569758">
                <a:tc>
                  <a:txBody>
                    <a:bodyPr/>
                    <a:lstStyle/>
                    <a:p>
                      <a:r>
                        <a:rPr sz="1600">
                          <a:solidFill>
                            <a:srgbClr val="000000"/>
                          </a:solidFill>
                          <a:latin typeface="Calibri"/>
                          <a:ea typeface="Calibri"/>
                          <a:cs typeface="Calibri"/>
                        </a:rPr>
                        <a:t> 1.36 billion</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tc>
                  <a:txBody>
                    <a:bodyPr/>
                    <a:lstStyle/>
                    <a:p>
                      <a:pPr>
                        <a:lnSpc>
                          <a:spcPct val="107000"/>
                        </a:lnSpc>
                        <a:spcAft>
                          <a:spcPts val="750"/>
                        </a:spcAft>
                        <a:buNone/>
                      </a:pPr>
                      <a:r>
                        <a:rPr sz="1600">
                          <a:solidFill>
                            <a:srgbClr val="000000"/>
                          </a:solidFill>
                          <a:latin typeface="Calibri"/>
                          <a:ea typeface="Calibri"/>
                          <a:cs typeface="Calibri"/>
                        </a:rPr>
                        <a:t>The current population of India.</a:t>
                      </a:r>
                      <a:endParaRPr sz="1600">
                        <a:latin typeface="Calibri"/>
                        <a:ea typeface="Calibri"/>
                        <a:cs typeface="Calibri"/>
                      </a:endParaRPr>
                    </a:p>
                  </a:txBody>
                  <a:tcPr marL="59350" marR="59350" marT="0" marB="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tcPr>
                </a:tc>
                <a:extLst>
                  <a:ext uri="{0D108BD9-81ED-4DB2-BD59-A6C34878D82A}">
                    <a16:rowId xmlns:a16="http://schemas.microsoft.com/office/drawing/2014/main" val="10005"/>
                  </a:ext>
                </a:extLst>
              </a:tr>
            </a:tbl>
          </a:graphicData>
        </a:graphic>
      </p:graphicFrame>
      <p:sp>
        <p:nvSpPr>
          <p:cNvPr id="9" name="TextBox 8">
            <a:extLst>
              <a:ext uri="{FF2B5EF4-FFF2-40B4-BE49-F238E27FC236}">
                <a16:creationId xmlns:a16="http://schemas.microsoft.com/office/drawing/2014/main" id="{831DB421-44CC-4E9C-8E8C-BA0CAAAB892E}"/>
              </a:ext>
            </a:extLst>
          </p:cNvPr>
          <p:cNvSpPr>
            <a:spLocks noGrp="1"/>
          </p:cNvSpPr>
          <p:nvPr/>
        </p:nvSpPr>
        <p:spPr>
          <a:xfrm>
            <a:off x="785813" y="1163225"/>
            <a:ext cx="6939280" cy="369332"/>
          </a:xfrm>
          <a:prstGeom prst="rect">
            <a:avLst/>
          </a:prstGeom>
          <a:noFill/>
        </p:spPr>
        <p:txBody>
          <a:bodyPr wrap="square">
            <a:spAutoFit/>
          </a:bodyPr>
          <a:lstStyle/>
          <a:p>
            <a:r>
              <a:rPr b="1">
                <a:solidFill>
                  <a:srgbClr val="C00000"/>
                </a:solidFill>
                <a:latin typeface="+mn-lt"/>
                <a:ea typeface="+mn-lt"/>
                <a:cs typeface="+mn-lt"/>
              </a:rPr>
              <a:t>Did your answers encompass the quantities below?</a:t>
            </a:r>
          </a:p>
        </p:txBody>
      </p:sp>
      <p:sp>
        <p:nvSpPr>
          <p:cNvPr id="10" name="TextBox 9">
            <a:extLst>
              <a:ext uri="{FF2B5EF4-FFF2-40B4-BE49-F238E27FC236}">
                <a16:creationId xmlns:a16="http://schemas.microsoft.com/office/drawing/2014/main" id="{9C0A2668-DD96-440B-AB86-AA86E60D0473}"/>
              </a:ext>
            </a:extLst>
          </p:cNvPr>
          <p:cNvSpPr>
            <a:spLocks noGrp="1"/>
          </p:cNvSpPr>
          <p:nvPr/>
        </p:nvSpPr>
        <p:spPr>
          <a:xfrm>
            <a:off x="1076960" y="6000185"/>
            <a:ext cx="6685280" cy="646331"/>
          </a:xfrm>
          <a:prstGeom prst="rect">
            <a:avLst/>
          </a:prstGeom>
          <a:noFill/>
        </p:spPr>
        <p:txBody>
          <a:bodyPr wrap="square">
            <a:spAutoFit/>
          </a:bodyPr>
          <a:lstStyle/>
          <a:p>
            <a:r>
              <a:rPr sz="1800" b="1">
                <a:solidFill>
                  <a:srgbClr val="C00000"/>
                </a:solidFill>
                <a:latin typeface="+mn-lt"/>
                <a:ea typeface="+mn-lt"/>
                <a:cs typeface="+mn-lt"/>
              </a:rPr>
              <a:t>TIP: actively question yourself and seek objective feedback. </a:t>
            </a:r>
          </a:p>
        </p:txBody>
      </p:sp>
    </p:spTree>
    <p:extLst>
      <p:ext uri="{BB962C8B-B14F-4D97-AF65-F5344CB8AC3E}">
        <p14:creationId xmlns:p14="http://schemas.microsoft.com/office/powerpoint/2010/main" val="984967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B77EF1-481D-4076-B329-398C8144F5D2}"/>
              </a:ext>
            </a:extLst>
          </p:cNvPr>
          <p:cNvSpPr>
            <a:spLocks noGrp="1"/>
          </p:cNvSpPr>
          <p:nvPr/>
        </p:nvSpPr>
        <p:spPr>
          <a:xfrm>
            <a:off x="568960" y="0"/>
            <a:ext cx="8575040" cy="6858000"/>
          </a:xfrm>
          <a:prstGeom prst="rect">
            <a:avLst/>
          </a:prstGeom>
          <a:solidFill>
            <a:schemeClr val="bg1"/>
          </a:solidFill>
          <a:ln w="9525" cmpd="sng">
            <a:solidFill>
              <a:schemeClr val="bg1"/>
            </a:solidFill>
            <a:prstDash val="solid"/>
            <a:headEnd type="none" w="med" len="med"/>
            <a:tailEnd type="none" w="med" len="med"/>
          </a:ln>
        </p:spPr>
        <p:txBody>
          <a:bodyPr vert="horz" wrap="square" lIns="91440" tIns="45720" rIns="91440" bIns="45720" anchor="t"/>
          <a:lstStyle/>
          <a:p>
            <a:pPr marL="0" marR="0" indent="0" algn="l" defTabSz="449263">
              <a:lnSpc>
                <a:spcPct val="100000"/>
              </a:lnSpc>
              <a:spcBef>
                <a:spcPct val="0"/>
              </a:spcBef>
              <a:spcAft>
                <a:spcPct val="0"/>
              </a:spcAft>
              <a:buClr>
                <a:srgbClr val="000000"/>
              </a:buClr>
              <a:buSzPct val="100000"/>
              <a:buFont typeface="Times New Roman"/>
              <a:buNone/>
            </a:pPr>
            <a:endParaRPr sz="1800" b="0" i="0" u="none" cap="none" baseline="0">
              <a:ln>
                <a:noFill/>
              </a:ln>
              <a:solidFill>
                <a:schemeClr val="bg1"/>
              </a:solidFill>
              <a:latin typeface="Arial"/>
              <a:ea typeface="Arial"/>
              <a:cs typeface="Arial"/>
            </a:endParaRPr>
          </a:p>
        </p:txBody>
      </p:sp>
      <p:sp>
        <p:nvSpPr>
          <p:cNvPr id="2" name="Title 1">
            <a:extLst>
              <a:ext uri="{FF2B5EF4-FFF2-40B4-BE49-F238E27FC236}">
                <a16:creationId xmlns:a16="http://schemas.microsoft.com/office/drawing/2014/main" id="{760A11A2-4D15-4F8B-8C7E-9F057C342438}"/>
              </a:ext>
            </a:extLst>
          </p:cNvPr>
          <p:cNvSpPr>
            <a:spLocks noGrp="1"/>
          </p:cNvSpPr>
          <p:nvPr>
            <p:ph type="title"/>
          </p:nvPr>
        </p:nvSpPr>
        <p:spPr/>
        <p:txBody>
          <a:bodyPr/>
          <a:lstStyle/>
          <a:p>
            <a:r>
              <a:t>How we should behave vs. how we do behave</a:t>
            </a:r>
          </a:p>
        </p:txBody>
      </p:sp>
      <p:sp>
        <p:nvSpPr>
          <p:cNvPr id="4" name="Slide Number Placeholder 3">
            <a:extLst>
              <a:ext uri="{FF2B5EF4-FFF2-40B4-BE49-F238E27FC236}">
                <a16:creationId xmlns:a16="http://schemas.microsoft.com/office/drawing/2014/main" id="{3A0C1376-A35C-4214-8F99-4DED7251C7D5}"/>
              </a:ext>
            </a:extLst>
          </p:cNvPr>
          <p:cNvSpPr>
            <a:spLocks noGrp="1"/>
          </p:cNvSpPr>
          <p:nvPr>
            <p:ph type="sldNum" idx="12"/>
          </p:nvPr>
        </p:nvSpPr>
        <p:spPr/>
        <p:txBody>
          <a:bodyPr/>
          <a:lstStyle/>
          <a:p>
            <a:fld id="{36A9D662-D713-5945-9CA3-C981A7AC5439}" type="slidenum">
              <a:rPr/>
              <a:t>33</a:t>
            </a:fld>
            <a:endParaRPr/>
          </a:p>
        </p:txBody>
      </p:sp>
      <p:pic>
        <p:nvPicPr>
          <p:cNvPr id="21" name="Picture 4"/>
          <p:cNvPicPr>
            <a:picLocks noChangeAspect="1"/>
          </p:cNvPicPr>
          <p:nvPr/>
        </p:nvPicPr>
        <p:blipFill rotWithShape="1">
          <a:blip r:embed="rId3"/>
          <a:srcRect l="19562" t="33630" r="21975" b="22940"/>
          <a:stretch/>
        </p:blipFill>
        <p:spPr>
          <a:xfrm>
            <a:off x="579573" y="1422082"/>
            <a:ext cx="6419714" cy="3577908"/>
          </a:xfrm>
          <a:prstGeom prst="rect">
            <a:avLst/>
          </a:prstGeom>
        </p:spPr>
      </p:pic>
      <p:sp>
        <p:nvSpPr>
          <p:cNvPr id="13" name="TextBox 12">
            <a:extLst>
              <a:ext uri="{FF2B5EF4-FFF2-40B4-BE49-F238E27FC236}">
                <a16:creationId xmlns:a16="http://schemas.microsoft.com/office/drawing/2014/main" id="{B4F329BD-29B6-4991-9239-9AAF56DA2BEB}"/>
              </a:ext>
            </a:extLst>
          </p:cNvPr>
          <p:cNvSpPr>
            <a:spLocks noGrp="1"/>
          </p:cNvSpPr>
          <p:nvPr/>
        </p:nvSpPr>
        <p:spPr>
          <a:xfrm>
            <a:off x="7111047" y="1923215"/>
            <a:ext cx="1726700" cy="830997"/>
          </a:xfrm>
          <a:prstGeom prst="rect">
            <a:avLst/>
          </a:prstGeom>
          <a:solidFill>
            <a:schemeClr val="bg1"/>
          </a:solidFill>
          <a:ln>
            <a:solidFill>
              <a:schemeClr val="bg1"/>
            </a:solidFill>
          </a:ln>
        </p:spPr>
        <p:txBody>
          <a:bodyPr wrap="square">
            <a:spAutoFit/>
          </a:bodyPr>
          <a:lstStyle/>
          <a:p>
            <a:r>
              <a:rPr sz="1600" b="1">
                <a:solidFill>
                  <a:schemeClr val="tx1"/>
                </a:solidFill>
                <a:latin typeface="Calibri"/>
                <a:ea typeface="Calibri"/>
                <a:cs typeface="Calibri"/>
              </a:rPr>
              <a:t>Bounded rationality </a:t>
            </a:r>
            <a:r>
              <a:rPr sz="1600">
                <a:solidFill>
                  <a:schemeClr val="tx1"/>
                </a:solidFill>
                <a:latin typeface="Calibri"/>
                <a:ea typeface="Calibri"/>
                <a:cs typeface="Calibri"/>
              </a:rPr>
              <a:t>(Simon, 1956)</a:t>
            </a:r>
          </a:p>
        </p:txBody>
      </p:sp>
      <p:sp>
        <p:nvSpPr>
          <p:cNvPr id="15" name="TextBox 14">
            <a:extLst>
              <a:ext uri="{FF2B5EF4-FFF2-40B4-BE49-F238E27FC236}">
                <a16:creationId xmlns:a16="http://schemas.microsoft.com/office/drawing/2014/main" id="{696A0692-FA57-4D72-9553-64495D26A530}"/>
              </a:ext>
            </a:extLst>
          </p:cNvPr>
          <p:cNvSpPr>
            <a:spLocks noGrp="1"/>
          </p:cNvSpPr>
          <p:nvPr/>
        </p:nvSpPr>
        <p:spPr>
          <a:xfrm>
            <a:off x="7109540" y="2952928"/>
            <a:ext cx="1922327" cy="830997"/>
          </a:xfrm>
          <a:prstGeom prst="rect">
            <a:avLst/>
          </a:prstGeom>
          <a:solidFill>
            <a:schemeClr val="bg1"/>
          </a:solidFill>
          <a:ln>
            <a:solidFill>
              <a:schemeClr val="bg1"/>
            </a:solidFill>
          </a:ln>
        </p:spPr>
        <p:txBody>
          <a:bodyPr wrap="square">
            <a:spAutoFit/>
          </a:bodyPr>
          <a:lstStyle/>
          <a:p>
            <a:r>
              <a:rPr sz="1600" b="1">
                <a:solidFill>
                  <a:schemeClr val="tx1"/>
                </a:solidFill>
                <a:latin typeface="Calibri"/>
                <a:ea typeface="Calibri"/>
                <a:cs typeface="Calibri"/>
              </a:rPr>
              <a:t>Cognitive bias and heuristics </a:t>
            </a:r>
            <a:r>
              <a:rPr sz="1600">
                <a:solidFill>
                  <a:schemeClr val="tx1"/>
                </a:solidFill>
                <a:latin typeface="Calibri"/>
                <a:ea typeface="Calibri"/>
                <a:cs typeface="Calibri"/>
              </a:rPr>
              <a:t>(Tversky &amp; Kahneman, 1972)</a:t>
            </a:r>
          </a:p>
        </p:txBody>
      </p:sp>
      <p:sp>
        <p:nvSpPr>
          <p:cNvPr id="16" name="TextBox 15">
            <a:extLst>
              <a:ext uri="{FF2B5EF4-FFF2-40B4-BE49-F238E27FC236}">
                <a16:creationId xmlns:a16="http://schemas.microsoft.com/office/drawing/2014/main" id="{C4151A3C-A7A9-4657-8334-0EAE306C4046}"/>
              </a:ext>
            </a:extLst>
          </p:cNvPr>
          <p:cNvSpPr>
            <a:spLocks noGrp="1"/>
          </p:cNvSpPr>
          <p:nvPr/>
        </p:nvSpPr>
        <p:spPr>
          <a:xfrm>
            <a:off x="7121887" y="4003498"/>
            <a:ext cx="1726700" cy="584775"/>
          </a:xfrm>
          <a:prstGeom prst="rect">
            <a:avLst/>
          </a:prstGeom>
          <a:solidFill>
            <a:schemeClr val="bg1"/>
          </a:solidFill>
          <a:ln>
            <a:solidFill>
              <a:schemeClr val="bg1"/>
            </a:solidFill>
          </a:ln>
        </p:spPr>
        <p:txBody>
          <a:bodyPr wrap="square">
            <a:spAutoFit/>
          </a:bodyPr>
          <a:lstStyle/>
          <a:p>
            <a:r>
              <a:rPr sz="1600" b="1">
                <a:solidFill>
                  <a:schemeClr val="tx1"/>
                </a:solidFill>
                <a:latin typeface="Calibri"/>
                <a:ea typeface="Calibri"/>
                <a:cs typeface="Calibri"/>
              </a:rPr>
              <a:t>Satisficing </a:t>
            </a:r>
            <a:r>
              <a:rPr sz="1600">
                <a:solidFill>
                  <a:schemeClr val="tx1"/>
                </a:solidFill>
                <a:latin typeface="Calibri"/>
                <a:ea typeface="Calibri"/>
                <a:cs typeface="Calibri"/>
              </a:rPr>
              <a:t>(Simon,1979) </a:t>
            </a:r>
          </a:p>
        </p:txBody>
      </p:sp>
    </p:spTree>
    <p:extLst>
      <p:ext uri="{BB962C8B-B14F-4D97-AF65-F5344CB8AC3E}">
        <p14:creationId xmlns:p14="http://schemas.microsoft.com/office/powerpoint/2010/main" val="2874311702"/>
      </p:ext>
    </p:extLst>
  </p:cSld>
  <p:clrMapOvr>
    <a:masterClrMapping/>
  </p:clrMapOvr>
</p:sld>
</file>

<file path=ppt/theme/theme1.xml><?xml version="1.0" encoding="utf-8"?>
<a:theme xmlns:a="http://schemas.openxmlformats.org/drawingml/2006/main" name="MScBA-Presn_Feb2010">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Verdana"/>
        <a:ea typeface=""/>
        <a:cs typeface="Arial Unicode MS"/>
      </a:minorFont>
    </a:fontScheme>
    <a:fmtScheme name="Office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Verdana"/>
        <a:ea typeface=""/>
        <a:cs typeface="Arial Unicode MS"/>
      </a:minorFont>
    </a:fontScheme>
    <a:fmtScheme name="Office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Verdana"/>
        <a:ea typeface=""/>
        <a:cs typeface="Arial Unicode MS"/>
      </a:minorFont>
    </a:fontScheme>
    <a:fmtScheme name="Office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MScBA-Presn_Feb2010">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Unicode MS"/>
      </a:majorFont>
      <a:minorFont>
        <a:latin typeface="Verdana"/>
        <a:ea typeface=""/>
        <a:cs typeface="Arial Unicode MS"/>
      </a:minorFont>
    </a:fontScheme>
    <a:fmtScheme name="Office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4679</Words>
  <Application>Microsoft Office PowerPoint</Application>
  <DocSecurity>0</DocSecurity>
  <PresentationFormat>On-screen Show (4:3)</PresentationFormat>
  <Paragraphs>407</Paragraphs>
  <Slides>33</Slides>
  <Notes>32</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33</vt:i4>
      </vt:variant>
    </vt:vector>
  </HeadingPairs>
  <TitlesOfParts>
    <vt:vector size="46" baseType="lpstr">
      <vt:lpstr>Arial</vt:lpstr>
      <vt:lpstr>Arial</vt:lpstr>
      <vt:lpstr>Calibri</vt:lpstr>
      <vt:lpstr>Calibri Light</vt:lpstr>
      <vt:lpstr>Georgia</vt:lpstr>
      <vt:lpstr>Roboto</vt:lpstr>
      <vt:lpstr>Symbol</vt:lpstr>
      <vt:lpstr>Times New Roman</vt:lpstr>
      <vt:lpstr>Verdana</vt:lpstr>
      <vt:lpstr>MScBA-Presn_Feb2010</vt:lpstr>
      <vt:lpstr>1_Office Theme</vt:lpstr>
      <vt:lpstr>2_Office Theme</vt:lpstr>
      <vt:lpstr>Office Theme</vt:lpstr>
      <vt:lpstr>Future of Work and Organizations  Topic 3: Decision Making in Individuals</vt:lpstr>
      <vt:lpstr>Problem 1</vt:lpstr>
      <vt:lpstr>“A machine for jumping to conclusions”  (Kahneman, 2011)</vt:lpstr>
      <vt:lpstr>Rational decision-making model</vt:lpstr>
      <vt:lpstr>Bounded rationality</vt:lpstr>
      <vt:lpstr>Intuitive decision making</vt:lpstr>
      <vt:lpstr>System 1 and System 2</vt:lpstr>
      <vt:lpstr>Decision making when AI joins the team</vt:lpstr>
      <vt:lpstr>Common Cognitive Biases</vt:lpstr>
      <vt:lpstr>Framing</vt:lpstr>
      <vt:lpstr>Gain/Loss Framing</vt:lpstr>
      <vt:lpstr>PowerPoint Presentation</vt:lpstr>
      <vt:lpstr>Framing Bias</vt:lpstr>
      <vt:lpstr>Anchors</vt:lpstr>
      <vt:lpstr>Availability Heuristic</vt:lpstr>
      <vt:lpstr>Escalation of Commitment (Sunk Cost Effect)</vt:lpstr>
      <vt:lpstr>Confirmation Bias</vt:lpstr>
      <vt:lpstr>BioPasteur</vt:lpstr>
      <vt:lpstr>BREAK</vt:lpstr>
      <vt:lpstr>BioPasteur Debrief</vt:lpstr>
      <vt:lpstr>BioPasteur Debrief- Biases Present</vt:lpstr>
      <vt:lpstr>Wes Anderson Sampling Procedure. </vt:lpstr>
      <vt:lpstr>Making Better Decisions</vt:lpstr>
      <vt:lpstr>Making Better Decisions</vt:lpstr>
      <vt:lpstr>Making Better Decisions</vt:lpstr>
      <vt:lpstr>Organ Donation</vt:lpstr>
      <vt:lpstr>References</vt:lpstr>
      <vt:lpstr>References</vt:lpstr>
      <vt:lpstr>References</vt:lpstr>
      <vt:lpstr>References</vt:lpstr>
      <vt:lpstr>END</vt:lpstr>
      <vt:lpstr>Question 4. Overconfidence</vt:lpstr>
      <vt:lpstr>How we should behave vs. how we do behave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mary parkinson</cp:lastModifiedBy>
  <cp:revision>6</cp:revision>
  <dcterms:created xsi:type="dcterms:W3CDTF">2026-08-13T08:22:18Z</dcterms:created>
  <dcterms:modified xsi:type="dcterms:W3CDTF">2026-08-19T07:00:51Z</dcterms:modified>
</cp:coreProperties>
</file>